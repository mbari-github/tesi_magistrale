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handoutMasterIdLst>
    <p:handoutMasterId r:id="rId26"/>
  </p:handoutMasterIdLst>
  <p:sldIdLst>
    <p:sldId id="269" r:id="rId2"/>
    <p:sldId id="270" r:id="rId3"/>
    <p:sldId id="296" r:id="rId4"/>
    <p:sldId id="271" r:id="rId5"/>
    <p:sldId id="272" r:id="rId6"/>
    <p:sldId id="274" r:id="rId7"/>
    <p:sldId id="277" r:id="rId8"/>
    <p:sldId id="273" r:id="rId9"/>
    <p:sldId id="294" r:id="rId10"/>
    <p:sldId id="293" r:id="rId11"/>
    <p:sldId id="278" r:id="rId12"/>
    <p:sldId id="279" r:id="rId13"/>
    <p:sldId id="280" r:id="rId14"/>
    <p:sldId id="282" r:id="rId15"/>
    <p:sldId id="286" r:id="rId16"/>
    <p:sldId id="287" r:id="rId17"/>
    <p:sldId id="288" r:id="rId18"/>
    <p:sldId id="289" r:id="rId19"/>
    <p:sldId id="283" r:id="rId20"/>
    <p:sldId id="291" r:id="rId21"/>
    <p:sldId id="292" r:id="rId22"/>
    <p:sldId id="295" r:id="rId23"/>
    <p:sldId id="290" r:id="rId2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pertina" id="{4F510939-D0AC-164E-B357-60387ADBE46F}">
          <p14:sldIdLst>
            <p14:sldId id="269"/>
            <p14:sldId id="270"/>
            <p14:sldId id="296"/>
            <p14:sldId id="271"/>
            <p14:sldId id="272"/>
            <p14:sldId id="274"/>
            <p14:sldId id="277"/>
            <p14:sldId id="273"/>
            <p14:sldId id="294"/>
            <p14:sldId id="293"/>
            <p14:sldId id="278"/>
            <p14:sldId id="279"/>
            <p14:sldId id="280"/>
            <p14:sldId id="282"/>
            <p14:sldId id="286"/>
            <p14:sldId id="287"/>
            <p14:sldId id="288"/>
            <p14:sldId id="289"/>
            <p14:sldId id="283"/>
            <p14:sldId id="291"/>
            <p14:sldId id="292"/>
            <p14:sldId id="295"/>
            <p14:sldId id="29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C6A"/>
    <a:srgbClr val="64748B"/>
    <a:srgbClr val="0B3041"/>
    <a:srgbClr val="800000"/>
    <a:srgbClr val="FCFCFC"/>
    <a:srgbClr val="DCEAF7"/>
    <a:srgbClr val="F2F2F2"/>
    <a:srgbClr val="E8EEF3"/>
    <a:srgbClr val="0281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51"/>
    <p:restoredTop sz="96827"/>
  </p:normalViewPr>
  <p:slideViewPr>
    <p:cSldViewPr snapToGrid="0">
      <p:cViewPr>
        <p:scale>
          <a:sx n="110" d="100"/>
          <a:sy n="110" d="100"/>
        </p:scale>
        <p:origin x="660"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113" d="100"/>
          <a:sy n="113" d="100"/>
        </p:scale>
        <p:origin x="3968"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Silvano Vergura" userId="f22b25c9-2da3-49c7-b3fc-a913dc516d07" providerId="ADAL" clId="{2C6AB4BF-E7A8-42AE-83B6-C8083FC1C7C2}"/>
    <pc:docChg chg="custSel modSld">
      <pc:chgData name="Prof. Silvano Vergura" userId="f22b25c9-2da3-49c7-b3fc-a913dc516d07" providerId="ADAL" clId="{2C6AB4BF-E7A8-42AE-83B6-C8083FC1C7C2}" dt="2025-05-07T08:30:25.952" v="31" actId="6549"/>
      <pc:docMkLst>
        <pc:docMk/>
      </pc:docMkLst>
      <pc:sldChg chg="modSp mod">
        <pc:chgData name="Prof. Silvano Vergura" userId="f22b25c9-2da3-49c7-b3fc-a913dc516d07" providerId="ADAL" clId="{2C6AB4BF-E7A8-42AE-83B6-C8083FC1C7C2}" dt="2025-05-07T08:29:08.873" v="21" actId="6549"/>
        <pc:sldMkLst>
          <pc:docMk/>
          <pc:sldMk cId="1910364769" sldId="269"/>
        </pc:sldMkLst>
        <pc:spChg chg="mod">
          <ac:chgData name="Prof. Silvano Vergura" userId="f22b25c9-2da3-49c7-b3fc-a913dc516d07" providerId="ADAL" clId="{2C6AB4BF-E7A8-42AE-83B6-C8083FC1C7C2}" dt="2025-05-07T08:28:56.354" v="15" actId="1076"/>
          <ac:spMkLst>
            <pc:docMk/>
            <pc:sldMk cId="1910364769" sldId="269"/>
            <ac:spMk id="3" creationId="{D29E2724-DA63-30A1-70D6-AE76140FFF83}"/>
          </ac:spMkLst>
        </pc:spChg>
        <pc:spChg chg="mod">
          <ac:chgData name="Prof. Silvano Vergura" userId="f22b25c9-2da3-49c7-b3fc-a913dc516d07" providerId="ADAL" clId="{2C6AB4BF-E7A8-42AE-83B6-C8083FC1C7C2}" dt="2025-05-07T08:29:08.873" v="21" actId="6549"/>
          <ac:spMkLst>
            <pc:docMk/>
            <pc:sldMk cId="1910364769" sldId="269"/>
            <ac:spMk id="4" creationId="{3BFA236C-4A41-93DA-A405-65C058B111B3}"/>
          </ac:spMkLst>
        </pc:spChg>
      </pc:sldChg>
      <pc:sldChg chg="modSp mod">
        <pc:chgData name="Prof. Silvano Vergura" userId="f22b25c9-2da3-49c7-b3fc-a913dc516d07" providerId="ADAL" clId="{2C6AB4BF-E7A8-42AE-83B6-C8083FC1C7C2}" dt="2025-05-07T08:29:53.248" v="22" actId="14100"/>
        <pc:sldMkLst>
          <pc:docMk/>
          <pc:sldMk cId="902983958" sldId="270"/>
        </pc:sldMkLst>
        <pc:spChg chg="mod">
          <ac:chgData name="Prof. Silvano Vergura" userId="f22b25c9-2da3-49c7-b3fc-a913dc516d07" providerId="ADAL" clId="{2C6AB4BF-E7A8-42AE-83B6-C8083FC1C7C2}" dt="2025-05-07T08:29:53.248" v="22" actId="14100"/>
          <ac:spMkLst>
            <pc:docMk/>
            <pc:sldMk cId="902983958" sldId="270"/>
            <ac:spMk id="6" creationId="{3EABE1D8-1AB8-3CCE-83C2-C11D0C0EDE96}"/>
          </ac:spMkLst>
        </pc:spChg>
      </pc:sldChg>
      <pc:sldChg chg="modSp mod">
        <pc:chgData name="Prof. Silvano Vergura" userId="f22b25c9-2da3-49c7-b3fc-a913dc516d07" providerId="ADAL" clId="{2C6AB4BF-E7A8-42AE-83B6-C8083FC1C7C2}" dt="2025-05-07T08:30:25.952" v="31" actId="6549"/>
        <pc:sldMkLst>
          <pc:docMk/>
          <pc:sldMk cId="1392070988" sldId="274"/>
        </pc:sldMkLst>
        <pc:spChg chg="mod">
          <ac:chgData name="Prof. Silvano Vergura" userId="f22b25c9-2da3-49c7-b3fc-a913dc516d07" providerId="ADAL" clId="{2C6AB4BF-E7A8-42AE-83B6-C8083FC1C7C2}" dt="2025-05-07T08:30:25.952" v="31" actId="6549"/>
          <ac:spMkLst>
            <pc:docMk/>
            <pc:sldMk cId="1392070988" sldId="274"/>
            <ac:spMk id="2" creationId="{41BA14C9-B967-D8F8-B674-8E974942DC10}"/>
          </ac:spMkLst>
        </pc:spChg>
      </pc:sldChg>
    </pc:docChg>
  </pc:docChgLst>
  <pc:docChgLst>
    <pc:chgData name="Silvano Vergura" userId="f22b25c9-2da3-49c7-b3fc-a913dc516d07" providerId="ADAL" clId="{E1794B5A-4981-491A-BFB0-F005226BECBB}"/>
    <pc:docChg chg="modSld">
      <pc:chgData name="Silvano Vergura" userId="f22b25c9-2da3-49c7-b3fc-a913dc516d07" providerId="ADAL" clId="{E1794B5A-4981-491A-BFB0-F005226BECBB}" dt="2024-11-06T09:28:40.727" v="17" actId="6549"/>
      <pc:docMkLst>
        <pc:docMk/>
      </pc:docMkLst>
      <pc:sldChg chg="modSp mod">
        <pc:chgData name="Silvano Vergura" userId="f22b25c9-2da3-49c7-b3fc-a913dc516d07" providerId="ADAL" clId="{E1794B5A-4981-491A-BFB0-F005226BECBB}" dt="2024-11-06T09:28:37.308" v="15" actId="6549"/>
        <pc:sldMkLst>
          <pc:docMk/>
          <pc:sldMk cId="1392070988" sldId="274"/>
        </pc:sldMkLst>
      </pc:sldChg>
      <pc:sldChg chg="modSp mod">
        <pc:chgData name="Silvano Vergura" userId="f22b25c9-2da3-49c7-b3fc-a913dc516d07" providerId="ADAL" clId="{E1794B5A-4981-491A-BFB0-F005226BECBB}" dt="2024-11-06T09:28:40.727" v="17" actId="6549"/>
        <pc:sldMkLst>
          <pc:docMk/>
          <pc:sldMk cId="369535976" sldId="275"/>
        </pc:sldMkLst>
      </pc:sldChg>
      <pc:sldChg chg="modSp mod">
        <pc:chgData name="Silvano Vergura" userId="f22b25c9-2da3-49c7-b3fc-a913dc516d07" providerId="ADAL" clId="{E1794B5A-4981-491A-BFB0-F005226BECBB}" dt="2024-11-06T09:27:02.661" v="5" actId="20577"/>
        <pc:sldMkLst>
          <pc:docMk/>
          <pc:sldMk cId="2687174899" sldId="276"/>
        </pc:sldMkLst>
      </pc:sldChg>
    </pc:docChg>
  </pc:docChgLst>
  <pc:docChgLst>
    <pc:chgData name="Silvano Vergura" userId="f22b25c9-2da3-49c7-b3fc-a913dc516d07" providerId="ADAL" clId="{64856034-2F74-48BD-B4E2-31F3083D2D21}"/>
    <pc:docChg chg="modSld">
      <pc:chgData name="Silvano Vergura" userId="f22b25c9-2da3-49c7-b3fc-a913dc516d07" providerId="ADAL" clId="{64856034-2F74-48BD-B4E2-31F3083D2D21}" dt="2024-04-18T10:30:03.066" v="1" actId="20577"/>
      <pc:docMkLst>
        <pc:docMk/>
      </pc:docMkLst>
      <pc:sldChg chg="modSp mod">
        <pc:chgData name="Silvano Vergura" userId="f22b25c9-2da3-49c7-b3fc-a913dc516d07" providerId="ADAL" clId="{64856034-2F74-48BD-B4E2-31F3083D2D21}" dt="2024-04-18T10:30:03.066" v="1" actId="20577"/>
        <pc:sldMkLst>
          <pc:docMk/>
          <pc:sldMk cId="1910364769" sldId="26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BA7669DC-278F-0434-E853-1742793D4F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CE809EC2-9091-D2A8-FA90-A932B5D4EB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B4DB76-D8DD-8648-A88B-3A8B95F6486A}" type="datetimeFigureOut">
              <a:rPr lang="it-IT" smtClean="0"/>
              <a:t>15/04/2026</a:t>
            </a:fld>
            <a:endParaRPr lang="it-IT"/>
          </a:p>
        </p:txBody>
      </p:sp>
      <p:sp>
        <p:nvSpPr>
          <p:cNvPr id="4" name="Segnaposto piè di pagina 3">
            <a:extLst>
              <a:ext uri="{FF2B5EF4-FFF2-40B4-BE49-F238E27FC236}">
                <a16:creationId xmlns:a16="http://schemas.microsoft.com/office/drawing/2014/main" id="{B79DAEC7-C92F-A843-6117-A68C01B3D97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F4459B3E-8160-FEC0-F999-FDEB0495D8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E5C7244-616B-FD4E-81D2-F00E620A4339}" type="slidenum">
              <a:rPr lang="it-IT" smtClean="0"/>
              <a:t>‹#›</a:t>
            </a:fld>
            <a:endParaRPr lang="it-IT"/>
          </a:p>
        </p:txBody>
      </p:sp>
    </p:spTree>
    <p:extLst>
      <p:ext uri="{BB962C8B-B14F-4D97-AF65-F5344CB8AC3E}">
        <p14:creationId xmlns:p14="http://schemas.microsoft.com/office/powerpoint/2010/main" val="276897815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7.65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7.65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7.65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7.65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7.65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7.65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7.65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7.65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7.65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28.170"/>
    </inkml:context>
    <inkml:brush xml:id="br0">
      <inkml:brushProperty name="width" value="0.035" units="cm"/>
      <inkml:brushProperty name="height" value="0.035" units="cm"/>
      <inkml:brushProperty name="color" value="#FFFFFF"/>
    </inkml:brush>
  </inkml:definitions>
  <inkml:trace contextRef="#ctx0" brushRef="#br0">112 149 24575,'0'0'0,"0"-1"0,-1 1 0,1 0 0,-1 0 0,1 0 0,0 1 0,-1-1 0,1 0 0,0 0 0,-1 0 0,1 0 0,0 0 0,-1 0 0,1 0 0,0 1 0,-1-1 0,1 0 0,0 0 0,-1 0 0,1 1 0,0-1 0,0 0 0,-1 0 0,1 1 0,0-1 0,0 0 0,0 1 0,-1-1 0,1 0 0,0 1 0,0-1 0,0 0 0,0 1 0,0-1 0,-1 0 0,1 1 0,0 0 0,15 4 0,34 0 0,35-8 0,-1-4 0,117-25 0,-90 14 0,202-30 0,517-10 0,-802 58 0,-33 1 0,-47 1 0,31-1 0,-1524 23 0,1363-24 0,1849 47-94,-588 59-375,-1053-103 469,6 1 0,-1 0 0,34 10 0,-53-8 0,-13-1 0,-21 2 0,-55 3 165,-1-3-1,-112-4 1,92-3-96,-1131 1-69,713-2 0,492 1 0,18 1 0,0-1 0,0 0 0,0-1 0,0 1 0,0-1 0,-9-3 0,12-1-1365,13 0-5461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2T13:48:33.835"/>
    </inkml:context>
    <inkml:brush xml:id="br0">
      <inkml:brushProperty name="width" value="0.35" units="cm"/>
      <inkml:brushProperty name="height" value="0.35" units="cm"/>
      <inkml:brushProperty name="color" value="#FFFFFF"/>
    </inkml:brush>
  </inkml:definitions>
  <inkml:trace contextRef="#ctx0" brushRef="#br0">1 337 24575,'968'47'0,"-743"-31"0,1085 95 0,-1153-96 0,115 16 0,-237-23 0,-35-8 0,0 0 0,-1 0 0,1 0 0,0 0 0,0 1 0,0-1 0,0 0 0,-1 0 0,1 0 0,0 0 0,0 1 0,0-1 0,0 0 0,0 0 0,0 0 0,0 0 0,0 1 0,-1-1 0,1 0 0,0 0 0,0 1 0,0-1 0,0 0 0,0 0 0,0 0 0,0 1 0,0-1 0,0 0 0,0 0 0,1 0 0,-1 1 0,0-1 0,0 0 0,0 0 0,0 0 0,0 1 0,0-1 0,0 0 0,0 0 0,1 0 0,-1 1 0,0-1 0,0 0 0,-29 4 0,25-4 0,-995 26 0,736-28 0,-650 1 0,1547 0 0,1490 17 0,-1539-6 0,-801-9 0,-223-8 0,367 1 0,2-4 0,-1-2 0,1-4 0,1-2 0,-110-47 0,99 19 0,67 36 0,-1 2 0,0-1 0,-1 2 0,1 0 0,-28-9 0,-78-11 0,-1 5 0,-132-7 0,-173-19 0,388 43 0,-47-12 0,50 9 0,-61-7 0,-716-68 0,798 81 0,9 1 0,0 1 0,0-1 0,0 1 0,0-1 0,0-1 0,1 1 0,-1-1 0,0 0 0,1 0 0,0 0 0,-7-5 0,11 7 0,-1-1 0,1 1 0,0 0 0,0-1 0,0 1 0,0-1 0,0 1 0,0-1 0,0 1 0,0-1 0,0 1 0,0-1 0,0 1 0,0 0 0,0-1 0,0 1 0,0-1 0,0 1 0,0-1 0,1 1 0,-1 0 0,0-1 0,0 1 0,0-1 0,1 1 0,-1 0 0,0-1 0,1 1 0,-1 0 0,0-1 0,1 1 0,-1 0 0,0 0 0,1-1 0,-1 1 0,1 0 0,-1 0 0,0 0 0,1-1 0,-1 1 0,1 0 0,-1 0 0,1 0 0,0 0 0,22-9 0,42-3 0,2 2 0,119-2 0,-153 11 0,284-7 0,74-3 0,-199-1 0,298-9 0,-373 21 0,343 7 0,-2 34 0,-334-21 0,8 2 0,247 9 0,-27-18 0,-119-7 0,25 3 0,-244-7-195,0 1 0,1 0 0,-1 2 0,-1 0 0,1 0 0,23 13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DC9319-790D-424A-B808-E2EE002AEB3A}" type="datetimeFigureOut">
              <a:rPr lang="it-IT" smtClean="0"/>
              <a:t>15/04/2026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10F5B3-1515-454B-A62F-308271382BEE}" type="slidenum">
              <a:rPr lang="it-IT" smtClean="0"/>
              <a:t>‹#›</a:t>
            </a:fld>
            <a:endParaRPr lang="it-IT"/>
          </a:p>
        </p:txBody>
      </p:sp>
    </p:spTree>
    <p:extLst>
      <p:ext uri="{BB962C8B-B14F-4D97-AF65-F5344CB8AC3E}">
        <p14:creationId xmlns:p14="http://schemas.microsoft.com/office/powerpoint/2010/main" val="2649486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7875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ertina">
    <p:spTree>
      <p:nvGrpSpPr>
        <p:cNvPr id="1" name=""/>
        <p:cNvGrpSpPr/>
        <p:nvPr/>
      </p:nvGrpSpPr>
      <p:grpSpPr>
        <a:xfrm>
          <a:off x="0" y="0"/>
          <a:ext cx="0" cy="0"/>
          <a:chOff x="0" y="0"/>
          <a:chExt cx="0" cy="0"/>
        </a:xfrm>
      </p:grpSpPr>
      <p:pic>
        <p:nvPicPr>
          <p:cNvPr id="2" name="Immagine 1" descr="Immagine che contiene Elementi grafici, Carattere, testo, grafica&#10;&#10;Descrizione generata automaticamente">
            <a:extLst>
              <a:ext uri="{FF2B5EF4-FFF2-40B4-BE49-F238E27FC236}">
                <a16:creationId xmlns:a16="http://schemas.microsoft.com/office/drawing/2014/main" id="{0E8A1A7E-2C0E-1CF9-7178-503AD3430742}"/>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pic>
        <p:nvPicPr>
          <p:cNvPr id="4" name="Immagine 3" descr="Immagine che contiene Carattere, Elementi grafici, schermata, logo&#10;&#10;Descrizione generata automaticamente">
            <a:extLst>
              <a:ext uri="{FF2B5EF4-FFF2-40B4-BE49-F238E27FC236}">
                <a16:creationId xmlns:a16="http://schemas.microsoft.com/office/drawing/2014/main" id="{C72EFB51-4559-E39D-310F-3C68A5EDC1C6}"/>
              </a:ext>
            </a:extLst>
          </p:cNvPr>
          <p:cNvPicPr>
            <a:picLocks noChangeAspect="1"/>
          </p:cNvPicPr>
          <p:nvPr userDrawn="1"/>
        </p:nvPicPr>
        <p:blipFill>
          <a:blip r:embed="rId3"/>
          <a:stretch>
            <a:fillRect/>
          </a:stretch>
        </p:blipFill>
        <p:spPr>
          <a:xfrm>
            <a:off x="1418190" y="783983"/>
            <a:ext cx="3897215" cy="1155844"/>
          </a:xfrm>
          <a:prstGeom prst="rect">
            <a:avLst/>
          </a:prstGeom>
        </p:spPr>
      </p:pic>
    </p:spTree>
    <p:extLst>
      <p:ext uri="{BB962C8B-B14F-4D97-AF65-F5344CB8AC3E}">
        <p14:creationId xmlns:p14="http://schemas.microsoft.com/office/powerpoint/2010/main" val="30703920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dice">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6839E967-8F7C-DF8E-8A84-B15F45EEEEFB}"/>
              </a:ext>
            </a:extLst>
          </p:cNvPr>
          <p:cNvGrpSpPr/>
          <p:nvPr userDrawn="1"/>
        </p:nvGrpSpPr>
        <p:grpSpPr>
          <a:xfrm>
            <a:off x="0" y="825497"/>
            <a:ext cx="12192000" cy="6032503"/>
            <a:chOff x="-10206" y="825497"/>
            <a:chExt cx="12202206" cy="6032503"/>
          </a:xfrm>
        </p:grpSpPr>
        <p:sp>
          <p:nvSpPr>
            <p:cNvPr id="3" name="Rettangolo 2">
              <a:extLst>
                <a:ext uri="{FF2B5EF4-FFF2-40B4-BE49-F238E27FC236}">
                  <a16:creationId xmlns:a16="http://schemas.microsoft.com/office/drawing/2014/main" id="{24197027-7251-3311-328B-86A194D4E536}"/>
                </a:ext>
              </a:extLst>
            </p:cNvPr>
            <p:cNvSpPr/>
            <p:nvPr/>
          </p:nvSpPr>
          <p:spPr>
            <a:xfrm rot="16200000">
              <a:off x="5937548" y="690978"/>
              <a:ext cx="287865" cy="120461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1A52903D-920D-AB9D-1D1B-6729B836DCD3}"/>
                </a:ext>
              </a:extLst>
            </p:cNvPr>
            <p:cNvSpPr/>
            <p:nvPr/>
          </p:nvSpPr>
          <p:spPr>
            <a:xfrm flipH="1">
              <a:off x="-10206" y="825500"/>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19C3741F-81DE-B26A-C90C-465A9F8BDD3E}"/>
                </a:ext>
              </a:extLst>
            </p:cNvPr>
            <p:cNvSpPr/>
            <p:nvPr/>
          </p:nvSpPr>
          <p:spPr>
            <a:xfrm flipH="1">
              <a:off x="12040054" y="825497"/>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16" name="Rettangolo 15">
            <a:extLst>
              <a:ext uri="{FF2B5EF4-FFF2-40B4-BE49-F238E27FC236}">
                <a16:creationId xmlns:a16="http://schemas.microsoft.com/office/drawing/2014/main" id="{DB57DAA3-C059-6465-F0A4-976EAD52D241}"/>
              </a:ext>
            </a:extLst>
          </p:cNvPr>
          <p:cNvSpPr/>
          <p:nvPr userDrawn="1"/>
        </p:nvSpPr>
        <p:spPr>
          <a:xfrm>
            <a:off x="0" y="0"/>
            <a:ext cx="12192000" cy="8378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pic>
        <p:nvPicPr>
          <p:cNvPr id="6" name="Immagine 5" descr="Immagine che contiene Elementi grafici, Carattere, testo, grafica&#10;&#10;Descrizione generata automaticamente">
            <a:extLst>
              <a:ext uri="{FF2B5EF4-FFF2-40B4-BE49-F238E27FC236}">
                <a16:creationId xmlns:a16="http://schemas.microsoft.com/office/drawing/2014/main" id="{EDE4C4C2-4027-B19A-1E3A-A56F9BA216DF}"/>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8" name="Sottotitolo 2">
            <a:extLst>
              <a:ext uri="{FF2B5EF4-FFF2-40B4-BE49-F238E27FC236}">
                <a16:creationId xmlns:a16="http://schemas.microsoft.com/office/drawing/2014/main" id="{DE835AFC-7DBD-0810-B372-AE421F71F0BA}"/>
              </a:ext>
            </a:extLst>
          </p:cNvPr>
          <p:cNvSpPr txBox="1"/>
          <p:nvPr userDrawn="1"/>
        </p:nvSpPr>
        <p:spPr>
          <a:xfrm>
            <a:off x="2765567" y="924353"/>
            <a:ext cx="6675373" cy="5129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b="1" dirty="0">
                <a:solidFill>
                  <a:srgbClr val="193C6A"/>
                </a:solidFill>
                <a:latin typeface="Times New Roman" panose="02020603050405020304" pitchFamily="18" charset="0"/>
                <a:cs typeface="Times New Roman" panose="02020603050405020304" pitchFamily="18" charset="0"/>
              </a:rPr>
              <a:t>Indice</a:t>
            </a:r>
          </a:p>
        </p:txBody>
      </p:sp>
      <p:pic>
        <p:nvPicPr>
          <p:cNvPr id="9" name="Immagine 8" descr="Immagine che contiene Carattere, Elementi grafici, schermata, logo&#10;&#10;Descrizione generata automaticamente">
            <a:extLst>
              <a:ext uri="{FF2B5EF4-FFF2-40B4-BE49-F238E27FC236}">
                <a16:creationId xmlns:a16="http://schemas.microsoft.com/office/drawing/2014/main" id="{DEC47494-806D-881A-1472-DD93341DEA97}"/>
              </a:ext>
            </a:extLst>
          </p:cNvPr>
          <p:cNvPicPr>
            <a:picLocks noChangeAspect="1"/>
          </p:cNvPicPr>
          <p:nvPr userDrawn="1"/>
        </p:nvPicPr>
        <p:blipFill rotWithShape="1">
          <a:blip r:embed="rId3"/>
          <a:srcRect t="22784" b="22059"/>
          <a:stretch/>
        </p:blipFill>
        <p:spPr>
          <a:xfrm>
            <a:off x="293725" y="115569"/>
            <a:ext cx="3897215" cy="637530"/>
          </a:xfrm>
          <a:prstGeom prst="rect">
            <a:avLst/>
          </a:prstGeom>
        </p:spPr>
      </p:pic>
      <p:cxnSp>
        <p:nvCxnSpPr>
          <p:cNvPr id="14" name="Connettore 1 13">
            <a:extLst>
              <a:ext uri="{FF2B5EF4-FFF2-40B4-BE49-F238E27FC236}">
                <a16:creationId xmlns:a16="http://schemas.microsoft.com/office/drawing/2014/main" id="{C74655B7-9404-81EF-A456-7F5513B8F343}"/>
              </a:ext>
            </a:extLst>
          </p:cNvPr>
          <p:cNvCxnSpPr>
            <a:cxnSpLocks/>
          </p:cNvCxnSpPr>
          <p:nvPr userDrawn="1"/>
        </p:nvCxnSpPr>
        <p:spPr>
          <a:xfrm>
            <a:off x="0" y="837854"/>
            <a:ext cx="12192000" cy="0"/>
          </a:xfrm>
          <a:prstGeom prst="line">
            <a:avLst/>
          </a:prstGeom>
          <a:ln w="28575">
            <a:solidFill>
              <a:srgbClr val="193C6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57671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to dell'arte">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6839E967-8F7C-DF8E-8A84-B15F45EEEEFB}"/>
              </a:ext>
            </a:extLst>
          </p:cNvPr>
          <p:cNvGrpSpPr/>
          <p:nvPr userDrawn="1"/>
        </p:nvGrpSpPr>
        <p:grpSpPr>
          <a:xfrm>
            <a:off x="0" y="825497"/>
            <a:ext cx="12192000" cy="6032503"/>
            <a:chOff x="-10206" y="825497"/>
            <a:chExt cx="12202206" cy="6032503"/>
          </a:xfrm>
        </p:grpSpPr>
        <p:sp>
          <p:nvSpPr>
            <p:cNvPr id="3" name="Rettangolo 2">
              <a:extLst>
                <a:ext uri="{FF2B5EF4-FFF2-40B4-BE49-F238E27FC236}">
                  <a16:creationId xmlns:a16="http://schemas.microsoft.com/office/drawing/2014/main" id="{24197027-7251-3311-328B-86A194D4E536}"/>
                </a:ext>
              </a:extLst>
            </p:cNvPr>
            <p:cNvSpPr/>
            <p:nvPr/>
          </p:nvSpPr>
          <p:spPr>
            <a:xfrm rot="16200000">
              <a:off x="5937548" y="690978"/>
              <a:ext cx="287865" cy="120461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1A52903D-920D-AB9D-1D1B-6729B836DCD3}"/>
                </a:ext>
              </a:extLst>
            </p:cNvPr>
            <p:cNvSpPr/>
            <p:nvPr/>
          </p:nvSpPr>
          <p:spPr>
            <a:xfrm flipH="1">
              <a:off x="-10206" y="825500"/>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19C3741F-81DE-B26A-C90C-465A9F8BDD3E}"/>
                </a:ext>
              </a:extLst>
            </p:cNvPr>
            <p:cNvSpPr/>
            <p:nvPr/>
          </p:nvSpPr>
          <p:spPr>
            <a:xfrm flipH="1">
              <a:off x="12040054" y="825497"/>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16" name="Rettangolo 15">
            <a:extLst>
              <a:ext uri="{FF2B5EF4-FFF2-40B4-BE49-F238E27FC236}">
                <a16:creationId xmlns:a16="http://schemas.microsoft.com/office/drawing/2014/main" id="{DB57DAA3-C059-6465-F0A4-976EAD52D241}"/>
              </a:ext>
            </a:extLst>
          </p:cNvPr>
          <p:cNvSpPr/>
          <p:nvPr userDrawn="1"/>
        </p:nvSpPr>
        <p:spPr>
          <a:xfrm>
            <a:off x="0" y="0"/>
            <a:ext cx="12192000" cy="8378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pic>
        <p:nvPicPr>
          <p:cNvPr id="6" name="Immagine 5" descr="Immagine che contiene Elementi grafici, Carattere, testo, grafica&#10;&#10;Descrizione generata automaticamente">
            <a:extLst>
              <a:ext uri="{FF2B5EF4-FFF2-40B4-BE49-F238E27FC236}">
                <a16:creationId xmlns:a16="http://schemas.microsoft.com/office/drawing/2014/main" id="{EDE4C4C2-4027-B19A-1E3A-A56F9BA216DF}"/>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8" name="Sottotitolo 2">
            <a:extLst>
              <a:ext uri="{FF2B5EF4-FFF2-40B4-BE49-F238E27FC236}">
                <a16:creationId xmlns:a16="http://schemas.microsoft.com/office/drawing/2014/main" id="{DE835AFC-7DBD-0810-B372-AE421F71F0BA}"/>
              </a:ext>
            </a:extLst>
          </p:cNvPr>
          <p:cNvSpPr txBox="1"/>
          <p:nvPr userDrawn="1"/>
        </p:nvSpPr>
        <p:spPr>
          <a:xfrm>
            <a:off x="2765567" y="924353"/>
            <a:ext cx="6675373" cy="5129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b="1" dirty="0">
                <a:solidFill>
                  <a:srgbClr val="193C6A"/>
                </a:solidFill>
                <a:latin typeface="Times New Roman" panose="02020603050405020304" pitchFamily="18" charset="0"/>
                <a:cs typeface="Times New Roman" panose="02020603050405020304" pitchFamily="18" charset="0"/>
              </a:rPr>
              <a:t>Stato dell’arte</a:t>
            </a:r>
          </a:p>
        </p:txBody>
      </p:sp>
      <p:pic>
        <p:nvPicPr>
          <p:cNvPr id="9" name="Immagine 8" descr="Immagine che contiene Carattere, Elementi grafici, schermata, logo&#10;&#10;Descrizione generata automaticamente">
            <a:extLst>
              <a:ext uri="{FF2B5EF4-FFF2-40B4-BE49-F238E27FC236}">
                <a16:creationId xmlns:a16="http://schemas.microsoft.com/office/drawing/2014/main" id="{DEC47494-806D-881A-1472-DD93341DEA97}"/>
              </a:ext>
            </a:extLst>
          </p:cNvPr>
          <p:cNvPicPr>
            <a:picLocks noChangeAspect="1"/>
          </p:cNvPicPr>
          <p:nvPr userDrawn="1"/>
        </p:nvPicPr>
        <p:blipFill rotWithShape="1">
          <a:blip r:embed="rId3"/>
          <a:srcRect t="22784" b="22059"/>
          <a:stretch/>
        </p:blipFill>
        <p:spPr>
          <a:xfrm>
            <a:off x="293725" y="115569"/>
            <a:ext cx="3897215" cy="637530"/>
          </a:xfrm>
          <a:prstGeom prst="rect">
            <a:avLst/>
          </a:prstGeom>
        </p:spPr>
      </p:pic>
      <p:cxnSp>
        <p:nvCxnSpPr>
          <p:cNvPr id="14" name="Connettore 1 13">
            <a:extLst>
              <a:ext uri="{FF2B5EF4-FFF2-40B4-BE49-F238E27FC236}">
                <a16:creationId xmlns:a16="http://schemas.microsoft.com/office/drawing/2014/main" id="{C74655B7-9404-81EF-A456-7F5513B8F343}"/>
              </a:ext>
            </a:extLst>
          </p:cNvPr>
          <p:cNvCxnSpPr>
            <a:cxnSpLocks/>
          </p:cNvCxnSpPr>
          <p:nvPr userDrawn="1"/>
        </p:nvCxnSpPr>
        <p:spPr>
          <a:xfrm>
            <a:off x="0" y="837854"/>
            <a:ext cx="12192000" cy="0"/>
          </a:xfrm>
          <a:prstGeom prst="line">
            <a:avLst/>
          </a:prstGeom>
          <a:ln w="28575">
            <a:solidFill>
              <a:srgbClr val="193C6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73970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biettivo della tesi">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6839E967-8F7C-DF8E-8A84-B15F45EEEEFB}"/>
              </a:ext>
            </a:extLst>
          </p:cNvPr>
          <p:cNvGrpSpPr/>
          <p:nvPr userDrawn="1"/>
        </p:nvGrpSpPr>
        <p:grpSpPr>
          <a:xfrm>
            <a:off x="0" y="825497"/>
            <a:ext cx="12192000" cy="6032503"/>
            <a:chOff x="-10206" y="825497"/>
            <a:chExt cx="12202206" cy="6032503"/>
          </a:xfrm>
        </p:grpSpPr>
        <p:sp>
          <p:nvSpPr>
            <p:cNvPr id="3" name="Rettangolo 2">
              <a:extLst>
                <a:ext uri="{FF2B5EF4-FFF2-40B4-BE49-F238E27FC236}">
                  <a16:creationId xmlns:a16="http://schemas.microsoft.com/office/drawing/2014/main" id="{24197027-7251-3311-328B-86A194D4E536}"/>
                </a:ext>
              </a:extLst>
            </p:cNvPr>
            <p:cNvSpPr/>
            <p:nvPr/>
          </p:nvSpPr>
          <p:spPr>
            <a:xfrm rot="16200000">
              <a:off x="5937548" y="690978"/>
              <a:ext cx="287865" cy="120461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1A52903D-920D-AB9D-1D1B-6729B836DCD3}"/>
                </a:ext>
              </a:extLst>
            </p:cNvPr>
            <p:cNvSpPr/>
            <p:nvPr/>
          </p:nvSpPr>
          <p:spPr>
            <a:xfrm flipH="1">
              <a:off x="-10206" y="825500"/>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19C3741F-81DE-B26A-C90C-465A9F8BDD3E}"/>
                </a:ext>
              </a:extLst>
            </p:cNvPr>
            <p:cNvSpPr/>
            <p:nvPr/>
          </p:nvSpPr>
          <p:spPr>
            <a:xfrm flipH="1">
              <a:off x="12040054" y="825497"/>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16" name="Rettangolo 15">
            <a:extLst>
              <a:ext uri="{FF2B5EF4-FFF2-40B4-BE49-F238E27FC236}">
                <a16:creationId xmlns:a16="http://schemas.microsoft.com/office/drawing/2014/main" id="{DB57DAA3-C059-6465-F0A4-976EAD52D241}"/>
              </a:ext>
            </a:extLst>
          </p:cNvPr>
          <p:cNvSpPr/>
          <p:nvPr userDrawn="1"/>
        </p:nvSpPr>
        <p:spPr>
          <a:xfrm>
            <a:off x="0" y="0"/>
            <a:ext cx="12192000" cy="8378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pic>
        <p:nvPicPr>
          <p:cNvPr id="6" name="Immagine 5" descr="Immagine che contiene Elementi grafici, Carattere, testo, grafica&#10;&#10;Descrizione generata automaticamente">
            <a:extLst>
              <a:ext uri="{FF2B5EF4-FFF2-40B4-BE49-F238E27FC236}">
                <a16:creationId xmlns:a16="http://schemas.microsoft.com/office/drawing/2014/main" id="{EDE4C4C2-4027-B19A-1E3A-A56F9BA216DF}"/>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8" name="Sottotitolo 2">
            <a:extLst>
              <a:ext uri="{FF2B5EF4-FFF2-40B4-BE49-F238E27FC236}">
                <a16:creationId xmlns:a16="http://schemas.microsoft.com/office/drawing/2014/main" id="{DE835AFC-7DBD-0810-B372-AE421F71F0BA}"/>
              </a:ext>
            </a:extLst>
          </p:cNvPr>
          <p:cNvSpPr txBox="1"/>
          <p:nvPr userDrawn="1"/>
        </p:nvSpPr>
        <p:spPr>
          <a:xfrm>
            <a:off x="2765567" y="924353"/>
            <a:ext cx="6675373" cy="5129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b="1" dirty="0">
                <a:solidFill>
                  <a:srgbClr val="193C6A"/>
                </a:solidFill>
                <a:latin typeface="Times New Roman" panose="02020603050405020304" pitchFamily="18" charset="0"/>
                <a:cs typeface="Times New Roman" panose="02020603050405020304" pitchFamily="18" charset="0"/>
              </a:rPr>
              <a:t>Obiettivo della tesi</a:t>
            </a:r>
          </a:p>
        </p:txBody>
      </p:sp>
      <p:pic>
        <p:nvPicPr>
          <p:cNvPr id="9" name="Immagine 8" descr="Immagine che contiene Carattere, Elementi grafici, schermata, logo&#10;&#10;Descrizione generata automaticamente">
            <a:extLst>
              <a:ext uri="{FF2B5EF4-FFF2-40B4-BE49-F238E27FC236}">
                <a16:creationId xmlns:a16="http://schemas.microsoft.com/office/drawing/2014/main" id="{DEC47494-806D-881A-1472-DD93341DEA97}"/>
              </a:ext>
            </a:extLst>
          </p:cNvPr>
          <p:cNvPicPr>
            <a:picLocks noChangeAspect="1"/>
          </p:cNvPicPr>
          <p:nvPr userDrawn="1"/>
        </p:nvPicPr>
        <p:blipFill rotWithShape="1">
          <a:blip r:embed="rId3"/>
          <a:srcRect t="22784" b="22059"/>
          <a:stretch/>
        </p:blipFill>
        <p:spPr>
          <a:xfrm>
            <a:off x="293725" y="115569"/>
            <a:ext cx="3897215" cy="637530"/>
          </a:xfrm>
          <a:prstGeom prst="rect">
            <a:avLst/>
          </a:prstGeom>
        </p:spPr>
      </p:pic>
      <p:cxnSp>
        <p:nvCxnSpPr>
          <p:cNvPr id="14" name="Connettore 1 13">
            <a:extLst>
              <a:ext uri="{FF2B5EF4-FFF2-40B4-BE49-F238E27FC236}">
                <a16:creationId xmlns:a16="http://schemas.microsoft.com/office/drawing/2014/main" id="{C74655B7-9404-81EF-A456-7F5513B8F343}"/>
              </a:ext>
            </a:extLst>
          </p:cNvPr>
          <p:cNvCxnSpPr>
            <a:cxnSpLocks/>
          </p:cNvCxnSpPr>
          <p:nvPr userDrawn="1"/>
        </p:nvCxnSpPr>
        <p:spPr>
          <a:xfrm>
            <a:off x="0" y="837854"/>
            <a:ext cx="12192000" cy="0"/>
          </a:xfrm>
          <a:prstGeom prst="line">
            <a:avLst/>
          </a:prstGeom>
          <a:ln w="28575">
            <a:solidFill>
              <a:srgbClr val="193C6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39168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isultati">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6839E967-8F7C-DF8E-8A84-B15F45EEEEFB}"/>
              </a:ext>
            </a:extLst>
          </p:cNvPr>
          <p:cNvGrpSpPr/>
          <p:nvPr userDrawn="1"/>
        </p:nvGrpSpPr>
        <p:grpSpPr>
          <a:xfrm>
            <a:off x="0" y="825497"/>
            <a:ext cx="12192000" cy="6032503"/>
            <a:chOff x="-10206" y="825497"/>
            <a:chExt cx="12202206" cy="6032503"/>
          </a:xfrm>
        </p:grpSpPr>
        <p:sp>
          <p:nvSpPr>
            <p:cNvPr id="3" name="Rettangolo 2">
              <a:extLst>
                <a:ext uri="{FF2B5EF4-FFF2-40B4-BE49-F238E27FC236}">
                  <a16:creationId xmlns:a16="http://schemas.microsoft.com/office/drawing/2014/main" id="{24197027-7251-3311-328B-86A194D4E536}"/>
                </a:ext>
              </a:extLst>
            </p:cNvPr>
            <p:cNvSpPr/>
            <p:nvPr/>
          </p:nvSpPr>
          <p:spPr>
            <a:xfrm rot="16200000">
              <a:off x="5937548" y="690978"/>
              <a:ext cx="287865" cy="120461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1A52903D-920D-AB9D-1D1B-6729B836DCD3}"/>
                </a:ext>
              </a:extLst>
            </p:cNvPr>
            <p:cNvSpPr/>
            <p:nvPr/>
          </p:nvSpPr>
          <p:spPr>
            <a:xfrm flipH="1">
              <a:off x="-10206" y="825500"/>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19C3741F-81DE-B26A-C90C-465A9F8BDD3E}"/>
                </a:ext>
              </a:extLst>
            </p:cNvPr>
            <p:cNvSpPr/>
            <p:nvPr/>
          </p:nvSpPr>
          <p:spPr>
            <a:xfrm flipH="1">
              <a:off x="12040054" y="825497"/>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16" name="Rettangolo 15">
            <a:extLst>
              <a:ext uri="{FF2B5EF4-FFF2-40B4-BE49-F238E27FC236}">
                <a16:creationId xmlns:a16="http://schemas.microsoft.com/office/drawing/2014/main" id="{DB57DAA3-C059-6465-F0A4-976EAD52D241}"/>
              </a:ext>
            </a:extLst>
          </p:cNvPr>
          <p:cNvSpPr/>
          <p:nvPr userDrawn="1"/>
        </p:nvSpPr>
        <p:spPr>
          <a:xfrm>
            <a:off x="0" y="0"/>
            <a:ext cx="12192000" cy="8378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pic>
        <p:nvPicPr>
          <p:cNvPr id="6" name="Immagine 5" descr="Immagine che contiene Elementi grafici, Carattere, testo, grafica&#10;&#10;Descrizione generata automaticamente">
            <a:extLst>
              <a:ext uri="{FF2B5EF4-FFF2-40B4-BE49-F238E27FC236}">
                <a16:creationId xmlns:a16="http://schemas.microsoft.com/office/drawing/2014/main" id="{EDE4C4C2-4027-B19A-1E3A-A56F9BA216DF}"/>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8" name="Sottotitolo 2">
            <a:extLst>
              <a:ext uri="{FF2B5EF4-FFF2-40B4-BE49-F238E27FC236}">
                <a16:creationId xmlns:a16="http://schemas.microsoft.com/office/drawing/2014/main" id="{DE835AFC-7DBD-0810-B372-AE421F71F0BA}"/>
              </a:ext>
            </a:extLst>
          </p:cNvPr>
          <p:cNvSpPr txBox="1"/>
          <p:nvPr userDrawn="1"/>
        </p:nvSpPr>
        <p:spPr>
          <a:xfrm>
            <a:off x="2765567" y="924353"/>
            <a:ext cx="6675373" cy="5129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b="1" dirty="0">
                <a:solidFill>
                  <a:srgbClr val="193C6A"/>
                </a:solidFill>
                <a:latin typeface="Times New Roman" panose="02020603050405020304" pitchFamily="18" charset="0"/>
                <a:cs typeface="Times New Roman" panose="02020603050405020304" pitchFamily="18" charset="0"/>
              </a:rPr>
              <a:t>Risultati</a:t>
            </a:r>
          </a:p>
        </p:txBody>
      </p:sp>
      <p:pic>
        <p:nvPicPr>
          <p:cNvPr id="9" name="Immagine 8" descr="Immagine che contiene Carattere, Elementi grafici, schermata, logo&#10;&#10;Descrizione generata automaticamente">
            <a:extLst>
              <a:ext uri="{FF2B5EF4-FFF2-40B4-BE49-F238E27FC236}">
                <a16:creationId xmlns:a16="http://schemas.microsoft.com/office/drawing/2014/main" id="{DEC47494-806D-881A-1472-DD93341DEA97}"/>
              </a:ext>
            </a:extLst>
          </p:cNvPr>
          <p:cNvPicPr>
            <a:picLocks noChangeAspect="1"/>
          </p:cNvPicPr>
          <p:nvPr userDrawn="1"/>
        </p:nvPicPr>
        <p:blipFill rotWithShape="1">
          <a:blip r:embed="rId3"/>
          <a:srcRect t="22784" b="22059"/>
          <a:stretch/>
        </p:blipFill>
        <p:spPr>
          <a:xfrm>
            <a:off x="293725" y="115569"/>
            <a:ext cx="3897215" cy="637530"/>
          </a:xfrm>
          <a:prstGeom prst="rect">
            <a:avLst/>
          </a:prstGeom>
        </p:spPr>
      </p:pic>
      <p:cxnSp>
        <p:nvCxnSpPr>
          <p:cNvPr id="14" name="Connettore 1 13">
            <a:extLst>
              <a:ext uri="{FF2B5EF4-FFF2-40B4-BE49-F238E27FC236}">
                <a16:creationId xmlns:a16="http://schemas.microsoft.com/office/drawing/2014/main" id="{C74655B7-9404-81EF-A456-7F5513B8F343}"/>
              </a:ext>
            </a:extLst>
          </p:cNvPr>
          <p:cNvCxnSpPr>
            <a:cxnSpLocks/>
          </p:cNvCxnSpPr>
          <p:nvPr userDrawn="1"/>
        </p:nvCxnSpPr>
        <p:spPr>
          <a:xfrm>
            <a:off x="0" y="837854"/>
            <a:ext cx="12192000" cy="0"/>
          </a:xfrm>
          <a:prstGeom prst="line">
            <a:avLst/>
          </a:prstGeom>
          <a:ln w="28575">
            <a:solidFill>
              <a:srgbClr val="193C6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1200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clusioni">
    <p:spTree>
      <p:nvGrpSpPr>
        <p:cNvPr id="1" name=""/>
        <p:cNvGrpSpPr/>
        <p:nvPr/>
      </p:nvGrpSpPr>
      <p:grpSpPr>
        <a:xfrm>
          <a:off x="0" y="0"/>
          <a:ext cx="0" cy="0"/>
          <a:chOff x="0" y="0"/>
          <a:chExt cx="0" cy="0"/>
        </a:xfrm>
      </p:grpSpPr>
      <p:grpSp>
        <p:nvGrpSpPr>
          <p:cNvPr id="2" name="Gruppo 1">
            <a:extLst>
              <a:ext uri="{FF2B5EF4-FFF2-40B4-BE49-F238E27FC236}">
                <a16:creationId xmlns:a16="http://schemas.microsoft.com/office/drawing/2014/main" id="{6839E967-8F7C-DF8E-8A84-B15F45EEEEFB}"/>
              </a:ext>
            </a:extLst>
          </p:cNvPr>
          <p:cNvGrpSpPr/>
          <p:nvPr userDrawn="1"/>
        </p:nvGrpSpPr>
        <p:grpSpPr>
          <a:xfrm>
            <a:off x="0" y="825497"/>
            <a:ext cx="12192000" cy="6032503"/>
            <a:chOff x="-10206" y="825497"/>
            <a:chExt cx="12202206" cy="6032503"/>
          </a:xfrm>
        </p:grpSpPr>
        <p:sp>
          <p:nvSpPr>
            <p:cNvPr id="3" name="Rettangolo 2">
              <a:extLst>
                <a:ext uri="{FF2B5EF4-FFF2-40B4-BE49-F238E27FC236}">
                  <a16:creationId xmlns:a16="http://schemas.microsoft.com/office/drawing/2014/main" id="{24197027-7251-3311-328B-86A194D4E536}"/>
                </a:ext>
              </a:extLst>
            </p:cNvPr>
            <p:cNvSpPr/>
            <p:nvPr/>
          </p:nvSpPr>
          <p:spPr>
            <a:xfrm rot="16200000">
              <a:off x="5937548" y="690978"/>
              <a:ext cx="287865" cy="120461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Rettangolo 3">
              <a:extLst>
                <a:ext uri="{FF2B5EF4-FFF2-40B4-BE49-F238E27FC236}">
                  <a16:creationId xmlns:a16="http://schemas.microsoft.com/office/drawing/2014/main" id="{1A52903D-920D-AB9D-1D1B-6729B836DCD3}"/>
                </a:ext>
              </a:extLst>
            </p:cNvPr>
            <p:cNvSpPr/>
            <p:nvPr/>
          </p:nvSpPr>
          <p:spPr>
            <a:xfrm flipH="1">
              <a:off x="-10206" y="825500"/>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Rettangolo 4">
              <a:extLst>
                <a:ext uri="{FF2B5EF4-FFF2-40B4-BE49-F238E27FC236}">
                  <a16:creationId xmlns:a16="http://schemas.microsoft.com/office/drawing/2014/main" id="{19C3741F-81DE-B26A-C90C-465A9F8BDD3E}"/>
                </a:ext>
              </a:extLst>
            </p:cNvPr>
            <p:cNvSpPr/>
            <p:nvPr/>
          </p:nvSpPr>
          <p:spPr>
            <a:xfrm flipH="1">
              <a:off x="12040054" y="825497"/>
              <a:ext cx="151946" cy="60325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16" name="Rettangolo 15">
            <a:extLst>
              <a:ext uri="{FF2B5EF4-FFF2-40B4-BE49-F238E27FC236}">
                <a16:creationId xmlns:a16="http://schemas.microsoft.com/office/drawing/2014/main" id="{DB57DAA3-C059-6465-F0A4-976EAD52D241}"/>
              </a:ext>
            </a:extLst>
          </p:cNvPr>
          <p:cNvSpPr/>
          <p:nvPr userDrawn="1"/>
        </p:nvSpPr>
        <p:spPr>
          <a:xfrm>
            <a:off x="0" y="0"/>
            <a:ext cx="12192000" cy="8378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pic>
        <p:nvPicPr>
          <p:cNvPr id="6" name="Immagine 5" descr="Immagine che contiene Elementi grafici, Carattere, testo, grafica&#10;&#10;Descrizione generata automaticamente">
            <a:extLst>
              <a:ext uri="{FF2B5EF4-FFF2-40B4-BE49-F238E27FC236}">
                <a16:creationId xmlns:a16="http://schemas.microsoft.com/office/drawing/2014/main" id="{EDE4C4C2-4027-B19A-1E3A-A56F9BA216DF}"/>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8" name="Sottotitolo 2">
            <a:extLst>
              <a:ext uri="{FF2B5EF4-FFF2-40B4-BE49-F238E27FC236}">
                <a16:creationId xmlns:a16="http://schemas.microsoft.com/office/drawing/2014/main" id="{DE835AFC-7DBD-0810-B372-AE421F71F0BA}"/>
              </a:ext>
            </a:extLst>
          </p:cNvPr>
          <p:cNvSpPr txBox="1"/>
          <p:nvPr userDrawn="1"/>
        </p:nvSpPr>
        <p:spPr>
          <a:xfrm>
            <a:off x="2765567" y="924353"/>
            <a:ext cx="6675373" cy="51291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b="1" dirty="0">
                <a:solidFill>
                  <a:srgbClr val="193C6A"/>
                </a:solidFill>
                <a:latin typeface="Times New Roman" panose="02020603050405020304" pitchFamily="18" charset="0"/>
                <a:cs typeface="Times New Roman" panose="02020603050405020304" pitchFamily="18" charset="0"/>
              </a:rPr>
              <a:t>Conclusioni</a:t>
            </a:r>
          </a:p>
        </p:txBody>
      </p:sp>
      <p:pic>
        <p:nvPicPr>
          <p:cNvPr id="9" name="Immagine 8" descr="Immagine che contiene Carattere, Elementi grafici, schermata, logo&#10;&#10;Descrizione generata automaticamente">
            <a:extLst>
              <a:ext uri="{FF2B5EF4-FFF2-40B4-BE49-F238E27FC236}">
                <a16:creationId xmlns:a16="http://schemas.microsoft.com/office/drawing/2014/main" id="{DEC47494-806D-881A-1472-DD93341DEA97}"/>
              </a:ext>
            </a:extLst>
          </p:cNvPr>
          <p:cNvPicPr>
            <a:picLocks noChangeAspect="1"/>
          </p:cNvPicPr>
          <p:nvPr userDrawn="1"/>
        </p:nvPicPr>
        <p:blipFill rotWithShape="1">
          <a:blip r:embed="rId3"/>
          <a:srcRect t="22784" b="22059"/>
          <a:stretch/>
        </p:blipFill>
        <p:spPr>
          <a:xfrm>
            <a:off x="293725" y="115569"/>
            <a:ext cx="3897215" cy="637530"/>
          </a:xfrm>
          <a:prstGeom prst="rect">
            <a:avLst/>
          </a:prstGeom>
        </p:spPr>
      </p:pic>
      <p:cxnSp>
        <p:nvCxnSpPr>
          <p:cNvPr id="14" name="Connettore 1 13">
            <a:extLst>
              <a:ext uri="{FF2B5EF4-FFF2-40B4-BE49-F238E27FC236}">
                <a16:creationId xmlns:a16="http://schemas.microsoft.com/office/drawing/2014/main" id="{C74655B7-9404-81EF-A456-7F5513B8F343}"/>
              </a:ext>
            </a:extLst>
          </p:cNvPr>
          <p:cNvCxnSpPr>
            <a:cxnSpLocks/>
          </p:cNvCxnSpPr>
          <p:nvPr userDrawn="1"/>
        </p:nvCxnSpPr>
        <p:spPr>
          <a:xfrm>
            <a:off x="0" y="837854"/>
            <a:ext cx="12192000" cy="0"/>
          </a:xfrm>
          <a:prstGeom prst="line">
            <a:avLst/>
          </a:prstGeom>
          <a:ln w="28575">
            <a:solidFill>
              <a:srgbClr val="193C6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52418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ngraziamenti">
    <p:spTree>
      <p:nvGrpSpPr>
        <p:cNvPr id="1" name=""/>
        <p:cNvGrpSpPr/>
        <p:nvPr/>
      </p:nvGrpSpPr>
      <p:grpSpPr>
        <a:xfrm>
          <a:off x="0" y="0"/>
          <a:ext cx="0" cy="0"/>
          <a:chOff x="0" y="0"/>
          <a:chExt cx="0" cy="0"/>
        </a:xfrm>
      </p:grpSpPr>
      <p:pic>
        <p:nvPicPr>
          <p:cNvPr id="2" name="Immagine 1" descr="Immagine che contiene Elementi grafici, Carattere, testo, grafica&#10;&#10;Descrizione generata automaticamente">
            <a:extLst>
              <a:ext uri="{FF2B5EF4-FFF2-40B4-BE49-F238E27FC236}">
                <a16:creationId xmlns:a16="http://schemas.microsoft.com/office/drawing/2014/main" id="{0E8A1A7E-2C0E-1CF9-7178-503AD3430742}"/>
              </a:ext>
            </a:extLst>
          </p:cNvPr>
          <p:cNvPicPr>
            <a:picLocks noChangeAspect="1"/>
          </p:cNvPicPr>
          <p:nvPr userDrawn="1"/>
        </p:nvPicPr>
        <p:blipFill rotWithShape="1">
          <a:blip r:embed="rId2">
            <a:alphaModFix amt="20000"/>
            <a:duotone>
              <a:schemeClr val="bg2">
                <a:shade val="45000"/>
                <a:satMod val="135000"/>
              </a:schemeClr>
              <a:prstClr val="white"/>
            </a:duotone>
          </a:blip>
          <a:srcRect r="57374"/>
          <a:stretch/>
        </p:blipFill>
        <p:spPr>
          <a:xfrm>
            <a:off x="2446926" y="34782"/>
            <a:ext cx="7301834" cy="6823218"/>
          </a:xfrm>
          <a:prstGeom prst="rect">
            <a:avLst/>
          </a:prstGeom>
        </p:spPr>
      </p:pic>
      <p:sp>
        <p:nvSpPr>
          <p:cNvPr id="3" name="Sottotitolo 2">
            <a:extLst>
              <a:ext uri="{FF2B5EF4-FFF2-40B4-BE49-F238E27FC236}">
                <a16:creationId xmlns:a16="http://schemas.microsoft.com/office/drawing/2014/main" id="{C6923E67-9CEB-648B-A35A-317A17979CBC}"/>
              </a:ext>
            </a:extLst>
          </p:cNvPr>
          <p:cNvSpPr txBox="1"/>
          <p:nvPr userDrawn="1"/>
        </p:nvSpPr>
        <p:spPr>
          <a:xfrm>
            <a:off x="1423292" y="1446065"/>
            <a:ext cx="9335209" cy="330378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it-IT" sz="3200" b="1" dirty="0">
                <a:solidFill>
                  <a:srgbClr val="193C6A"/>
                </a:solidFill>
                <a:latin typeface="Times New Roman" panose="02020603050405020304" pitchFamily="18" charset="0"/>
                <a:cs typeface="Times New Roman" panose="02020603050405020304" pitchFamily="18" charset="0"/>
              </a:rPr>
              <a:t>Grazie per l’attenzione!</a:t>
            </a:r>
          </a:p>
        </p:txBody>
      </p:sp>
    </p:spTree>
    <p:extLst>
      <p:ext uri="{BB962C8B-B14F-4D97-AF65-F5344CB8AC3E}">
        <p14:creationId xmlns:p14="http://schemas.microsoft.com/office/powerpoint/2010/main" val="34483718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87A7D62-7729-4CE8-BEFF-A516B3887ED2}"/>
              </a:ext>
            </a:extLst>
          </p:cNvPr>
          <p:cNvSpPr>
            <a:spLocks noGrp="1"/>
          </p:cNvSpPr>
          <p:nvPr>
            <p:ph type="title"/>
          </p:nvPr>
        </p:nvSpPr>
        <p:spPr>
          <a:xfrm>
            <a:off x="838200" y="365125"/>
            <a:ext cx="10515600" cy="1325563"/>
          </a:xfrm>
          <a:prstGeom prst="rect">
            <a:avLst/>
          </a:prstGeom>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6EFAD38-87E7-19F3-4D69-666D47FAC74C}"/>
              </a:ext>
            </a:extLst>
          </p:cNvPr>
          <p:cNvSpPr>
            <a:spLocks noGrp="1"/>
          </p:cNvSpPr>
          <p:nvPr>
            <p:ph idx="1"/>
          </p:nvPr>
        </p:nvSpPr>
        <p:spPr>
          <a:xfrm>
            <a:off x="838200" y="1825625"/>
            <a:ext cx="10515600" cy="4351338"/>
          </a:xfrm>
          <a:prstGeom prst="rect">
            <a:avLst/>
          </a:prstGeo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22BCD1A-20D1-B10F-0834-2F18F77F3D90}"/>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15/04/2026</a:t>
            </a:fld>
            <a:endParaRPr lang="it-IT"/>
          </a:p>
        </p:txBody>
      </p:sp>
      <p:sp>
        <p:nvSpPr>
          <p:cNvPr id="5" name="Segnaposto piè di pagina 4">
            <a:extLst>
              <a:ext uri="{FF2B5EF4-FFF2-40B4-BE49-F238E27FC236}">
                <a16:creationId xmlns:a16="http://schemas.microsoft.com/office/drawing/2014/main" id="{92196130-F6E6-BC23-FDE3-FB17294FD556}"/>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6" name="Segnaposto numero diapositiva 5">
            <a:extLst>
              <a:ext uri="{FF2B5EF4-FFF2-40B4-BE49-F238E27FC236}">
                <a16:creationId xmlns:a16="http://schemas.microsoft.com/office/drawing/2014/main" id="{A0356912-100F-FCCE-7399-04F2E6C4C915}"/>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a:t>
            </a:fld>
            <a:endParaRPr lang="it-IT"/>
          </a:p>
        </p:txBody>
      </p:sp>
    </p:spTree>
    <p:extLst>
      <p:ext uri="{BB962C8B-B14F-4D97-AF65-F5344CB8AC3E}">
        <p14:creationId xmlns:p14="http://schemas.microsoft.com/office/powerpoint/2010/main" val="3624666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809B302-275E-7262-905D-04AA6E5E041F}"/>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8C2B44E6-D609-4065-D637-C02499BC5304}"/>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48CB955-EA5D-8D54-E39E-FC37BBACBDEF}"/>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15/04/2026</a:t>
            </a:fld>
            <a:endParaRPr lang="it-IT"/>
          </a:p>
        </p:txBody>
      </p:sp>
      <p:sp>
        <p:nvSpPr>
          <p:cNvPr id="5" name="Segnaposto piè di pagina 4">
            <a:extLst>
              <a:ext uri="{FF2B5EF4-FFF2-40B4-BE49-F238E27FC236}">
                <a16:creationId xmlns:a16="http://schemas.microsoft.com/office/drawing/2014/main" id="{7399C24E-F1C9-52CB-B736-FA1B556C6CEC}"/>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6" name="Segnaposto numero diapositiva 5">
            <a:extLst>
              <a:ext uri="{FF2B5EF4-FFF2-40B4-BE49-F238E27FC236}">
                <a16:creationId xmlns:a16="http://schemas.microsoft.com/office/drawing/2014/main" id="{8364285C-2700-25AA-8107-0321690BDEEB}"/>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a:t>
            </a:fld>
            <a:endParaRPr lang="it-IT"/>
          </a:p>
        </p:txBody>
      </p:sp>
    </p:spTree>
    <p:extLst>
      <p:ext uri="{BB962C8B-B14F-4D97-AF65-F5344CB8AC3E}">
        <p14:creationId xmlns:p14="http://schemas.microsoft.com/office/powerpoint/2010/main" val="3127694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673528-7083-874C-101C-BE6571492565}"/>
              </a:ext>
            </a:extLst>
          </p:cNvPr>
          <p:cNvSpPr>
            <a:spLocks noGrp="1"/>
          </p:cNvSpPr>
          <p:nvPr>
            <p:ph type="title"/>
          </p:nvPr>
        </p:nvSpPr>
        <p:spPr>
          <a:xfrm>
            <a:off x="838200" y="365125"/>
            <a:ext cx="10515600" cy="1325563"/>
          </a:xfrm>
          <a:prstGeom prst="rect">
            <a:avLst/>
          </a:prstGeom>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05B78D3-F679-64B5-F4D2-C038F998BBBF}"/>
              </a:ext>
            </a:extLst>
          </p:cNvPr>
          <p:cNvSpPr>
            <a:spLocks noGrp="1"/>
          </p:cNvSpPr>
          <p:nvPr>
            <p:ph sz="half" idx="1"/>
          </p:nvPr>
        </p:nvSpPr>
        <p:spPr>
          <a:xfrm>
            <a:off x="838200" y="1825625"/>
            <a:ext cx="5181600" cy="4351338"/>
          </a:xfrm>
          <a:prstGeom prst="rect">
            <a:avLst/>
          </a:prstGeo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C47238E1-A99F-F566-2D30-A1EE1040C5F6}"/>
              </a:ext>
            </a:extLst>
          </p:cNvPr>
          <p:cNvSpPr>
            <a:spLocks noGrp="1"/>
          </p:cNvSpPr>
          <p:nvPr>
            <p:ph sz="half" idx="2"/>
          </p:nvPr>
        </p:nvSpPr>
        <p:spPr>
          <a:xfrm>
            <a:off x="6172200" y="1825625"/>
            <a:ext cx="5181600" cy="4351338"/>
          </a:xfrm>
          <a:prstGeom prst="rect">
            <a:avLst/>
          </a:prstGeo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AA30B5A8-A6CB-7B8C-ADA1-88BACEFE7F1B}"/>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15/04/2026</a:t>
            </a:fld>
            <a:endParaRPr lang="it-IT"/>
          </a:p>
        </p:txBody>
      </p:sp>
      <p:sp>
        <p:nvSpPr>
          <p:cNvPr id="6" name="Segnaposto piè di pagina 5">
            <a:extLst>
              <a:ext uri="{FF2B5EF4-FFF2-40B4-BE49-F238E27FC236}">
                <a16:creationId xmlns:a16="http://schemas.microsoft.com/office/drawing/2014/main" id="{2798A60B-E32F-B864-2EB2-33BDAB754F45}"/>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7" name="Segnaposto numero diapositiva 6">
            <a:extLst>
              <a:ext uri="{FF2B5EF4-FFF2-40B4-BE49-F238E27FC236}">
                <a16:creationId xmlns:a16="http://schemas.microsoft.com/office/drawing/2014/main" id="{835EB647-7D11-1BAB-8F13-525B29F65E09}"/>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a:t>
            </a:fld>
            <a:endParaRPr lang="it-IT"/>
          </a:p>
        </p:txBody>
      </p:sp>
    </p:spTree>
    <p:extLst>
      <p:ext uri="{BB962C8B-B14F-4D97-AF65-F5344CB8AC3E}">
        <p14:creationId xmlns:p14="http://schemas.microsoft.com/office/powerpoint/2010/main" val="3433259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5DB231-24E9-C68E-9E73-DCC13F0B9283}"/>
              </a:ext>
            </a:extLst>
          </p:cNvPr>
          <p:cNvSpPr>
            <a:spLocks noGrp="1"/>
          </p:cNvSpPr>
          <p:nvPr>
            <p:ph type="title"/>
          </p:nvPr>
        </p:nvSpPr>
        <p:spPr>
          <a:xfrm>
            <a:off x="839788" y="365125"/>
            <a:ext cx="10515600" cy="1325563"/>
          </a:xfrm>
          <a:prstGeom prst="rect">
            <a:avLst/>
          </a:prstGeo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8492FF60-4E87-0CEE-8F77-7F8CBB52C49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3AD5A017-39CE-42D9-B979-E89995193674}"/>
              </a:ext>
            </a:extLst>
          </p:cNvPr>
          <p:cNvSpPr>
            <a:spLocks noGrp="1"/>
          </p:cNvSpPr>
          <p:nvPr>
            <p:ph sz="half" idx="2"/>
          </p:nvPr>
        </p:nvSpPr>
        <p:spPr>
          <a:xfrm>
            <a:off x="839788" y="2505075"/>
            <a:ext cx="5157787" cy="3684588"/>
          </a:xfrm>
          <a:prstGeom prst="rect">
            <a:avLst/>
          </a:prstGeo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3CBF870-1890-AD2D-2499-5CE0EC9FBBC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1DECC671-E0E5-1831-0107-0528CA49527B}"/>
              </a:ext>
            </a:extLst>
          </p:cNvPr>
          <p:cNvSpPr>
            <a:spLocks noGrp="1"/>
          </p:cNvSpPr>
          <p:nvPr>
            <p:ph sz="quarter" idx="4"/>
          </p:nvPr>
        </p:nvSpPr>
        <p:spPr>
          <a:xfrm>
            <a:off x="6172200" y="2505075"/>
            <a:ext cx="5183188" cy="3684588"/>
          </a:xfrm>
          <a:prstGeom prst="rect">
            <a:avLst/>
          </a:prstGeo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5E18B612-F14B-B844-E511-483056936034}"/>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15/04/2026</a:t>
            </a:fld>
            <a:endParaRPr lang="it-IT"/>
          </a:p>
        </p:txBody>
      </p:sp>
      <p:sp>
        <p:nvSpPr>
          <p:cNvPr id="8" name="Segnaposto piè di pagina 7">
            <a:extLst>
              <a:ext uri="{FF2B5EF4-FFF2-40B4-BE49-F238E27FC236}">
                <a16:creationId xmlns:a16="http://schemas.microsoft.com/office/drawing/2014/main" id="{14D5F56B-4043-A108-C326-CF2D7F4B2AAC}"/>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9" name="Segnaposto numero diapositiva 8">
            <a:extLst>
              <a:ext uri="{FF2B5EF4-FFF2-40B4-BE49-F238E27FC236}">
                <a16:creationId xmlns:a16="http://schemas.microsoft.com/office/drawing/2014/main" id="{0BFE49C4-BB11-D20D-3CBC-34CCA620FF7C}"/>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a:t>
            </a:fld>
            <a:endParaRPr lang="it-IT"/>
          </a:p>
        </p:txBody>
      </p:sp>
    </p:spTree>
    <p:extLst>
      <p:ext uri="{BB962C8B-B14F-4D97-AF65-F5344CB8AC3E}">
        <p14:creationId xmlns:p14="http://schemas.microsoft.com/office/powerpoint/2010/main" val="2919790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9408A5-23F7-3E62-02A0-DFE3DC9FFD2B}"/>
              </a:ext>
            </a:extLst>
          </p:cNvPr>
          <p:cNvSpPr>
            <a:spLocks noGrp="1"/>
          </p:cNvSpPr>
          <p:nvPr>
            <p:ph type="title"/>
          </p:nvPr>
        </p:nvSpPr>
        <p:spPr>
          <a:xfrm>
            <a:off x="838200" y="365125"/>
            <a:ext cx="10515600" cy="1325563"/>
          </a:xfrm>
          <a:prstGeom prst="rect">
            <a:avLst/>
          </a:prstGeom>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19089386-1F05-2B61-52EE-FE7D21770E14}"/>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15/04/2026</a:t>
            </a:fld>
            <a:endParaRPr lang="it-IT"/>
          </a:p>
        </p:txBody>
      </p:sp>
      <p:sp>
        <p:nvSpPr>
          <p:cNvPr id="4" name="Segnaposto piè di pagina 3">
            <a:extLst>
              <a:ext uri="{FF2B5EF4-FFF2-40B4-BE49-F238E27FC236}">
                <a16:creationId xmlns:a16="http://schemas.microsoft.com/office/drawing/2014/main" id="{099B3250-9E5C-4509-E0DA-8DD4D926B8FE}"/>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5" name="Segnaposto numero diapositiva 4">
            <a:extLst>
              <a:ext uri="{FF2B5EF4-FFF2-40B4-BE49-F238E27FC236}">
                <a16:creationId xmlns:a16="http://schemas.microsoft.com/office/drawing/2014/main" id="{5D36C5D3-0ADE-A31B-FAA1-347F35EC3ACE}"/>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a:t>
            </a:fld>
            <a:endParaRPr lang="it-IT"/>
          </a:p>
        </p:txBody>
      </p:sp>
    </p:spTree>
    <p:extLst>
      <p:ext uri="{BB962C8B-B14F-4D97-AF65-F5344CB8AC3E}">
        <p14:creationId xmlns:p14="http://schemas.microsoft.com/office/powerpoint/2010/main" val="1786888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6771330-0818-A223-0E86-9874A9F6055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0FCC531-827C-DA3F-921F-E19D38962D7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7236DED3-2EFE-F62F-453B-05E2EEE0785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09BE502E-3D60-FF0B-3BB2-BA8B4047D058}"/>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15/04/2026</a:t>
            </a:fld>
            <a:endParaRPr lang="it-IT"/>
          </a:p>
        </p:txBody>
      </p:sp>
      <p:sp>
        <p:nvSpPr>
          <p:cNvPr id="6" name="Segnaposto piè di pagina 5">
            <a:extLst>
              <a:ext uri="{FF2B5EF4-FFF2-40B4-BE49-F238E27FC236}">
                <a16:creationId xmlns:a16="http://schemas.microsoft.com/office/drawing/2014/main" id="{801B96A5-13C9-40D2-19D4-92734DF13A21}"/>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7" name="Segnaposto numero diapositiva 6">
            <a:extLst>
              <a:ext uri="{FF2B5EF4-FFF2-40B4-BE49-F238E27FC236}">
                <a16:creationId xmlns:a16="http://schemas.microsoft.com/office/drawing/2014/main" id="{F08D28C9-F143-E911-8C77-E7348E466D52}"/>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a:t>
            </a:fld>
            <a:endParaRPr lang="it-IT"/>
          </a:p>
        </p:txBody>
      </p:sp>
    </p:spTree>
    <p:extLst>
      <p:ext uri="{BB962C8B-B14F-4D97-AF65-F5344CB8AC3E}">
        <p14:creationId xmlns:p14="http://schemas.microsoft.com/office/powerpoint/2010/main" val="2196085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9FC0E0D-C1EB-8702-C13F-8EC63414EFF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EEDFCDA6-E97E-2406-B79B-702E9A8AA29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20140BBA-0D4B-89F0-D241-9EFEE70B494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675827F-20C7-C347-5B2B-E98AB5C7B8B4}"/>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15/04/2026</a:t>
            </a:fld>
            <a:endParaRPr lang="it-IT"/>
          </a:p>
        </p:txBody>
      </p:sp>
      <p:sp>
        <p:nvSpPr>
          <p:cNvPr id="6" name="Segnaposto piè di pagina 5">
            <a:extLst>
              <a:ext uri="{FF2B5EF4-FFF2-40B4-BE49-F238E27FC236}">
                <a16:creationId xmlns:a16="http://schemas.microsoft.com/office/drawing/2014/main" id="{F6AB3362-8C8A-7D4E-C9F9-78DE4350E478}"/>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7" name="Segnaposto numero diapositiva 6">
            <a:extLst>
              <a:ext uri="{FF2B5EF4-FFF2-40B4-BE49-F238E27FC236}">
                <a16:creationId xmlns:a16="http://schemas.microsoft.com/office/drawing/2014/main" id="{1D41C709-AF70-5943-8244-38B7FB1A9943}"/>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a:t>
            </a:fld>
            <a:endParaRPr lang="it-IT"/>
          </a:p>
        </p:txBody>
      </p:sp>
    </p:spTree>
    <p:extLst>
      <p:ext uri="{BB962C8B-B14F-4D97-AF65-F5344CB8AC3E}">
        <p14:creationId xmlns:p14="http://schemas.microsoft.com/office/powerpoint/2010/main" val="3316143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52AB1F5-FB8B-25A2-E5B8-EF7BD8FBC215}"/>
              </a:ext>
            </a:extLst>
          </p:cNvPr>
          <p:cNvSpPr>
            <a:spLocks noGrp="1"/>
          </p:cNvSpPr>
          <p:nvPr>
            <p:ph type="title"/>
          </p:nvPr>
        </p:nvSpPr>
        <p:spPr>
          <a:xfrm>
            <a:off x="838200" y="365125"/>
            <a:ext cx="10515600" cy="1325563"/>
          </a:xfrm>
          <a:prstGeom prst="rect">
            <a:avLst/>
          </a:prstGeom>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8EA633C-8ABC-71DD-B01F-6303B529B9D6}"/>
              </a:ext>
            </a:extLst>
          </p:cNvPr>
          <p:cNvSpPr>
            <a:spLocks noGrp="1"/>
          </p:cNvSpPr>
          <p:nvPr>
            <p:ph type="body" orient="vert" idx="1"/>
          </p:nvPr>
        </p:nvSpPr>
        <p:spPr>
          <a:xfrm>
            <a:off x="838200" y="1825625"/>
            <a:ext cx="10515600" cy="4351338"/>
          </a:xfrm>
          <a:prstGeom prst="rect">
            <a:avLst/>
          </a:prstGeo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09AD06E-9CAD-0345-057B-37F235D71FC2}"/>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15/04/2026</a:t>
            </a:fld>
            <a:endParaRPr lang="it-IT"/>
          </a:p>
        </p:txBody>
      </p:sp>
      <p:sp>
        <p:nvSpPr>
          <p:cNvPr id="5" name="Segnaposto piè di pagina 4">
            <a:extLst>
              <a:ext uri="{FF2B5EF4-FFF2-40B4-BE49-F238E27FC236}">
                <a16:creationId xmlns:a16="http://schemas.microsoft.com/office/drawing/2014/main" id="{B9C4E9D0-74E0-A5F8-AE00-484121F2C1F7}"/>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6" name="Segnaposto numero diapositiva 5">
            <a:extLst>
              <a:ext uri="{FF2B5EF4-FFF2-40B4-BE49-F238E27FC236}">
                <a16:creationId xmlns:a16="http://schemas.microsoft.com/office/drawing/2014/main" id="{41A6B9B6-D1F0-34B6-4A19-C155C9053BBF}"/>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a:t>
            </a:fld>
            <a:endParaRPr lang="it-IT"/>
          </a:p>
        </p:txBody>
      </p:sp>
    </p:spTree>
    <p:extLst>
      <p:ext uri="{BB962C8B-B14F-4D97-AF65-F5344CB8AC3E}">
        <p14:creationId xmlns:p14="http://schemas.microsoft.com/office/powerpoint/2010/main" val="32737225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555ACBE1-45A3-D444-0DAC-DAFB34A01AC6}"/>
              </a:ext>
            </a:extLst>
          </p:cNvPr>
          <p:cNvSpPr>
            <a:spLocks noGrp="1"/>
          </p:cNvSpPr>
          <p:nvPr>
            <p:ph type="title" orient="vert"/>
          </p:nvPr>
        </p:nvSpPr>
        <p:spPr>
          <a:xfrm>
            <a:off x="8724900" y="365125"/>
            <a:ext cx="2628900" cy="5811838"/>
          </a:xfrm>
          <a:prstGeom prst="rect">
            <a:avLst/>
          </a:prstGeo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549CC98-6087-3385-36C6-3776CCEE3845}"/>
              </a:ext>
            </a:extLst>
          </p:cNvPr>
          <p:cNvSpPr>
            <a:spLocks noGrp="1"/>
          </p:cNvSpPr>
          <p:nvPr>
            <p:ph type="body" orient="vert" idx="1"/>
          </p:nvPr>
        </p:nvSpPr>
        <p:spPr>
          <a:xfrm>
            <a:off x="838200" y="365125"/>
            <a:ext cx="7734300" cy="5811838"/>
          </a:xfrm>
          <a:prstGeom prst="rect">
            <a:avLst/>
          </a:prstGeo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E9E38DB-A737-F097-1C5B-797FC8E48AD1}"/>
              </a:ext>
            </a:extLst>
          </p:cNvPr>
          <p:cNvSpPr>
            <a:spLocks noGrp="1"/>
          </p:cNvSpPr>
          <p:nvPr>
            <p:ph type="dt" sz="half" idx="10"/>
          </p:nvPr>
        </p:nvSpPr>
        <p:spPr>
          <a:xfrm>
            <a:off x="838200" y="6356350"/>
            <a:ext cx="2743200" cy="365125"/>
          </a:xfrm>
          <a:prstGeom prst="rect">
            <a:avLst/>
          </a:prstGeom>
        </p:spPr>
        <p:txBody>
          <a:bodyPr/>
          <a:lstStyle/>
          <a:p>
            <a:fld id="{1090F79A-7EBA-D44B-A00F-1D87C1E686F3}" type="datetimeFigureOut">
              <a:rPr lang="it-IT" smtClean="0"/>
              <a:t>15/04/2026</a:t>
            </a:fld>
            <a:endParaRPr lang="it-IT"/>
          </a:p>
        </p:txBody>
      </p:sp>
      <p:sp>
        <p:nvSpPr>
          <p:cNvPr id="5" name="Segnaposto piè di pagina 4">
            <a:extLst>
              <a:ext uri="{FF2B5EF4-FFF2-40B4-BE49-F238E27FC236}">
                <a16:creationId xmlns:a16="http://schemas.microsoft.com/office/drawing/2014/main" id="{0DB3CC1D-6B1D-B8D1-2CA1-9814AF86A564}"/>
              </a:ext>
            </a:extLst>
          </p:cNvPr>
          <p:cNvSpPr>
            <a:spLocks noGrp="1"/>
          </p:cNvSpPr>
          <p:nvPr>
            <p:ph type="ftr" sz="quarter" idx="11"/>
          </p:nvPr>
        </p:nvSpPr>
        <p:spPr>
          <a:xfrm>
            <a:off x="4038600" y="6356350"/>
            <a:ext cx="4114800" cy="365125"/>
          </a:xfrm>
          <a:prstGeom prst="rect">
            <a:avLst/>
          </a:prstGeom>
        </p:spPr>
        <p:txBody>
          <a:bodyPr/>
          <a:lstStyle/>
          <a:p>
            <a:endParaRPr lang="it-IT"/>
          </a:p>
        </p:txBody>
      </p:sp>
      <p:sp>
        <p:nvSpPr>
          <p:cNvPr id="6" name="Segnaposto numero diapositiva 5">
            <a:extLst>
              <a:ext uri="{FF2B5EF4-FFF2-40B4-BE49-F238E27FC236}">
                <a16:creationId xmlns:a16="http://schemas.microsoft.com/office/drawing/2014/main" id="{42BBB253-727C-8C2F-241B-C93D239B5D35}"/>
              </a:ext>
            </a:extLst>
          </p:cNvPr>
          <p:cNvSpPr>
            <a:spLocks noGrp="1"/>
          </p:cNvSpPr>
          <p:nvPr>
            <p:ph type="sldNum" sz="quarter" idx="12"/>
          </p:nvPr>
        </p:nvSpPr>
        <p:spPr>
          <a:xfrm>
            <a:off x="8610600" y="6356350"/>
            <a:ext cx="2743200" cy="365125"/>
          </a:xfrm>
          <a:prstGeom prst="rect">
            <a:avLst/>
          </a:prstGeom>
        </p:spPr>
        <p:txBody>
          <a:bodyPr/>
          <a:lstStyle/>
          <a:p>
            <a:fld id="{77BF9D72-F697-D445-8237-309F5F64F93D}" type="slidenum">
              <a:rPr lang="it-IT" smtClean="0"/>
              <a:t>‹#›</a:t>
            </a:fld>
            <a:endParaRPr lang="it-IT"/>
          </a:p>
        </p:txBody>
      </p:sp>
    </p:spTree>
    <p:extLst>
      <p:ext uri="{BB962C8B-B14F-4D97-AF65-F5344CB8AC3E}">
        <p14:creationId xmlns:p14="http://schemas.microsoft.com/office/powerpoint/2010/main" val="2277867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27427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49" r:id="rId3"/>
    <p:sldLayoutId id="2147483663" r:id="rId4"/>
    <p:sldLayoutId id="2147483664" r:id="rId5"/>
    <p:sldLayoutId id="2147483665" r:id="rId6"/>
    <p:sldLayoutId id="2147483666" r:id="rId7"/>
    <p:sldLayoutId id="2147483667" r:id="rId8"/>
    <p:sldLayoutId id="2147483650" r:id="rId9"/>
    <p:sldLayoutId id="2147483651" r:id="rId10"/>
    <p:sldLayoutId id="2147483652" r:id="rId11"/>
    <p:sldLayoutId id="2147483653" r:id="rId12"/>
    <p:sldLayoutId id="2147483654" r:id="rId13"/>
    <p:sldLayoutId id="2147483656" r:id="rId14"/>
    <p:sldLayoutId id="2147483657" r:id="rId15"/>
    <p:sldLayoutId id="2147483658" r:id="rId16"/>
    <p:sldLayoutId id="2147483659"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customXml" Target="../ink/ink2.xml"/><Relationship Id="rId10" Type="http://schemas.openxmlformats.org/officeDocument/2006/relationships/image" Target="../media/image8.png"/><Relationship Id="rId4" Type="http://schemas.openxmlformats.org/officeDocument/2006/relationships/image" Target="../media/image4.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customXml" Target="../ink/ink4.xml"/><Relationship Id="rId7"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customXml" Target="../ink/ink5.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17.png"/><Relationship Id="rId3" Type="http://schemas.openxmlformats.org/officeDocument/2006/relationships/customXml" Target="../ink/ink6.xml"/><Relationship Id="rId7" Type="http://schemas.openxmlformats.org/officeDocument/2006/relationships/customXml" Target="../ink/ink8.xml"/><Relationship Id="rId12"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5.png"/><Relationship Id="rId5" Type="http://schemas.openxmlformats.org/officeDocument/2006/relationships/customXml" Target="../ink/ink7.xml"/><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0.png"/><Relationship Id="rId9" Type="http://schemas.openxmlformats.org/officeDocument/2006/relationships/image" Target="../media/image13.png"/><Relationship Id="rId1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customXml" Target="../ink/ink9.xml"/><Relationship Id="rId7" Type="http://schemas.openxmlformats.org/officeDocument/2006/relationships/customXml" Target="../ink/ink11.xml"/><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customXml" Target="../ink/ink10.xml"/><Relationship Id="rId10" Type="http://schemas.openxmlformats.org/officeDocument/2006/relationships/image" Target="../media/image21.png"/><Relationship Id="rId4" Type="http://schemas.openxmlformats.org/officeDocument/2006/relationships/image" Target="../media/image80.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customXml" Target="../ink/ink12.xml"/><Relationship Id="rId7" Type="http://schemas.openxmlformats.org/officeDocument/2006/relationships/customXml" Target="../ink/ink14.xml"/><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24.png"/><Relationship Id="rId5" Type="http://schemas.openxmlformats.org/officeDocument/2006/relationships/customXml" Target="../ink/ink13.xml"/><Relationship Id="rId10" Type="http://schemas.openxmlformats.org/officeDocument/2006/relationships/image" Target="../media/image23.png"/><Relationship Id="rId4" Type="http://schemas.openxmlformats.org/officeDocument/2006/relationships/image" Target="../media/image80.pn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customXml" Target="../ink/ink15.xml"/><Relationship Id="rId7" Type="http://schemas.openxmlformats.org/officeDocument/2006/relationships/customXml" Target="../ink/ink17.xml"/><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customXml" Target="../ink/ink16.xml"/><Relationship Id="rId10" Type="http://schemas.openxmlformats.org/officeDocument/2006/relationships/image" Target="../media/image230.png"/><Relationship Id="rId4" Type="http://schemas.openxmlformats.org/officeDocument/2006/relationships/image" Target="../media/image80.png"/><Relationship Id="rId9" Type="http://schemas.openxmlformats.org/officeDocument/2006/relationships/image" Target="../media/image220.png"/></Relationships>
</file>

<file path=ppt/slides/_rels/slide8.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28.png"/><Relationship Id="rId3" Type="http://schemas.openxmlformats.org/officeDocument/2006/relationships/customXml" Target="../ink/ink18.xml"/><Relationship Id="rId7" Type="http://schemas.openxmlformats.org/officeDocument/2006/relationships/customXml" Target="../ink/ink20.xml"/><Relationship Id="rId12"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26.png"/><Relationship Id="rId5" Type="http://schemas.openxmlformats.org/officeDocument/2006/relationships/customXml" Target="../ink/ink19.xml"/><Relationship Id="rId10" Type="http://schemas.openxmlformats.org/officeDocument/2006/relationships/image" Target="../media/image25.png"/><Relationship Id="rId4" Type="http://schemas.openxmlformats.org/officeDocument/2006/relationships/image" Target="../media/image80.png"/><Relationship Id="rId9" Type="http://schemas.openxmlformats.org/officeDocument/2006/relationships/image" Target="../media/image242.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customXml" Target="../ink/ink21.xml"/><Relationship Id="rId7" Type="http://schemas.openxmlformats.org/officeDocument/2006/relationships/customXml" Target="../ink/ink23.xml"/><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image" Target="../media/image3.png"/><Relationship Id="rId16" Type="http://schemas.openxmlformats.org/officeDocument/2006/relationships/image" Target="../media/image37.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32.png"/><Relationship Id="rId5" Type="http://schemas.openxmlformats.org/officeDocument/2006/relationships/customXml" Target="../ink/ink22.xml"/><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41.png"/><Relationship Id="rId9" Type="http://schemas.openxmlformats.org/officeDocument/2006/relationships/image" Target="../media/image30.png"/><Relationship Id="rId14"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customXml" Target="../ink/ink24.xml"/><Relationship Id="rId7" Type="http://schemas.openxmlformats.org/officeDocument/2006/relationships/customXml" Target="../ink/ink26.xml"/><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251.png"/><Relationship Id="rId5" Type="http://schemas.openxmlformats.org/officeDocument/2006/relationships/customXml" Target="../ink/ink25.xml"/><Relationship Id="rId4" Type="http://schemas.openxmlformats.org/officeDocument/2006/relationships/image" Target="../media/image240.png"/><Relationship Id="rId9" Type="http://schemas.openxmlformats.org/officeDocument/2006/relationships/image" Target="../media/image270.png"/></Relationships>
</file>

<file path=ppt/slides/_rels/slide11.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customXml" Target="../ink/ink27.xml"/><Relationship Id="rId7" Type="http://schemas.openxmlformats.org/officeDocument/2006/relationships/customXml" Target="../ink/ink29.xml"/><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customXml" Target="../ink/ink28.xml"/><Relationship Id="rId4" Type="http://schemas.openxmlformats.org/officeDocument/2006/relationships/image" Target="../media/image80.png"/><Relationship Id="rId9" Type="http://schemas.openxmlformats.org/officeDocument/2006/relationships/image" Target="../media/image39.png"/></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customXml" Target="../ink/ink30.xml"/><Relationship Id="rId7"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customXml" Target="../ink/ink31.xml"/><Relationship Id="rId4" Type="http://schemas.openxmlformats.org/officeDocument/2006/relationships/image" Target="../media/image80.png"/></Relationships>
</file>

<file path=ppt/slides/_rels/slide1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customXml" Target="../ink/ink32.xml"/><Relationship Id="rId7"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customXml" Target="../ink/ink33.xml"/><Relationship Id="rId4" Type="http://schemas.openxmlformats.org/officeDocument/2006/relationships/image" Target="../media/image80.png"/><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customXml" Target="../ink/ink34.xml"/><Relationship Id="rId7"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customXml" Target="../ink/ink35.xml"/><Relationship Id="rId4" Type="http://schemas.openxmlformats.org/officeDocument/2006/relationships/image" Target="../media/image80.png"/></Relationships>
</file>

<file path=ppt/slides/_rels/slide1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customXml" Target="../ink/ink36.xml"/><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customXml" Target="../ink/ink37.xml"/><Relationship Id="rId4" Type="http://schemas.openxmlformats.org/officeDocument/2006/relationships/image" Target="../media/image300.png"/></Relationships>
</file>

<file path=ppt/slides/_rels/slide1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customXml" Target="../ink/ink38.xml"/><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customXml" Target="../ink/ink39.xml"/><Relationship Id="rId4" Type="http://schemas.openxmlformats.org/officeDocument/2006/relationships/image" Target="../media/image300.png"/></Relationships>
</file>

<file path=ppt/slides/_rels/slide1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customXml" Target="../ink/ink40.xml"/><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customXml" Target="../ink/ink41.xml"/><Relationship Id="rId4" Type="http://schemas.openxmlformats.org/officeDocument/2006/relationships/image" Target="../media/image300.png"/></Relationships>
</file>

<file path=ppt/slides/_rels/slide1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customXml" Target="../ink/ink42.xml"/><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customXml" Target="../ink/ink43.xml"/><Relationship Id="rId4" Type="http://schemas.openxmlformats.org/officeDocument/2006/relationships/image" Target="../media/image300.png"/></Relationships>
</file>

<file path=ppt/slides/_rels/slide1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customXml" Target="../ink/ink44.xml"/><Relationship Id="rId7" Type="http://schemas.openxmlformats.org/officeDocument/2006/relationships/image" Target="../media/image49.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customXml" Target="../ink/ink45.xml"/><Relationship Id="rId4" Type="http://schemas.openxmlformats.org/officeDocument/2006/relationships/image" Target="../media/image300.png"/><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8" Type="http://schemas.openxmlformats.org/officeDocument/2006/relationships/customXml" Target="../ink/ink47.xml"/><Relationship Id="rId13" Type="http://schemas.openxmlformats.org/officeDocument/2006/relationships/image" Target="../media/image53.png"/><Relationship Id="rId3" Type="http://schemas.openxmlformats.org/officeDocument/2006/relationships/image" Target="../media/image390.png"/><Relationship Id="rId7" Type="http://schemas.openxmlformats.org/officeDocument/2006/relationships/image" Target="../media/image300.png"/><Relationship Id="rId12" Type="http://schemas.openxmlformats.org/officeDocument/2006/relationships/image" Target="../media/image52.png"/><Relationship Id="rId2" Type="http://schemas.openxmlformats.org/officeDocument/2006/relationships/image" Target="../media/image500.png"/><Relationship Id="rId1" Type="http://schemas.openxmlformats.org/officeDocument/2006/relationships/slideLayout" Target="../slideLayouts/slideLayout3.xml"/><Relationship Id="rId6" Type="http://schemas.openxmlformats.org/officeDocument/2006/relationships/customXml" Target="../ink/ink46.xml"/><Relationship Id="rId11" Type="http://schemas.openxmlformats.org/officeDocument/2006/relationships/image" Target="../media/image420.png"/><Relationship Id="rId5" Type="http://schemas.openxmlformats.org/officeDocument/2006/relationships/image" Target="../media/image3.png"/><Relationship Id="rId10" Type="http://schemas.openxmlformats.org/officeDocument/2006/relationships/image" Target="../media/image51.png"/><Relationship Id="rId4" Type="http://schemas.openxmlformats.org/officeDocument/2006/relationships/image" Target="../media/image400.png"/><Relationship Id="rId9" Type="http://schemas.openxmlformats.org/officeDocument/2006/relationships/image" Target="../media/image11.png"/><Relationship Id="rId1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customXml" Target="../ink/ink48.xml"/><Relationship Id="rId7" Type="http://schemas.openxmlformats.org/officeDocument/2006/relationships/image" Target="../media/image55.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460.png"/><Relationship Id="rId5" Type="http://schemas.openxmlformats.org/officeDocument/2006/relationships/customXml" Target="../ink/ink49.xml"/><Relationship Id="rId4" Type="http://schemas.openxmlformats.org/officeDocument/2006/relationships/image" Target="../media/image300.png"/></Relationships>
</file>

<file path=ppt/slides/_rels/slide22.xml.rels><?xml version="1.0" encoding="UTF-8" standalone="yes"?>
<Relationships xmlns="http://schemas.openxmlformats.org/package/2006/relationships"><Relationship Id="rId3" Type="http://schemas.openxmlformats.org/officeDocument/2006/relationships/customXml" Target="../ink/ink50.xml"/><Relationship Id="rId7" Type="http://schemas.openxmlformats.org/officeDocument/2006/relationships/image" Target="../media/image50.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customXml" Target="../ink/ink51.xml"/><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customXml" Target="../ink/ink52.xml"/><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customXml" Target="../ink/ink53.xml"/><Relationship Id="rId4" Type="http://schemas.openxmlformats.org/officeDocument/2006/relationships/image" Target="../media/image3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2">
            <a:extLst>
              <a:ext uri="{FF2B5EF4-FFF2-40B4-BE49-F238E27FC236}">
                <a16:creationId xmlns:a16="http://schemas.microsoft.com/office/drawing/2014/main" id="{F8F4FF0E-A5BB-8C72-BC4D-BDB4BC9B24BA}"/>
              </a:ext>
            </a:extLst>
          </p:cNvPr>
          <p:cNvSpPr txBox="1"/>
          <p:nvPr/>
        </p:nvSpPr>
        <p:spPr>
          <a:xfrm>
            <a:off x="1435649" y="1446065"/>
            <a:ext cx="9335209" cy="3303789"/>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rgbClr val="193C6A"/>
                </a:solidFill>
                <a:latin typeface="Poppins Black" panose="020B0502040204020203" pitchFamily="2" charset="0"/>
                <a:ea typeface="Roboto" panose="02000000000000000000" pitchFamily="2" charset="0"/>
                <a:cs typeface="Poppins Black" panose="020B0502040204020203" pitchFamily="2" charset="0"/>
              </a:rPr>
              <a:t>Digital Twin of a Hand Exoskeleton for Model-Based Control and Functional Safety in Rehabilitation Scenarios</a:t>
            </a:r>
            <a:endParaRPr lang="it-IT" b="1" dirty="0">
              <a:solidFill>
                <a:srgbClr val="193C6A"/>
              </a:solidFill>
              <a:latin typeface="Poppins Black" panose="020B0502040204020203" pitchFamily="2" charset="0"/>
              <a:ea typeface="Roboto" panose="02000000000000000000" pitchFamily="2" charset="0"/>
              <a:cs typeface="Poppins Black" panose="020B0502040204020203" pitchFamily="2" charset="0"/>
            </a:endParaRPr>
          </a:p>
        </p:txBody>
      </p:sp>
      <p:sp>
        <p:nvSpPr>
          <p:cNvPr id="3" name="Sottotitolo 2">
            <a:extLst>
              <a:ext uri="{FF2B5EF4-FFF2-40B4-BE49-F238E27FC236}">
                <a16:creationId xmlns:a16="http://schemas.microsoft.com/office/drawing/2014/main" id="{D29E2724-DA63-30A1-70D6-AE76140FFF83}"/>
              </a:ext>
            </a:extLst>
          </p:cNvPr>
          <p:cNvSpPr txBox="1">
            <a:spLocks/>
          </p:cNvSpPr>
          <p:nvPr/>
        </p:nvSpPr>
        <p:spPr>
          <a:xfrm>
            <a:off x="8959927" y="5745044"/>
            <a:ext cx="2654437" cy="856714"/>
          </a:xfrm>
          <a:prstGeom prst="rect">
            <a:avLst/>
          </a:prstGeom>
        </p:spPr>
        <p:txBody>
          <a:bodyPr vert="horz" lIns="91440" tIns="45720" rIns="91440" bIns="4572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pPr>
            <a:r>
              <a:rPr lang="it-IT" sz="1400" b="1" dirty="0">
                <a:solidFill>
                  <a:srgbClr val="193C6A"/>
                </a:solidFill>
                <a:latin typeface="Poppins" panose="00000500000000000000" pitchFamily="2" charset="0"/>
                <a:ea typeface="Roboto" panose="02000000000000000000" pitchFamily="2" charset="0"/>
                <a:cs typeface="Poppins" panose="00000500000000000000" pitchFamily="2" charset="0"/>
              </a:rPr>
              <a:t>Candidate</a:t>
            </a:r>
            <a:br>
              <a:rPr lang="it-IT" sz="1400" b="1" dirty="0">
                <a:solidFill>
                  <a:srgbClr val="193C6A"/>
                </a:solidFill>
                <a:latin typeface="Poppins" panose="00000500000000000000" pitchFamily="2" charset="0"/>
                <a:ea typeface="Roboto" panose="02000000000000000000" pitchFamily="2" charset="0"/>
                <a:cs typeface="Poppins" panose="00000500000000000000" pitchFamily="2" charset="0"/>
              </a:rPr>
            </a:br>
            <a:r>
              <a:rPr lang="it-IT" sz="1200" dirty="0">
                <a:solidFill>
                  <a:srgbClr val="193C6A"/>
                </a:solidFill>
                <a:latin typeface="Poppins" panose="00000500000000000000" pitchFamily="2" charset="0"/>
                <a:ea typeface="Roboto" panose="02000000000000000000" pitchFamily="2" charset="0"/>
                <a:cs typeface="Poppins" panose="00000500000000000000" pitchFamily="2" charset="0"/>
              </a:rPr>
              <a:t>Marcello Bari</a:t>
            </a:r>
            <a:endParaRPr lang="it-IT" sz="1400" dirty="0">
              <a:solidFill>
                <a:srgbClr val="193C6A"/>
              </a:solidFill>
              <a:latin typeface="Poppins" panose="00000500000000000000" pitchFamily="2" charset="0"/>
              <a:ea typeface="Roboto" panose="02000000000000000000" pitchFamily="2" charset="0"/>
              <a:cs typeface="Poppins" panose="00000500000000000000" pitchFamily="2" charset="0"/>
            </a:endParaRPr>
          </a:p>
        </p:txBody>
      </p:sp>
      <p:sp>
        <p:nvSpPr>
          <p:cNvPr id="5" name="Sottotitolo 2">
            <a:extLst>
              <a:ext uri="{FF2B5EF4-FFF2-40B4-BE49-F238E27FC236}">
                <a16:creationId xmlns:a16="http://schemas.microsoft.com/office/drawing/2014/main" id="{0C73CF0B-CF98-B3A2-339B-140232A9F946}"/>
              </a:ext>
            </a:extLst>
          </p:cNvPr>
          <p:cNvSpPr txBox="1"/>
          <p:nvPr/>
        </p:nvSpPr>
        <p:spPr>
          <a:xfrm>
            <a:off x="1413488" y="3770326"/>
            <a:ext cx="934286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1400" dirty="0">
                <a:solidFill>
                  <a:srgbClr val="64748B"/>
                </a:solidFill>
                <a:latin typeface="Poppins" panose="00000500000000000000" pitchFamily="2" charset="0"/>
                <a:cs typeface="Poppins" panose="00000500000000000000" pitchFamily="2" charset="0"/>
              </a:rPr>
              <a:t>Master’s Degree in Automation Engineering</a:t>
            </a:r>
          </a:p>
          <a:p>
            <a:pPr>
              <a:lnSpc>
                <a:spcPct val="100000"/>
              </a:lnSpc>
            </a:pPr>
            <a:r>
              <a:rPr lang="it-IT" sz="1400" dirty="0">
                <a:solidFill>
                  <a:srgbClr val="64748B"/>
                </a:solidFill>
                <a:latin typeface="Poppins" panose="00000500000000000000" pitchFamily="2" charset="0"/>
                <a:cs typeface="Poppins" panose="00000500000000000000" pitchFamily="2" charset="0"/>
              </a:rPr>
              <a:t>Thesis in Robotics</a:t>
            </a:r>
            <a:endParaRPr lang="it-IT" sz="1400" dirty="0">
              <a:solidFill>
                <a:srgbClr val="64748B"/>
              </a:solidFill>
              <a:latin typeface="Poppins" panose="00000500000000000000" pitchFamily="2" charset="0"/>
              <a:ea typeface="Roboto" panose="02000000000000000000" pitchFamily="2" charset="0"/>
              <a:cs typeface="Poppins" panose="00000500000000000000" pitchFamily="2" charset="0"/>
            </a:endParaRPr>
          </a:p>
        </p:txBody>
      </p:sp>
      <p:sp>
        <p:nvSpPr>
          <p:cNvPr id="7" name="Sottotitolo 2">
            <a:extLst>
              <a:ext uri="{FF2B5EF4-FFF2-40B4-BE49-F238E27FC236}">
                <a16:creationId xmlns:a16="http://schemas.microsoft.com/office/drawing/2014/main" id="{3FFBCB4D-957A-E535-4065-2997632AF5E7}"/>
              </a:ext>
            </a:extLst>
          </p:cNvPr>
          <p:cNvSpPr txBox="1">
            <a:spLocks/>
          </p:cNvSpPr>
          <p:nvPr/>
        </p:nvSpPr>
        <p:spPr>
          <a:xfrm>
            <a:off x="7755552" y="1044393"/>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endParaRPr lang="it-IT" sz="1200" dirty="0">
              <a:solidFill>
                <a:schemeClr val="bg1"/>
              </a:solidFill>
              <a:latin typeface="Times New Roman" panose="02020603050405020304" pitchFamily="18" charset="0"/>
              <a:cs typeface="Times New Roman" panose="02020603050405020304" pitchFamily="18" charset="0"/>
            </a:endParaRPr>
          </a:p>
        </p:txBody>
      </p:sp>
      <p:pic>
        <p:nvPicPr>
          <p:cNvPr id="12" name="Picture 2">
            <a:extLst>
              <a:ext uri="{FF2B5EF4-FFF2-40B4-BE49-F238E27FC236}">
                <a16:creationId xmlns:a16="http://schemas.microsoft.com/office/drawing/2014/main" id="{D04B2A20-1015-C4D6-E264-897506FB69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146" y="1112956"/>
            <a:ext cx="938410" cy="66621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861BD5-A9DB-B88D-CA9E-7070CFD12A54}"/>
              </a:ext>
            </a:extLst>
          </p:cNvPr>
          <p:cNvSpPr txBox="1"/>
          <p:nvPr/>
        </p:nvSpPr>
        <p:spPr>
          <a:xfrm>
            <a:off x="381789" y="4401079"/>
            <a:ext cx="3428874" cy="2215991"/>
          </a:xfrm>
          <a:prstGeom prst="rect">
            <a:avLst/>
          </a:prstGeom>
          <a:noFill/>
        </p:spPr>
        <p:txBody>
          <a:bodyPr wrap="square" rtlCol="0">
            <a:spAutoFit/>
          </a:bodyPr>
          <a:lstStyle/>
          <a:p>
            <a:r>
              <a:rPr lang="it-IT" sz="1400" b="1" dirty="0">
                <a:solidFill>
                  <a:srgbClr val="193C6A"/>
                </a:solidFill>
                <a:latin typeface="Poppins" panose="00000500000000000000" pitchFamily="2" charset="0"/>
                <a:cs typeface="Poppins" panose="00000500000000000000" pitchFamily="2" charset="0"/>
              </a:rPr>
              <a:t>Supervisor</a:t>
            </a:r>
            <a:endParaRPr lang="it-IT" sz="1200" b="1" dirty="0">
              <a:solidFill>
                <a:srgbClr val="193C6A"/>
              </a:solidFill>
              <a:latin typeface="Poppins" panose="00000500000000000000" pitchFamily="2" charset="0"/>
              <a:cs typeface="Poppins" panose="00000500000000000000" pitchFamily="2" charset="0"/>
            </a:endParaRPr>
          </a:p>
          <a:p>
            <a:r>
              <a:rPr lang="it-IT" sz="1200" dirty="0">
                <a:solidFill>
                  <a:srgbClr val="193C6A"/>
                </a:solidFill>
                <a:latin typeface="Poppins" panose="00000500000000000000" pitchFamily="2" charset="0"/>
                <a:cs typeface="Poppins" panose="00000500000000000000" pitchFamily="2" charset="0"/>
              </a:rPr>
              <a:t>Prof. Paolo Lino </a:t>
            </a:r>
          </a:p>
          <a:p>
            <a:endParaRPr lang="it-IT" sz="1200" dirty="0">
              <a:solidFill>
                <a:srgbClr val="193C6A"/>
              </a:solidFill>
              <a:latin typeface="Poppins" panose="00000500000000000000" pitchFamily="2" charset="0"/>
              <a:cs typeface="Poppins" panose="00000500000000000000" pitchFamily="2" charset="0"/>
            </a:endParaRPr>
          </a:p>
          <a:p>
            <a:r>
              <a:rPr lang="it-IT" sz="1400" b="1" dirty="0">
                <a:solidFill>
                  <a:srgbClr val="193C6A"/>
                </a:solidFill>
                <a:latin typeface="Poppins" panose="00000500000000000000" pitchFamily="2" charset="0"/>
                <a:cs typeface="Poppins" panose="00000500000000000000" pitchFamily="2" charset="0"/>
              </a:rPr>
              <a:t>Co-supervisors</a:t>
            </a:r>
          </a:p>
          <a:p>
            <a:r>
              <a:rPr lang="it-IT" sz="1200" dirty="0">
                <a:solidFill>
                  <a:srgbClr val="193C6A"/>
                </a:solidFill>
                <a:latin typeface="Poppins" panose="00000500000000000000" pitchFamily="2" charset="0"/>
                <a:cs typeface="Poppins" panose="00000500000000000000" pitchFamily="2" charset="0"/>
              </a:rPr>
              <a:t>Prof. Stefano Mazzoleni </a:t>
            </a:r>
          </a:p>
          <a:p>
            <a:r>
              <a:rPr lang="it-IT" sz="1200" dirty="0">
                <a:solidFill>
                  <a:srgbClr val="193C6A"/>
                </a:solidFill>
                <a:latin typeface="Poppins" panose="00000500000000000000" pitchFamily="2" charset="0"/>
                <a:cs typeface="Poppins" panose="00000500000000000000" pitchFamily="2" charset="0"/>
              </a:rPr>
              <a:t>Amelia Gioscia, PhD candidate</a:t>
            </a:r>
          </a:p>
          <a:p>
            <a:endParaRPr lang="it-IT" sz="1200" dirty="0">
              <a:solidFill>
                <a:srgbClr val="193C6A"/>
              </a:solidFill>
              <a:latin typeface="Poppins" panose="00000500000000000000" pitchFamily="2" charset="0"/>
              <a:cs typeface="Poppins" panose="00000500000000000000" pitchFamily="2" charset="0"/>
            </a:endParaRPr>
          </a:p>
          <a:p>
            <a:r>
              <a:rPr lang="it-IT" sz="1400" b="1" dirty="0">
                <a:solidFill>
                  <a:srgbClr val="193C6A"/>
                </a:solidFill>
                <a:latin typeface="Poppins" panose="00000500000000000000" pitchFamily="2" charset="0"/>
                <a:cs typeface="Poppins" panose="00000500000000000000" pitchFamily="2" charset="0"/>
              </a:rPr>
              <a:t>Company tutors (Bosch)</a:t>
            </a:r>
          </a:p>
          <a:p>
            <a:r>
              <a:rPr lang="it-IT" sz="1200" dirty="0">
                <a:solidFill>
                  <a:srgbClr val="193C6A"/>
                </a:solidFill>
                <a:latin typeface="Poppins" panose="00000500000000000000" pitchFamily="2" charset="0"/>
                <a:cs typeface="Poppins" panose="00000500000000000000" pitchFamily="2" charset="0"/>
              </a:rPr>
              <a:t>Pietro De Carlo </a:t>
            </a:r>
          </a:p>
          <a:p>
            <a:r>
              <a:rPr lang="it-IT" sz="1200" dirty="0">
                <a:solidFill>
                  <a:srgbClr val="193C6A"/>
                </a:solidFill>
                <a:latin typeface="Poppins" panose="00000500000000000000" pitchFamily="2" charset="0"/>
                <a:cs typeface="Poppins" panose="00000500000000000000" pitchFamily="2" charset="0"/>
              </a:rPr>
              <a:t>Michele Tomaselli </a:t>
            </a:r>
          </a:p>
          <a:p>
            <a:r>
              <a:rPr lang="it-IT" sz="1200" dirty="0">
                <a:solidFill>
                  <a:srgbClr val="193C6A"/>
                </a:solidFill>
                <a:latin typeface="Poppins" panose="00000500000000000000" pitchFamily="2" charset="0"/>
                <a:cs typeface="Poppins" panose="00000500000000000000" pitchFamily="2" charset="0"/>
              </a:rPr>
              <a:t>Adriano Sciusco</a:t>
            </a:r>
          </a:p>
        </p:txBody>
      </p:sp>
    </p:spTree>
    <p:extLst>
      <p:ext uri="{BB962C8B-B14F-4D97-AF65-F5344CB8AC3E}">
        <p14:creationId xmlns:p14="http://schemas.microsoft.com/office/powerpoint/2010/main" val="19103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hape 3">
            <a:extLst>
              <a:ext uri="{FF2B5EF4-FFF2-40B4-BE49-F238E27FC236}">
                <a16:creationId xmlns:a16="http://schemas.microsoft.com/office/drawing/2014/main" id="{189FEB77-AA02-EFDE-4FFF-293687349E32}"/>
              </a:ext>
            </a:extLst>
          </p:cNvPr>
          <p:cNvSpPr/>
          <p:nvPr/>
        </p:nvSpPr>
        <p:spPr>
          <a:xfrm>
            <a:off x="6841083" y="1064203"/>
            <a:ext cx="4699254" cy="5319343"/>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3" name="Sottotitolo 2">
            <a:extLst>
              <a:ext uri="{FF2B5EF4-FFF2-40B4-BE49-F238E27FC236}">
                <a16:creationId xmlns:a16="http://schemas.microsoft.com/office/drawing/2014/main" id="{CE8A1D28-4A6B-5F6D-516D-1ED2A6F4EF30}"/>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83490292-F46C-667D-51DE-105206A8D48B}"/>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5DDF653B-8A19-52DF-FC54-5AD355D44B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12EBFAFF-3A14-A08F-4EE9-8A7F1D6FB01D}"/>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12EBFAFF-3A14-A08F-4EE9-8A7F1D6FB01D}"/>
                  </a:ext>
                </a:extLst>
              </p:cNvPr>
              <p:cNvPicPr/>
              <p:nvPr/>
            </p:nvPicPr>
            <p:blipFill>
              <a:blip r:embed="rId4"/>
              <a:stretch>
                <a:fillRect/>
              </a:stretch>
            </p:blipFill>
            <p:spPr>
              <a:xfrm>
                <a:off x="5543253" y="1234257"/>
                <a:ext cx="105876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4EAFC674-821D-824B-4DDF-A019BE072800}"/>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4EAFC674-821D-824B-4DDF-A019BE072800}"/>
                  </a:ext>
                </a:extLst>
              </p:cNvPr>
              <p:cNvPicPr/>
              <p:nvPr/>
            </p:nvPicPr>
            <p:blipFill>
              <a:blip r:embed="rId6"/>
              <a:stretch>
                <a:fillRect/>
              </a:stretch>
            </p:blipFill>
            <p:spPr>
              <a:xfrm>
                <a:off x="5259213" y="963076"/>
                <a:ext cx="1950120" cy="35156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57F7876B-0037-ABA0-93BC-FD0601E38D06}"/>
                  </a:ext>
                </a:extLst>
              </p14:cNvPr>
              <p14:cNvContentPartPr/>
              <p14:nvPr/>
            </p14:nvContentPartPr>
            <p14:xfrm>
              <a:off x="525933" y="2691537"/>
              <a:ext cx="360" cy="360"/>
            </p14:xfrm>
          </p:contentPart>
        </mc:Choice>
        <mc:Fallback xmlns="">
          <p:pic>
            <p:nvPicPr>
              <p:cNvPr id="13" name="Ink 12">
                <a:extLst>
                  <a:ext uri="{FF2B5EF4-FFF2-40B4-BE49-F238E27FC236}">
                    <a16:creationId xmlns:a16="http://schemas.microsoft.com/office/drawing/2014/main" id="{57F7876B-0037-ABA0-93BC-FD0601E38D06}"/>
                  </a:ext>
                </a:extLst>
              </p:cNvPr>
              <p:cNvPicPr/>
              <p:nvPr/>
            </p:nvPicPr>
            <p:blipFill>
              <a:blip r:embed="rId8"/>
              <a:stretch>
                <a:fillRect/>
              </a:stretch>
            </p:blipFill>
            <p:spPr>
              <a:xfrm>
                <a:off x="462933" y="2628537"/>
                <a:ext cx="126000" cy="126000"/>
              </a:xfrm>
              <a:prstGeom prst="rect">
                <a:avLst/>
              </a:prstGeom>
            </p:spPr>
          </p:pic>
        </mc:Fallback>
      </mc:AlternateContent>
      <p:sp>
        <p:nvSpPr>
          <p:cNvPr id="14" name="Google Shape;259;p29">
            <a:extLst>
              <a:ext uri="{FF2B5EF4-FFF2-40B4-BE49-F238E27FC236}">
                <a16:creationId xmlns:a16="http://schemas.microsoft.com/office/drawing/2014/main" id="{3847953B-726F-07BC-FFE1-49BF219A7EC5}"/>
              </a:ext>
            </a:extLst>
          </p:cNvPr>
          <p:cNvSpPr/>
          <p:nvPr/>
        </p:nvSpPr>
        <p:spPr>
          <a:xfrm>
            <a:off x="525932" y="1433398"/>
            <a:ext cx="3096833"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228FC168-B227-3A04-2039-439A17B69FCC}"/>
              </a:ext>
            </a:extLst>
          </p:cNvPr>
          <p:cNvSpPr txBox="1">
            <a:spLocks/>
          </p:cNvSpPr>
          <p:nvPr/>
        </p:nvSpPr>
        <p:spPr>
          <a:xfrm>
            <a:off x="604929" y="1129380"/>
            <a:ext cx="7704000"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it-IT" sz="3200" dirty="0">
                <a:solidFill>
                  <a:srgbClr val="193C6A"/>
                </a:solidFill>
                <a:latin typeface="Poppins Black" panose="00000A00000000000000" pitchFamily="2" charset="0"/>
                <a:cs typeface="Poppins Black" panose="00000A00000000000000" pitchFamily="2" charset="0"/>
              </a:rPr>
              <a:t>Digital Twin</a:t>
            </a:r>
          </a:p>
        </p:txBody>
      </p:sp>
      <p:sp>
        <p:nvSpPr>
          <p:cNvPr id="6" name="Text 23">
            <a:extLst>
              <a:ext uri="{FF2B5EF4-FFF2-40B4-BE49-F238E27FC236}">
                <a16:creationId xmlns:a16="http://schemas.microsoft.com/office/drawing/2014/main" id="{FF6B0706-A3E0-29C2-6A0C-17B6DCE185BC}"/>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7" name="Shape 5">
            <a:extLst>
              <a:ext uri="{FF2B5EF4-FFF2-40B4-BE49-F238E27FC236}">
                <a16:creationId xmlns:a16="http://schemas.microsoft.com/office/drawing/2014/main" id="{58AD80DE-333F-424A-8B1A-F017DC47E61E}"/>
              </a:ext>
            </a:extLst>
          </p:cNvPr>
          <p:cNvSpPr/>
          <p:nvPr/>
        </p:nvSpPr>
        <p:spPr>
          <a:xfrm>
            <a:off x="604929" y="2468448"/>
            <a:ext cx="5212080" cy="2615340"/>
          </a:xfrm>
          <a:prstGeom prst="rect">
            <a:avLst/>
          </a:prstGeom>
          <a:solidFill>
            <a:srgbClr val="FFFFFF"/>
          </a:solidFill>
          <a:ln w="12700">
            <a:solidFill>
              <a:srgbClr val="E8EEF3"/>
            </a:solidFill>
            <a:prstDash val="solid"/>
          </a:ln>
          <a:effectLst>
            <a:outerShdw blurRad="127000" dist="38100" dir="8100000" algn="bl" rotWithShape="0">
              <a:srgbClr val="000000">
                <a:alpha val="10000"/>
              </a:srgbClr>
            </a:outerShdw>
          </a:effectLst>
        </p:spPr>
        <p:txBody>
          <a:bodyPr/>
          <a:lstStyle/>
          <a:p>
            <a:endParaRPr lang="it-IT" dirty="0"/>
          </a:p>
        </p:txBody>
      </p:sp>
      <p:sp>
        <p:nvSpPr>
          <p:cNvPr id="8" name="Shape 6">
            <a:extLst>
              <a:ext uri="{FF2B5EF4-FFF2-40B4-BE49-F238E27FC236}">
                <a16:creationId xmlns:a16="http://schemas.microsoft.com/office/drawing/2014/main" id="{9AAAF22D-3130-B41E-B1FD-1156B69863A3}"/>
              </a:ext>
            </a:extLst>
          </p:cNvPr>
          <p:cNvSpPr/>
          <p:nvPr/>
        </p:nvSpPr>
        <p:spPr>
          <a:xfrm>
            <a:off x="604929" y="2468448"/>
            <a:ext cx="5212080" cy="109728"/>
          </a:xfrm>
          <a:prstGeom prst="rect">
            <a:avLst/>
          </a:prstGeom>
          <a:solidFill>
            <a:srgbClr val="E8A33D"/>
          </a:solidFill>
          <a:ln w="12700">
            <a:solidFill>
              <a:srgbClr val="E8A33D"/>
            </a:solidFill>
            <a:prstDash val="solid"/>
          </a:ln>
        </p:spPr>
        <p:txBody>
          <a:bodyPr/>
          <a:lstStyle/>
          <a:p>
            <a:endParaRPr lang="it-IT"/>
          </a:p>
        </p:txBody>
      </p:sp>
      <p:pic>
        <p:nvPicPr>
          <p:cNvPr id="9" name="Image 0" descr="preencoded.png">
            <a:extLst>
              <a:ext uri="{FF2B5EF4-FFF2-40B4-BE49-F238E27FC236}">
                <a16:creationId xmlns:a16="http://schemas.microsoft.com/office/drawing/2014/main" id="{9B0C1F82-2710-0A5D-D9B9-8FF18EB84EFA}"/>
              </a:ext>
            </a:extLst>
          </p:cNvPr>
          <p:cNvPicPr>
            <a:picLocks noChangeAspect="1"/>
          </p:cNvPicPr>
          <p:nvPr/>
        </p:nvPicPr>
        <p:blipFill>
          <a:blip r:embed="rId9"/>
          <a:stretch>
            <a:fillRect/>
          </a:stretch>
        </p:blipFill>
        <p:spPr>
          <a:xfrm>
            <a:off x="833529" y="2742768"/>
            <a:ext cx="502920" cy="502920"/>
          </a:xfrm>
          <a:prstGeom prst="rect">
            <a:avLst/>
          </a:prstGeom>
        </p:spPr>
      </p:pic>
      <p:sp>
        <p:nvSpPr>
          <p:cNvPr id="16" name="Text 7">
            <a:extLst>
              <a:ext uri="{FF2B5EF4-FFF2-40B4-BE49-F238E27FC236}">
                <a16:creationId xmlns:a16="http://schemas.microsoft.com/office/drawing/2014/main" id="{7FC69E90-3BA9-E9E6-1D21-45E0F444FB0D}"/>
              </a:ext>
            </a:extLst>
          </p:cNvPr>
          <p:cNvSpPr/>
          <p:nvPr/>
        </p:nvSpPr>
        <p:spPr>
          <a:xfrm>
            <a:off x="1427889" y="2742768"/>
            <a:ext cx="4297680" cy="502920"/>
          </a:xfrm>
          <a:prstGeom prst="rect">
            <a:avLst/>
          </a:prstGeom>
          <a:noFill/>
          <a:ln/>
        </p:spPr>
        <p:txBody>
          <a:bodyPr wrap="square" lIns="0" tIns="0" rIns="0" bIns="0" rtlCol="0" anchor="ctr"/>
          <a:lstStyle/>
          <a:p>
            <a:pPr marL="0" indent="0">
              <a:buNone/>
            </a:pPr>
            <a:r>
              <a:rPr lang="en-US" sz="1800" b="1" dirty="0">
                <a:solidFill>
                  <a:srgbClr val="0A2540"/>
                </a:solidFill>
                <a:latin typeface="Poppins Black" panose="00000A00000000000000" pitchFamily="2" charset="0"/>
                <a:ea typeface="Cambria" pitchFamily="34" charset="-122"/>
                <a:cs typeface="Poppins Black" panose="00000A00000000000000" pitchFamily="2" charset="0"/>
              </a:rPr>
              <a:t>The Digital Twin Paradigm</a:t>
            </a:r>
            <a:endParaRPr lang="en-US" sz="1800" dirty="0">
              <a:latin typeface="Poppins Black" panose="00000A00000000000000" pitchFamily="2" charset="0"/>
              <a:cs typeface="Poppins Black" panose="00000A00000000000000" pitchFamily="2" charset="0"/>
            </a:endParaRPr>
          </a:p>
        </p:txBody>
      </p:sp>
      <p:sp>
        <p:nvSpPr>
          <p:cNvPr id="17" name="Text 8">
            <a:extLst>
              <a:ext uri="{FF2B5EF4-FFF2-40B4-BE49-F238E27FC236}">
                <a16:creationId xmlns:a16="http://schemas.microsoft.com/office/drawing/2014/main" id="{4EF920FA-D907-70FD-9C6E-1229F0174365}"/>
              </a:ext>
            </a:extLst>
          </p:cNvPr>
          <p:cNvSpPr/>
          <p:nvPr/>
        </p:nvSpPr>
        <p:spPr>
          <a:xfrm>
            <a:off x="833529" y="3081048"/>
            <a:ext cx="4800600" cy="1645920"/>
          </a:xfrm>
          <a:prstGeom prst="rect">
            <a:avLst/>
          </a:prstGeom>
          <a:noFill/>
          <a:ln/>
        </p:spPr>
        <p:txBody>
          <a:bodyPr wrap="square" rtlCol="0" anchor="ctr"/>
          <a:lstStyle/>
          <a:p>
            <a:pPr marL="0" indent="0">
              <a:spcAft>
                <a:spcPts val="400"/>
              </a:spcAft>
              <a:buNone/>
            </a:pPr>
            <a:r>
              <a:rPr lang="en-US" sz="1300" dirty="0">
                <a:solidFill>
                  <a:srgbClr val="1E293B"/>
                </a:solidFill>
                <a:latin typeface="Poppins" panose="00000500000000000000" pitchFamily="2" charset="0"/>
                <a:ea typeface="Calibri" pitchFamily="34" charset="-122"/>
                <a:cs typeface="Poppins" panose="00000500000000000000" pitchFamily="2" charset="0"/>
              </a:rPr>
              <a:t>A </a:t>
            </a:r>
            <a:r>
              <a:rPr lang="en-US" sz="1300" b="1" dirty="0">
                <a:solidFill>
                  <a:srgbClr val="1E293B"/>
                </a:solidFill>
                <a:latin typeface="Poppins" panose="00000500000000000000" pitchFamily="2" charset="0"/>
                <a:ea typeface="Calibri" pitchFamily="34" charset="-122"/>
                <a:cs typeface="Poppins" panose="00000500000000000000" pitchFamily="2" charset="0"/>
              </a:rPr>
              <a:t>virtual counterpart</a:t>
            </a:r>
            <a:r>
              <a:rPr lang="en-US" sz="1300" dirty="0">
                <a:solidFill>
                  <a:srgbClr val="1E293B"/>
                </a:solidFill>
                <a:latin typeface="Poppins" panose="00000500000000000000" pitchFamily="2" charset="0"/>
                <a:ea typeface="Calibri" pitchFamily="34" charset="-122"/>
                <a:cs typeface="Poppins" panose="00000500000000000000" pitchFamily="2" charset="0"/>
              </a:rPr>
              <a:t> of the physical system — reproducing mechanics, dynamics, control and safety behavior — enables the designer to </a:t>
            </a:r>
            <a:r>
              <a:rPr lang="en-US" sz="1300" b="1" dirty="0">
                <a:solidFill>
                  <a:srgbClr val="1E293B"/>
                </a:solidFill>
                <a:latin typeface="Poppins" panose="00000500000000000000" pitchFamily="2" charset="0"/>
                <a:ea typeface="Calibri" pitchFamily="34" charset="-122"/>
                <a:cs typeface="Poppins" panose="00000500000000000000" pitchFamily="2" charset="0"/>
              </a:rPr>
              <a:t>evaluate</a:t>
            </a:r>
            <a:r>
              <a:rPr lang="en-US" sz="1300" dirty="0">
                <a:solidFill>
                  <a:srgbClr val="1E293B"/>
                </a:solidFill>
                <a:latin typeface="Poppins" panose="00000500000000000000" pitchFamily="2" charset="0"/>
                <a:ea typeface="Calibri" pitchFamily="34" charset="-122"/>
                <a:cs typeface="Poppins" panose="00000500000000000000" pitchFamily="2" charset="0"/>
              </a:rPr>
              <a:t> choices, </a:t>
            </a:r>
            <a:r>
              <a:rPr lang="en-US" sz="1300" b="1" dirty="0">
                <a:solidFill>
                  <a:srgbClr val="1E293B"/>
                </a:solidFill>
                <a:latin typeface="Poppins" panose="00000500000000000000" pitchFamily="2" charset="0"/>
                <a:ea typeface="Calibri" pitchFamily="34" charset="-122"/>
                <a:cs typeface="Poppins" panose="00000500000000000000" pitchFamily="2" charset="0"/>
              </a:rPr>
              <a:t>tune</a:t>
            </a:r>
            <a:r>
              <a:rPr lang="en-US" sz="1300" dirty="0">
                <a:solidFill>
                  <a:srgbClr val="1E293B"/>
                </a:solidFill>
                <a:latin typeface="Poppins" panose="00000500000000000000" pitchFamily="2" charset="0"/>
                <a:ea typeface="Calibri" pitchFamily="34" charset="-122"/>
                <a:cs typeface="Poppins" panose="00000500000000000000" pitchFamily="2" charset="0"/>
              </a:rPr>
              <a:t> controllers, </a:t>
            </a:r>
            <a:r>
              <a:rPr lang="en-US" sz="1300" b="1" dirty="0">
                <a:solidFill>
                  <a:srgbClr val="1E293B"/>
                </a:solidFill>
                <a:latin typeface="Poppins" panose="00000500000000000000" pitchFamily="2" charset="0"/>
                <a:ea typeface="Calibri" pitchFamily="34" charset="-122"/>
                <a:cs typeface="Poppins" panose="00000500000000000000" pitchFamily="2" charset="0"/>
              </a:rPr>
              <a:t>verify</a:t>
            </a:r>
            <a:r>
              <a:rPr lang="en-US" sz="1300" dirty="0">
                <a:solidFill>
                  <a:srgbClr val="1E293B"/>
                </a:solidFill>
                <a:latin typeface="Poppins" panose="00000500000000000000" pitchFamily="2" charset="0"/>
                <a:ea typeface="Calibri" pitchFamily="34" charset="-122"/>
                <a:cs typeface="Poppins" panose="00000500000000000000" pitchFamily="2" charset="0"/>
              </a:rPr>
              <a:t> safety strategies before any hardware exists or any patient is involved and </a:t>
            </a:r>
            <a:r>
              <a:rPr lang="en-US" sz="1300" b="1" dirty="0">
                <a:solidFill>
                  <a:srgbClr val="1E293B"/>
                </a:solidFill>
                <a:latin typeface="Poppins" panose="00000500000000000000" pitchFamily="2" charset="0"/>
                <a:ea typeface="Calibri" pitchFamily="34" charset="-122"/>
                <a:cs typeface="Poppins" panose="00000500000000000000" pitchFamily="2" charset="0"/>
              </a:rPr>
              <a:t>monitor</a:t>
            </a:r>
            <a:r>
              <a:rPr lang="en-US" sz="1300" dirty="0">
                <a:solidFill>
                  <a:srgbClr val="1E293B"/>
                </a:solidFill>
                <a:latin typeface="Poppins" panose="00000500000000000000" pitchFamily="2" charset="0"/>
                <a:ea typeface="Calibri" pitchFamily="34" charset="-122"/>
                <a:cs typeface="Poppins" panose="00000500000000000000" pitchFamily="2" charset="0"/>
              </a:rPr>
              <a:t> the hardware’s performance during runtime. </a:t>
            </a:r>
            <a:endParaRPr lang="en-US" sz="1300" dirty="0"/>
          </a:p>
        </p:txBody>
      </p:sp>
      <p:sp>
        <p:nvSpPr>
          <p:cNvPr id="18" name="Text 9">
            <a:extLst>
              <a:ext uri="{FF2B5EF4-FFF2-40B4-BE49-F238E27FC236}">
                <a16:creationId xmlns:a16="http://schemas.microsoft.com/office/drawing/2014/main" id="{85C42277-2F24-948A-997F-F203004DFDB0}"/>
              </a:ext>
            </a:extLst>
          </p:cNvPr>
          <p:cNvSpPr/>
          <p:nvPr/>
        </p:nvSpPr>
        <p:spPr>
          <a:xfrm>
            <a:off x="605562" y="4622245"/>
            <a:ext cx="5211447" cy="367337"/>
          </a:xfrm>
          <a:prstGeom prst="rect">
            <a:avLst/>
          </a:prstGeom>
          <a:noFill/>
          <a:ln/>
        </p:spPr>
        <p:txBody>
          <a:bodyPr wrap="square" rtlCol="0" anchor="ctr"/>
          <a:lstStyle/>
          <a:p>
            <a:pPr marL="0" indent="0" algn="ctr">
              <a:buNone/>
            </a:pPr>
            <a:r>
              <a:rPr lang="en-US" sz="1100" b="1" i="1" dirty="0">
                <a:solidFill>
                  <a:srgbClr val="1C7293"/>
                </a:solidFill>
                <a:latin typeface="Poppins" panose="00000500000000000000" pitchFamily="2" charset="0"/>
                <a:ea typeface="Calibri" pitchFamily="34" charset="-122"/>
                <a:cs typeface="Poppins" panose="00000500000000000000" pitchFamily="2" charset="0"/>
              </a:rPr>
              <a:t>Fewer hardware iterations  •  Lower cost  •  Safer early-stage testing</a:t>
            </a:r>
            <a:endParaRPr lang="en-US" sz="1100" b="1" dirty="0">
              <a:latin typeface="Poppins" panose="00000500000000000000" pitchFamily="2" charset="0"/>
              <a:cs typeface="Poppins" panose="00000500000000000000" pitchFamily="2" charset="0"/>
            </a:endParaRPr>
          </a:p>
        </p:txBody>
      </p:sp>
      <p:pic>
        <p:nvPicPr>
          <p:cNvPr id="21" name="Picture 20">
            <a:extLst>
              <a:ext uri="{FF2B5EF4-FFF2-40B4-BE49-F238E27FC236}">
                <a16:creationId xmlns:a16="http://schemas.microsoft.com/office/drawing/2014/main" id="{58A436D4-E311-F472-3A38-E39D5ED5EB99}"/>
              </a:ext>
            </a:extLst>
          </p:cNvPr>
          <p:cNvPicPr>
            <a:picLocks noChangeAspect="1"/>
          </p:cNvPicPr>
          <p:nvPr/>
        </p:nvPicPr>
        <p:blipFill>
          <a:blip r:embed="rId10"/>
          <a:stretch>
            <a:fillRect/>
          </a:stretch>
        </p:blipFill>
        <p:spPr>
          <a:xfrm flipH="1">
            <a:off x="7432273" y="1433398"/>
            <a:ext cx="3464478" cy="2260741"/>
          </a:xfrm>
          <a:prstGeom prst="rect">
            <a:avLst/>
          </a:prstGeom>
        </p:spPr>
      </p:pic>
      <p:pic>
        <p:nvPicPr>
          <p:cNvPr id="23" name="Picture 22">
            <a:extLst>
              <a:ext uri="{FF2B5EF4-FFF2-40B4-BE49-F238E27FC236}">
                <a16:creationId xmlns:a16="http://schemas.microsoft.com/office/drawing/2014/main" id="{2B123A24-4D20-F4D6-E9EB-2A2DECB7220C}"/>
              </a:ext>
            </a:extLst>
          </p:cNvPr>
          <p:cNvPicPr>
            <a:picLocks noChangeAspect="1"/>
          </p:cNvPicPr>
          <p:nvPr/>
        </p:nvPicPr>
        <p:blipFill>
          <a:blip r:embed="rId11"/>
          <a:stretch>
            <a:fillRect/>
          </a:stretch>
        </p:blipFill>
        <p:spPr>
          <a:xfrm>
            <a:off x="7023963" y="3829913"/>
            <a:ext cx="4562475" cy="2319338"/>
          </a:xfrm>
          <a:prstGeom prst="rect">
            <a:avLst/>
          </a:prstGeom>
        </p:spPr>
      </p:pic>
    </p:spTree>
    <p:extLst>
      <p:ext uri="{BB962C8B-B14F-4D97-AF65-F5344CB8AC3E}">
        <p14:creationId xmlns:p14="http://schemas.microsoft.com/office/powerpoint/2010/main" val="902983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739F-A2F0-C5F2-5ADA-B6A160EB1EE5}"/>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7B3A3F05-A9B3-B9E3-6AF0-7A7D1E50585C}"/>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F14C9739-8796-DAFA-8C7C-50219C8833B2}"/>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C9DAC859-522C-8518-E207-E7B66F5CAA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EB4F7EEB-0C9C-FF65-409E-DA438EE46A50}"/>
                  </a:ext>
                </a:extLst>
              </p14:cNvPr>
              <p14:cNvContentPartPr/>
              <p14:nvPr/>
            </p14:nvContentPartPr>
            <p14:xfrm>
              <a:off x="5549373" y="1240377"/>
              <a:ext cx="1046520" cy="88560"/>
            </p14:xfrm>
          </p:contentPart>
        </mc:Choice>
        <mc:Fallback>
          <p:pic>
            <p:nvPicPr>
              <p:cNvPr id="11" name="Ink 10">
                <a:extLst>
                  <a:ext uri="{FF2B5EF4-FFF2-40B4-BE49-F238E27FC236}">
                    <a16:creationId xmlns:a16="http://schemas.microsoft.com/office/drawing/2014/main" id="{EB4F7EEB-0C9C-FF65-409E-DA438EE46A50}"/>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2" name="Ink 11">
                <a:extLst>
                  <a:ext uri="{FF2B5EF4-FFF2-40B4-BE49-F238E27FC236}">
                    <a16:creationId xmlns:a16="http://schemas.microsoft.com/office/drawing/2014/main" id="{7D422D1D-EA00-02C4-9F8A-C8A0C1DD33BE}"/>
                  </a:ext>
                </a:extLst>
              </p14:cNvPr>
              <p14:cNvContentPartPr/>
              <p14:nvPr/>
            </p14:nvContentPartPr>
            <p14:xfrm>
              <a:off x="5322213" y="1026177"/>
              <a:ext cx="1824480" cy="225720"/>
            </p14:xfrm>
          </p:contentPart>
        </mc:Choice>
        <mc:Fallback>
          <p:pic>
            <p:nvPicPr>
              <p:cNvPr id="12" name="Ink 11">
                <a:extLst>
                  <a:ext uri="{FF2B5EF4-FFF2-40B4-BE49-F238E27FC236}">
                    <a16:creationId xmlns:a16="http://schemas.microsoft.com/office/drawing/2014/main" id="{7D422D1D-EA00-02C4-9F8A-C8A0C1DD33BE}"/>
                  </a:ext>
                </a:extLst>
              </p:cNvPr>
              <p:cNvPicPr/>
              <p:nvPr/>
            </p:nvPicPr>
            <p:blipFill>
              <a:blip r:embed="rId6"/>
              <a:stretch>
                <a:fillRect/>
              </a:stretch>
            </p:blipFill>
            <p:spPr>
              <a:xfrm>
                <a:off x="5259213" y="963076"/>
                <a:ext cx="1950120" cy="351561"/>
              </a:xfrm>
              <a:prstGeom prst="rect">
                <a:avLst/>
              </a:prstGeom>
            </p:spPr>
          </p:pic>
        </mc:Fallback>
      </mc:AlternateContent>
      <p:sp>
        <p:nvSpPr>
          <p:cNvPr id="14" name="Google Shape;259;p29">
            <a:extLst>
              <a:ext uri="{FF2B5EF4-FFF2-40B4-BE49-F238E27FC236}">
                <a16:creationId xmlns:a16="http://schemas.microsoft.com/office/drawing/2014/main" id="{9080971B-01FE-65F6-2F08-F018E4D7B741}"/>
              </a:ext>
            </a:extLst>
          </p:cNvPr>
          <p:cNvSpPr/>
          <p:nvPr/>
        </p:nvSpPr>
        <p:spPr>
          <a:xfrm>
            <a:off x="525932" y="1433398"/>
            <a:ext cx="3549679"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AC1A12A5-881E-7853-CB97-4976FA286D7C}"/>
              </a:ext>
            </a:extLst>
          </p:cNvPr>
          <p:cNvSpPr txBox="1">
            <a:spLocks/>
          </p:cNvSpPr>
          <p:nvPr/>
        </p:nvSpPr>
        <p:spPr>
          <a:xfrm>
            <a:off x="604929" y="1129380"/>
            <a:ext cx="7704000"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it-IT" sz="3200" dirty="0">
                <a:solidFill>
                  <a:srgbClr val="193C6A"/>
                </a:solidFill>
                <a:latin typeface="Poppins Black" panose="00000A00000000000000" pitchFamily="2" charset="0"/>
                <a:cs typeface="Poppins Black" panose="00000A00000000000000" pitchFamily="2" charset="0"/>
              </a:rPr>
              <a:t>Prototype HES</a:t>
            </a:r>
          </a:p>
        </p:txBody>
      </p:sp>
      <p:sp>
        <p:nvSpPr>
          <p:cNvPr id="6" name="Text 23">
            <a:extLst>
              <a:ext uri="{FF2B5EF4-FFF2-40B4-BE49-F238E27FC236}">
                <a16:creationId xmlns:a16="http://schemas.microsoft.com/office/drawing/2014/main" id="{3432DFD5-E6C8-5371-3AFF-55BF48D022B2}"/>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7" name="TextBox 26">
            <a:extLst>
              <a:ext uri="{FF2B5EF4-FFF2-40B4-BE49-F238E27FC236}">
                <a16:creationId xmlns:a16="http://schemas.microsoft.com/office/drawing/2014/main" id="{CA7D333B-CF7A-0319-41E4-6F508EB03CBA}"/>
              </a:ext>
            </a:extLst>
          </p:cNvPr>
          <p:cNvSpPr txBox="1"/>
          <p:nvPr/>
        </p:nvSpPr>
        <p:spPr>
          <a:xfrm>
            <a:off x="491185" y="2614961"/>
            <a:ext cx="6104708" cy="2677656"/>
          </a:xfrm>
          <a:prstGeom prst="rect">
            <a:avLst/>
          </a:prstGeom>
          <a:noFill/>
        </p:spPr>
        <p:txBody>
          <a:bodyPr wrap="square">
            <a:spAutoFit/>
          </a:bodyPr>
          <a:lstStyle/>
          <a:p>
            <a:pPr marL="285750" indent="-285750">
              <a:buFont typeface="Arial" panose="020B0604020202020204" pitchFamily="34" charset="0"/>
              <a:buChar char="•"/>
            </a:pPr>
            <a:r>
              <a:rPr lang="en-US" sz="1400" dirty="0">
                <a:latin typeface="Poppins" panose="00000500000000000000" pitchFamily="2" charset="0"/>
                <a:cs typeface="Poppins" panose="00000500000000000000" pitchFamily="2" charset="0"/>
              </a:rPr>
              <a:t>Developed by </a:t>
            </a:r>
            <a:r>
              <a:rPr lang="en-US" sz="1400" b="1" dirty="0" err="1">
                <a:latin typeface="Poppins" panose="00000500000000000000" pitchFamily="2" charset="0"/>
                <a:cs typeface="Poppins" panose="00000500000000000000" pitchFamily="2" charset="0"/>
              </a:rPr>
              <a:t>Humanware</a:t>
            </a:r>
            <a:r>
              <a:rPr lang="en-US" sz="1400" b="1" dirty="0">
                <a:latin typeface="Poppins" panose="00000500000000000000" pitchFamily="2" charset="0"/>
                <a:cs typeface="Poppins" panose="00000500000000000000" pitchFamily="2" charset="0"/>
              </a:rPr>
              <a:t> </a:t>
            </a:r>
            <a:r>
              <a:rPr lang="en-US" sz="1400" b="1" dirty="0" err="1">
                <a:latin typeface="Poppins" panose="00000500000000000000" pitchFamily="2" charset="0"/>
                <a:cs typeface="Poppins" panose="00000500000000000000" pitchFamily="2" charset="0"/>
              </a:rPr>
              <a:t>S.r.l</a:t>
            </a:r>
            <a:r>
              <a:rPr lang="en-US" sz="1400" b="1" dirty="0">
                <a:latin typeface="Poppins" panose="00000500000000000000" pitchFamily="2" charset="0"/>
                <a:cs typeface="Poppins" panose="00000500000000000000" pitchFamily="2" charset="0"/>
              </a:rPr>
              <a:t>.</a:t>
            </a:r>
            <a:r>
              <a:rPr lang="en-US" sz="1400" dirty="0">
                <a:latin typeface="Poppins" panose="00000500000000000000" pitchFamily="2" charset="0"/>
                <a:cs typeface="Poppins" panose="00000500000000000000" pitchFamily="2" charset="0"/>
              </a:rPr>
              <a:t> (Pisa) in collaboration with the </a:t>
            </a:r>
            <a:r>
              <a:rPr lang="en-US" sz="1400" b="1" dirty="0">
                <a:latin typeface="Poppins" panose="00000500000000000000" pitchFamily="2" charset="0"/>
                <a:cs typeface="Poppins" panose="00000500000000000000" pitchFamily="2" charset="0"/>
              </a:rPr>
              <a:t>MDM Lab</a:t>
            </a:r>
            <a:r>
              <a:rPr lang="en-US" sz="1400" dirty="0">
                <a:latin typeface="Poppins" panose="00000500000000000000" pitchFamily="2" charset="0"/>
                <a:cs typeface="Poppins" panose="00000500000000000000" pitchFamily="2" charset="0"/>
              </a:rPr>
              <a:t> at the </a:t>
            </a:r>
            <a:r>
              <a:rPr lang="en-US" sz="1400" b="1" dirty="0">
                <a:latin typeface="Poppins" panose="00000500000000000000" pitchFamily="2" charset="0"/>
                <a:cs typeface="Poppins" panose="00000500000000000000" pitchFamily="2" charset="0"/>
              </a:rPr>
              <a:t>University of Florence </a:t>
            </a:r>
          </a:p>
          <a:p>
            <a:pPr marL="285750" indent="-285750">
              <a:buFont typeface="Arial" panose="020B0604020202020204" pitchFamily="34" charset="0"/>
              <a:buChar char="•"/>
            </a:pPr>
            <a:r>
              <a:rPr lang="en-US" sz="1400" dirty="0">
                <a:latin typeface="Poppins" panose="00000500000000000000" pitchFamily="2" charset="0"/>
                <a:cs typeface="Poppins" panose="00000500000000000000" pitchFamily="2" charset="0"/>
              </a:rPr>
              <a:t>Realized within the </a:t>
            </a:r>
            <a:r>
              <a:rPr lang="en-US" sz="1400" b="1" dirty="0">
                <a:latin typeface="Poppins" panose="00000500000000000000" pitchFamily="2" charset="0"/>
                <a:cs typeface="Poppins" panose="00000500000000000000" pitchFamily="2" charset="0"/>
              </a:rPr>
              <a:t>BMIFOCUS</a:t>
            </a:r>
            <a:r>
              <a:rPr lang="en-US" sz="1400" dirty="0">
                <a:latin typeface="Poppins" panose="00000500000000000000" pitchFamily="2" charset="0"/>
                <a:cs typeface="Poppins" panose="00000500000000000000" pitchFamily="2" charset="0"/>
              </a:rPr>
              <a:t> research project, funded by the </a:t>
            </a:r>
            <a:r>
              <a:rPr lang="en-US" sz="1400" b="1" dirty="0">
                <a:latin typeface="Poppins" panose="00000500000000000000" pitchFamily="2" charset="0"/>
                <a:cs typeface="Poppins" panose="00000500000000000000" pitchFamily="2" charset="0"/>
              </a:rPr>
              <a:t>Tuscany Region</a:t>
            </a:r>
          </a:p>
          <a:p>
            <a:pPr marL="285750" indent="-285750">
              <a:buFont typeface="Arial" panose="020B0604020202020204" pitchFamily="34" charset="0"/>
              <a:buChar char="•"/>
            </a:pPr>
            <a:r>
              <a:rPr lang="en-US" sz="1400" dirty="0">
                <a:latin typeface="Poppins" panose="00000500000000000000" pitchFamily="2" charset="0"/>
                <a:cs typeface="Poppins" panose="00000500000000000000" pitchFamily="2" charset="0"/>
              </a:rPr>
              <a:t>Designed for </a:t>
            </a:r>
            <a:r>
              <a:rPr lang="en-US" sz="1400" b="1" dirty="0">
                <a:latin typeface="Poppins" panose="00000500000000000000" pitchFamily="2" charset="0"/>
                <a:cs typeface="Poppins" panose="00000500000000000000" pitchFamily="2" charset="0"/>
              </a:rPr>
              <a:t>Assistance-As-Needed (AAN) hand rehabilitation</a:t>
            </a:r>
            <a:r>
              <a:rPr lang="en-US" sz="1400" dirty="0">
                <a:latin typeface="Poppins" panose="00000500000000000000" pitchFamily="2" charset="0"/>
                <a:cs typeface="Poppins" panose="00000500000000000000" pitchFamily="2" charset="0"/>
              </a:rPr>
              <a:t>, targeting patients recovering after neurological injury or surgery</a:t>
            </a:r>
          </a:p>
          <a:p>
            <a:pPr marL="285750" indent="-285750">
              <a:buFont typeface="Arial" panose="020B0604020202020204" pitchFamily="34" charset="0"/>
              <a:buChar char="•"/>
            </a:pPr>
            <a:r>
              <a:rPr lang="en-US" sz="1400" dirty="0">
                <a:latin typeface="Poppins" panose="00000500000000000000" pitchFamily="2" charset="0"/>
                <a:cs typeface="Poppins" panose="00000500000000000000" pitchFamily="2" charset="0"/>
              </a:rPr>
              <a:t>Supports independent actuation of </a:t>
            </a:r>
            <a:r>
              <a:rPr lang="en-US" sz="1400" b="1" dirty="0">
                <a:latin typeface="Poppins" panose="00000500000000000000" pitchFamily="2" charset="0"/>
                <a:cs typeface="Poppins" panose="00000500000000000000" pitchFamily="2" charset="0"/>
              </a:rPr>
              <a:t>three fingers</a:t>
            </a:r>
            <a:r>
              <a:rPr lang="en-US" sz="1400" dirty="0">
                <a:latin typeface="Poppins" panose="00000500000000000000" pitchFamily="2" charset="0"/>
                <a:cs typeface="Poppins" panose="00000500000000000000" pitchFamily="2" charset="0"/>
              </a:rPr>
              <a:t>: thumb, index, and middle</a:t>
            </a:r>
          </a:p>
          <a:p>
            <a:pPr marL="285750" indent="-285750">
              <a:buFont typeface="Arial" panose="020B0604020202020204" pitchFamily="34" charset="0"/>
              <a:buChar char="•"/>
            </a:pPr>
            <a:r>
              <a:rPr lang="en-US" sz="1400" dirty="0">
                <a:latin typeface="Poppins" panose="00000500000000000000" pitchFamily="2" charset="0"/>
                <a:cs typeface="Poppins" panose="00000500000000000000" pitchFamily="2" charset="0"/>
              </a:rPr>
              <a:t>Designed to be </a:t>
            </a:r>
            <a:r>
              <a:rPr lang="en-US" sz="1400" b="1" dirty="0">
                <a:latin typeface="Poppins" panose="00000500000000000000" pitchFamily="2" charset="0"/>
                <a:cs typeface="Poppins" panose="00000500000000000000" pitchFamily="2" charset="0"/>
              </a:rPr>
              <a:t>lightweight</a:t>
            </a:r>
            <a:r>
              <a:rPr lang="en-US" sz="1400" dirty="0">
                <a:latin typeface="Poppins" panose="00000500000000000000" pitchFamily="2" charset="0"/>
                <a:cs typeface="Poppins" panose="00000500000000000000" pitchFamily="2" charset="0"/>
              </a:rPr>
              <a:t> (&lt; 0.5 kg wearable part), </a:t>
            </a:r>
            <a:r>
              <a:rPr lang="en-US" sz="1400" b="1" dirty="0">
                <a:latin typeface="Poppins" panose="00000500000000000000" pitchFamily="2" charset="0"/>
                <a:cs typeface="Poppins" panose="00000500000000000000" pitchFamily="2" charset="0"/>
              </a:rPr>
              <a:t>adaptable</a:t>
            </a:r>
            <a:r>
              <a:rPr lang="en-US" sz="1400" dirty="0">
                <a:latin typeface="Poppins" panose="00000500000000000000" pitchFamily="2" charset="0"/>
                <a:cs typeface="Poppins" panose="00000500000000000000" pitchFamily="2" charset="0"/>
              </a:rPr>
              <a:t> to different hand sizes, and </a:t>
            </a:r>
            <a:r>
              <a:rPr lang="en-US" sz="1400" b="1" dirty="0">
                <a:latin typeface="Poppins" panose="00000500000000000000" pitchFamily="2" charset="0"/>
                <a:cs typeface="Poppins" panose="00000500000000000000" pitchFamily="2" charset="0"/>
              </a:rPr>
              <a:t>safe</a:t>
            </a:r>
            <a:r>
              <a:rPr lang="en-US" sz="1400" dirty="0">
                <a:latin typeface="Poppins" panose="00000500000000000000" pitchFamily="2" charset="0"/>
                <a:cs typeface="Poppins" panose="00000500000000000000" pitchFamily="2" charset="0"/>
              </a:rPr>
              <a:t> for direct human interaction</a:t>
            </a:r>
            <a:endParaRPr lang="it-IT" sz="1400" dirty="0">
              <a:latin typeface="Poppins" panose="00000500000000000000" pitchFamily="2" charset="0"/>
              <a:cs typeface="Poppins" panose="00000500000000000000" pitchFamily="2" charset="0"/>
            </a:endParaRPr>
          </a:p>
        </p:txBody>
      </p:sp>
      <p:pic>
        <p:nvPicPr>
          <p:cNvPr id="29" name="Picture 28">
            <a:extLst>
              <a:ext uri="{FF2B5EF4-FFF2-40B4-BE49-F238E27FC236}">
                <a16:creationId xmlns:a16="http://schemas.microsoft.com/office/drawing/2014/main" id="{7B82C34D-2C33-6952-0D71-7DF7B8FDABF9}"/>
              </a:ext>
            </a:extLst>
          </p:cNvPr>
          <p:cNvPicPr>
            <a:picLocks noChangeAspect="1"/>
          </p:cNvPicPr>
          <p:nvPr/>
        </p:nvPicPr>
        <p:blipFill>
          <a:blip r:embed="rId7"/>
          <a:stretch>
            <a:fillRect/>
          </a:stretch>
        </p:blipFill>
        <p:spPr>
          <a:xfrm>
            <a:off x="7146693" y="2170645"/>
            <a:ext cx="4491794" cy="3399370"/>
          </a:xfrm>
          <a:prstGeom prst="rect">
            <a:avLst/>
          </a:prstGeom>
        </p:spPr>
      </p:pic>
    </p:spTree>
    <p:extLst>
      <p:ext uri="{BB962C8B-B14F-4D97-AF65-F5344CB8AC3E}">
        <p14:creationId xmlns:p14="http://schemas.microsoft.com/office/powerpoint/2010/main" val="2929892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33DCC-9C56-533B-A814-F728414061B8}"/>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D315F35D-9461-F39F-AD20-A1B50ED3276E}"/>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49842923-B3E4-9C6B-CEC4-5CA6A1FC8F21}"/>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663401D4-9104-5BAC-8FCB-1F984A1014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AB7D5C38-DFEB-FF8A-4D51-548BC1485D18}"/>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AB7D5C38-DFEB-FF8A-4D51-548BC1485D18}"/>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249F3C2D-853A-DE6C-3A44-5034EE37EC1B}"/>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249F3C2D-853A-DE6C-3A44-5034EE37EC1B}"/>
                  </a:ext>
                </a:extLst>
              </p:cNvPr>
              <p:cNvPicPr/>
              <p:nvPr/>
            </p:nvPicPr>
            <p:blipFill>
              <a:blip r:embed="rId6"/>
              <a:stretch>
                <a:fillRect/>
              </a:stretch>
            </p:blipFill>
            <p:spPr>
              <a:xfrm>
                <a:off x="5259213" y="963076"/>
                <a:ext cx="1950120" cy="35156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1C2AA1A8-48F2-7E24-1922-F12DB000C7CF}"/>
                  </a:ext>
                </a:extLst>
              </p14:cNvPr>
              <p14:cNvContentPartPr/>
              <p14:nvPr/>
            </p14:nvContentPartPr>
            <p14:xfrm>
              <a:off x="201854" y="2717409"/>
              <a:ext cx="360" cy="360"/>
            </p14:xfrm>
          </p:contentPart>
        </mc:Choice>
        <mc:Fallback xmlns="">
          <p:pic>
            <p:nvPicPr>
              <p:cNvPr id="13" name="Ink 12">
                <a:extLst>
                  <a:ext uri="{FF2B5EF4-FFF2-40B4-BE49-F238E27FC236}">
                    <a16:creationId xmlns:a16="http://schemas.microsoft.com/office/drawing/2014/main" id="{1C2AA1A8-48F2-7E24-1922-F12DB000C7CF}"/>
                  </a:ext>
                </a:extLst>
              </p:cNvPr>
              <p:cNvPicPr/>
              <p:nvPr/>
            </p:nvPicPr>
            <p:blipFill>
              <a:blip r:embed="rId8"/>
              <a:stretch>
                <a:fillRect/>
              </a:stretch>
            </p:blipFill>
            <p:spPr>
              <a:xfrm>
                <a:off x="138854" y="2654409"/>
                <a:ext cx="126000" cy="126000"/>
              </a:xfrm>
              <a:prstGeom prst="rect">
                <a:avLst/>
              </a:prstGeom>
            </p:spPr>
          </p:pic>
        </mc:Fallback>
      </mc:AlternateContent>
      <p:sp>
        <p:nvSpPr>
          <p:cNvPr id="14" name="Google Shape;259;p29">
            <a:extLst>
              <a:ext uri="{FF2B5EF4-FFF2-40B4-BE49-F238E27FC236}">
                <a16:creationId xmlns:a16="http://schemas.microsoft.com/office/drawing/2014/main" id="{DE5D6EA8-F2B3-68BE-CC08-BD3F9CDDBD17}"/>
              </a:ext>
            </a:extLst>
          </p:cNvPr>
          <p:cNvSpPr/>
          <p:nvPr/>
        </p:nvSpPr>
        <p:spPr>
          <a:xfrm>
            <a:off x="525932" y="1433398"/>
            <a:ext cx="8626872"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03E3AB9E-DD82-4E41-1715-8333A809021E}"/>
              </a:ext>
            </a:extLst>
          </p:cNvPr>
          <p:cNvSpPr txBox="1">
            <a:spLocks/>
          </p:cNvSpPr>
          <p:nvPr/>
        </p:nvSpPr>
        <p:spPr>
          <a:xfrm>
            <a:off x="604929" y="1129380"/>
            <a:ext cx="9645976"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193C6A"/>
                </a:solidFill>
                <a:latin typeface="Poppins Black" panose="00000A00000000000000" pitchFamily="2" charset="0"/>
                <a:ea typeface="Cambria" pitchFamily="34" charset="-122"/>
                <a:cs typeface="Poppins Black" panose="00000A00000000000000" pitchFamily="2" charset="0"/>
              </a:rPr>
              <a:t>Objectives and Development Pipeline</a:t>
            </a:r>
            <a:endParaRPr lang="en-US" sz="3200" dirty="0">
              <a:solidFill>
                <a:srgbClr val="193C6A"/>
              </a:solidFill>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974355DD-4F7F-4E0A-6D83-8E9F4D83CB6E}"/>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Shape 3">
            <a:extLst>
              <a:ext uri="{FF2B5EF4-FFF2-40B4-BE49-F238E27FC236}">
                <a16:creationId xmlns:a16="http://schemas.microsoft.com/office/drawing/2014/main" id="{05BE8E05-66CC-27B2-1789-AE9C6755367F}"/>
              </a:ext>
            </a:extLst>
          </p:cNvPr>
          <p:cNvSpPr/>
          <p:nvPr/>
        </p:nvSpPr>
        <p:spPr>
          <a:xfrm>
            <a:off x="234909" y="2071870"/>
            <a:ext cx="1783080" cy="237744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4" name="Shape 4">
            <a:extLst>
              <a:ext uri="{FF2B5EF4-FFF2-40B4-BE49-F238E27FC236}">
                <a16:creationId xmlns:a16="http://schemas.microsoft.com/office/drawing/2014/main" id="{DEAC2293-A3E4-DF2F-A2E3-CD734BF4038B}"/>
              </a:ext>
            </a:extLst>
          </p:cNvPr>
          <p:cNvSpPr/>
          <p:nvPr/>
        </p:nvSpPr>
        <p:spPr>
          <a:xfrm>
            <a:off x="234909" y="2071870"/>
            <a:ext cx="1783080" cy="91440"/>
          </a:xfrm>
          <a:prstGeom prst="rect">
            <a:avLst/>
          </a:prstGeom>
          <a:solidFill>
            <a:schemeClr val="accent6">
              <a:lumMod val="75000"/>
            </a:schemeClr>
          </a:solidFill>
          <a:ln w="12700">
            <a:noFill/>
            <a:prstDash val="solid"/>
          </a:ln>
        </p:spPr>
        <p:txBody>
          <a:bodyPr/>
          <a:lstStyle/>
          <a:p>
            <a:endParaRPr lang="it-IT" dirty="0"/>
          </a:p>
        </p:txBody>
      </p:sp>
      <p:sp>
        <p:nvSpPr>
          <p:cNvPr id="19" name="Text 5">
            <a:extLst>
              <a:ext uri="{FF2B5EF4-FFF2-40B4-BE49-F238E27FC236}">
                <a16:creationId xmlns:a16="http://schemas.microsoft.com/office/drawing/2014/main" id="{D28C5906-2A45-ECC3-514F-DABD9A3C6170}"/>
              </a:ext>
            </a:extLst>
          </p:cNvPr>
          <p:cNvSpPr/>
          <p:nvPr/>
        </p:nvSpPr>
        <p:spPr>
          <a:xfrm>
            <a:off x="326349" y="2254750"/>
            <a:ext cx="1600200" cy="320040"/>
          </a:xfrm>
          <a:prstGeom prst="rect">
            <a:avLst/>
          </a:prstGeom>
          <a:noFill/>
          <a:ln/>
        </p:spPr>
        <p:txBody>
          <a:bodyPr wrap="square" lIns="0" tIns="0" rIns="0" bIns="0" rtlCol="0" anchor="ctr"/>
          <a:lstStyle/>
          <a:p>
            <a:pPr marL="0" indent="0">
              <a:buNone/>
            </a:pPr>
            <a:r>
              <a:rPr lang="en-US" sz="1400" b="1"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rPr>
              <a:t>01</a:t>
            </a:r>
            <a:endParaRPr lang="en-US" sz="1400"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endParaRPr>
          </a:p>
        </p:txBody>
      </p:sp>
      <p:pic>
        <p:nvPicPr>
          <p:cNvPr id="20" name="Image 0" descr="preencoded.png">
            <a:extLst>
              <a:ext uri="{FF2B5EF4-FFF2-40B4-BE49-F238E27FC236}">
                <a16:creationId xmlns:a16="http://schemas.microsoft.com/office/drawing/2014/main" id="{361C17E4-0B8C-F274-C155-2063ACD3EB72}"/>
              </a:ext>
            </a:extLst>
          </p:cNvPr>
          <p:cNvPicPr>
            <a:picLocks noChangeAspect="1"/>
          </p:cNvPicPr>
          <p:nvPr/>
        </p:nvPicPr>
        <p:blipFill>
          <a:blip r:embed="rId9"/>
          <a:stretch>
            <a:fillRect/>
          </a:stretch>
        </p:blipFill>
        <p:spPr>
          <a:xfrm>
            <a:off x="760689" y="2620510"/>
            <a:ext cx="731520" cy="731520"/>
          </a:xfrm>
          <a:prstGeom prst="rect">
            <a:avLst/>
          </a:prstGeom>
        </p:spPr>
      </p:pic>
      <p:sp>
        <p:nvSpPr>
          <p:cNvPr id="21" name="Text 6">
            <a:extLst>
              <a:ext uri="{FF2B5EF4-FFF2-40B4-BE49-F238E27FC236}">
                <a16:creationId xmlns:a16="http://schemas.microsoft.com/office/drawing/2014/main" id="{F5CBDDBD-B0B1-CAEE-E663-FDA55C042873}"/>
              </a:ext>
            </a:extLst>
          </p:cNvPr>
          <p:cNvSpPr/>
          <p:nvPr/>
        </p:nvSpPr>
        <p:spPr>
          <a:xfrm>
            <a:off x="234909" y="3443470"/>
            <a:ext cx="1783080" cy="548640"/>
          </a:xfrm>
          <a:prstGeom prst="rect">
            <a:avLst/>
          </a:prstGeom>
          <a:noFill/>
          <a:ln/>
        </p:spPr>
        <p:txBody>
          <a:bodyPr wrap="square" lIns="0" tIns="0" rIns="0" bIns="0" rtlCol="0" anchor="ctr"/>
          <a:lstStyle/>
          <a:p>
            <a:pPr marL="0" indent="0" algn="ctr">
              <a:buNone/>
            </a:pPr>
            <a:r>
              <a:rPr lang="en-US" sz="1300" b="1" dirty="0">
                <a:solidFill>
                  <a:srgbClr val="0A2540"/>
                </a:solidFill>
                <a:latin typeface="Poppins" panose="00000500000000000000" pitchFamily="2" charset="0"/>
                <a:ea typeface="Cambria" pitchFamily="34" charset="-122"/>
                <a:cs typeface="Poppins" panose="00000500000000000000" pitchFamily="2" charset="0"/>
              </a:rPr>
              <a:t>Mechanical</a:t>
            </a:r>
            <a:endParaRPr lang="en-US" sz="1300" b="1" dirty="0">
              <a:latin typeface="Poppins" panose="00000500000000000000" pitchFamily="2" charset="0"/>
              <a:cs typeface="Poppins" panose="00000500000000000000" pitchFamily="2" charset="0"/>
            </a:endParaRPr>
          </a:p>
          <a:p>
            <a:pPr marL="0" indent="0" algn="ctr">
              <a:buNone/>
            </a:pPr>
            <a:r>
              <a:rPr lang="en-US" sz="1300" b="1" dirty="0">
                <a:solidFill>
                  <a:srgbClr val="0A2540"/>
                </a:solidFill>
                <a:latin typeface="Poppins" panose="00000500000000000000" pitchFamily="2" charset="0"/>
                <a:ea typeface="Cambria" pitchFamily="34" charset="-122"/>
                <a:cs typeface="Poppins" panose="00000500000000000000" pitchFamily="2" charset="0"/>
              </a:rPr>
              <a:t>Design</a:t>
            </a:r>
            <a:endParaRPr lang="en-US" sz="1300" b="1" dirty="0">
              <a:latin typeface="Poppins" panose="00000500000000000000" pitchFamily="2" charset="0"/>
              <a:cs typeface="Poppins" panose="00000500000000000000" pitchFamily="2" charset="0"/>
            </a:endParaRPr>
          </a:p>
        </p:txBody>
      </p:sp>
      <p:sp>
        <p:nvSpPr>
          <p:cNvPr id="22" name="Text 7">
            <a:extLst>
              <a:ext uri="{FF2B5EF4-FFF2-40B4-BE49-F238E27FC236}">
                <a16:creationId xmlns:a16="http://schemas.microsoft.com/office/drawing/2014/main" id="{8DF7E2CF-9E6D-F61E-904C-C03B3519069E}"/>
              </a:ext>
            </a:extLst>
          </p:cNvPr>
          <p:cNvSpPr/>
          <p:nvPr/>
        </p:nvSpPr>
        <p:spPr>
          <a:xfrm>
            <a:off x="234909" y="3992110"/>
            <a:ext cx="1783080" cy="411480"/>
          </a:xfrm>
          <a:prstGeom prst="rect">
            <a:avLst/>
          </a:prstGeom>
          <a:noFill/>
          <a:ln/>
        </p:spPr>
        <p:txBody>
          <a:bodyPr wrap="square" lIns="0" tIns="0" rIns="0" bIns="0" rtlCol="0" anchor="ctr"/>
          <a:lstStyle/>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CAD + URDF</a:t>
            </a:r>
            <a:endParaRPr lang="en-US" sz="1000" dirty="0">
              <a:latin typeface="Poppins" panose="00000500000000000000" pitchFamily="2" charset="0"/>
              <a:cs typeface="Poppins" panose="00000500000000000000" pitchFamily="2" charset="0"/>
            </a:endParaRPr>
          </a:p>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closed chains</a:t>
            </a:r>
            <a:endParaRPr lang="en-US" sz="1000" dirty="0">
              <a:latin typeface="Poppins" panose="00000500000000000000" pitchFamily="2" charset="0"/>
              <a:cs typeface="Poppins" panose="00000500000000000000" pitchFamily="2" charset="0"/>
            </a:endParaRPr>
          </a:p>
        </p:txBody>
      </p:sp>
      <p:pic>
        <p:nvPicPr>
          <p:cNvPr id="23" name="Image 1" descr="preencoded.png">
            <a:extLst>
              <a:ext uri="{FF2B5EF4-FFF2-40B4-BE49-F238E27FC236}">
                <a16:creationId xmlns:a16="http://schemas.microsoft.com/office/drawing/2014/main" id="{EDDB80F6-7ED6-28CC-20E2-9D27303AA7C9}"/>
              </a:ext>
            </a:extLst>
          </p:cNvPr>
          <p:cNvPicPr>
            <a:picLocks noChangeAspect="1"/>
          </p:cNvPicPr>
          <p:nvPr/>
        </p:nvPicPr>
        <p:blipFill>
          <a:blip r:embed="rId10"/>
          <a:stretch>
            <a:fillRect/>
          </a:stretch>
        </p:blipFill>
        <p:spPr>
          <a:xfrm>
            <a:off x="2033991" y="3150862"/>
            <a:ext cx="164592" cy="164592"/>
          </a:xfrm>
          <a:prstGeom prst="rect">
            <a:avLst/>
          </a:prstGeom>
        </p:spPr>
      </p:pic>
      <p:sp>
        <p:nvSpPr>
          <p:cNvPr id="24" name="Shape 8">
            <a:extLst>
              <a:ext uri="{FF2B5EF4-FFF2-40B4-BE49-F238E27FC236}">
                <a16:creationId xmlns:a16="http://schemas.microsoft.com/office/drawing/2014/main" id="{BB7A7BC0-BEF7-6634-7939-672716278A3A}"/>
              </a:ext>
            </a:extLst>
          </p:cNvPr>
          <p:cNvSpPr/>
          <p:nvPr/>
        </p:nvSpPr>
        <p:spPr>
          <a:xfrm>
            <a:off x="2214585" y="2067369"/>
            <a:ext cx="1783080" cy="237744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25" name="Shape 9">
            <a:extLst>
              <a:ext uri="{FF2B5EF4-FFF2-40B4-BE49-F238E27FC236}">
                <a16:creationId xmlns:a16="http://schemas.microsoft.com/office/drawing/2014/main" id="{17F4F436-0B96-8946-393B-2102CB0A69AF}"/>
              </a:ext>
            </a:extLst>
          </p:cNvPr>
          <p:cNvSpPr/>
          <p:nvPr/>
        </p:nvSpPr>
        <p:spPr>
          <a:xfrm>
            <a:off x="2214585" y="2067369"/>
            <a:ext cx="1783080" cy="91440"/>
          </a:xfrm>
          <a:prstGeom prst="rect">
            <a:avLst/>
          </a:prstGeom>
          <a:solidFill>
            <a:schemeClr val="accent6">
              <a:lumMod val="75000"/>
            </a:schemeClr>
          </a:solidFill>
          <a:ln w="12700">
            <a:noFill/>
            <a:prstDash val="solid"/>
          </a:ln>
        </p:spPr>
        <p:txBody>
          <a:bodyPr/>
          <a:lstStyle/>
          <a:p>
            <a:endParaRPr lang="it-IT"/>
          </a:p>
        </p:txBody>
      </p:sp>
      <p:sp>
        <p:nvSpPr>
          <p:cNvPr id="26" name="Text 10">
            <a:extLst>
              <a:ext uri="{FF2B5EF4-FFF2-40B4-BE49-F238E27FC236}">
                <a16:creationId xmlns:a16="http://schemas.microsoft.com/office/drawing/2014/main" id="{7589AE07-972D-93F5-0697-304967DED754}"/>
              </a:ext>
            </a:extLst>
          </p:cNvPr>
          <p:cNvSpPr/>
          <p:nvPr/>
        </p:nvSpPr>
        <p:spPr>
          <a:xfrm>
            <a:off x="2306025" y="2250249"/>
            <a:ext cx="1600200" cy="320040"/>
          </a:xfrm>
          <a:prstGeom prst="rect">
            <a:avLst/>
          </a:prstGeom>
          <a:noFill/>
          <a:ln/>
        </p:spPr>
        <p:txBody>
          <a:bodyPr wrap="square" lIns="0" tIns="0" rIns="0" bIns="0" rtlCol="0" anchor="ctr"/>
          <a:lstStyle/>
          <a:p>
            <a:pPr marL="0" indent="0">
              <a:buNone/>
            </a:pPr>
            <a:r>
              <a:rPr lang="en-US" sz="1400" b="1"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rPr>
              <a:t>02</a:t>
            </a:r>
            <a:endParaRPr lang="en-US" sz="1400"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endParaRPr>
          </a:p>
        </p:txBody>
      </p:sp>
      <p:pic>
        <p:nvPicPr>
          <p:cNvPr id="27" name="Image 2" descr="preencoded.png">
            <a:extLst>
              <a:ext uri="{FF2B5EF4-FFF2-40B4-BE49-F238E27FC236}">
                <a16:creationId xmlns:a16="http://schemas.microsoft.com/office/drawing/2014/main" id="{2E881C5A-F990-AB7A-4503-E32F219D118B}"/>
              </a:ext>
            </a:extLst>
          </p:cNvPr>
          <p:cNvPicPr>
            <a:picLocks noChangeAspect="1"/>
          </p:cNvPicPr>
          <p:nvPr/>
        </p:nvPicPr>
        <p:blipFill>
          <a:blip r:embed="rId11"/>
          <a:stretch>
            <a:fillRect/>
          </a:stretch>
        </p:blipFill>
        <p:spPr>
          <a:xfrm>
            <a:off x="2740365" y="2616009"/>
            <a:ext cx="731520" cy="731520"/>
          </a:xfrm>
          <a:prstGeom prst="rect">
            <a:avLst/>
          </a:prstGeom>
        </p:spPr>
      </p:pic>
      <p:sp>
        <p:nvSpPr>
          <p:cNvPr id="28" name="Text 11">
            <a:extLst>
              <a:ext uri="{FF2B5EF4-FFF2-40B4-BE49-F238E27FC236}">
                <a16:creationId xmlns:a16="http://schemas.microsoft.com/office/drawing/2014/main" id="{67AAABFA-1C1C-5881-1253-18B9BF01D688}"/>
              </a:ext>
            </a:extLst>
          </p:cNvPr>
          <p:cNvSpPr/>
          <p:nvPr/>
        </p:nvSpPr>
        <p:spPr>
          <a:xfrm>
            <a:off x="2214585" y="3438969"/>
            <a:ext cx="1783080" cy="548640"/>
          </a:xfrm>
          <a:prstGeom prst="rect">
            <a:avLst/>
          </a:prstGeom>
          <a:noFill/>
          <a:ln/>
        </p:spPr>
        <p:txBody>
          <a:bodyPr wrap="square" lIns="0" tIns="0" rIns="0" bIns="0" rtlCol="0" anchor="ctr"/>
          <a:lstStyle/>
          <a:p>
            <a:pPr marL="0" indent="0" algn="ctr">
              <a:buNone/>
            </a:pPr>
            <a:r>
              <a:rPr lang="en-US" sz="1300" b="1" dirty="0">
                <a:solidFill>
                  <a:srgbClr val="0A2540"/>
                </a:solidFill>
                <a:latin typeface="Poppins" panose="00000500000000000000" pitchFamily="2" charset="0"/>
                <a:ea typeface="Cambria" pitchFamily="34" charset="-122"/>
                <a:cs typeface="Poppins" panose="00000500000000000000" pitchFamily="2" charset="0"/>
              </a:rPr>
              <a:t>Kinematics &amp;</a:t>
            </a:r>
            <a:endParaRPr lang="en-US" sz="1300" b="1" dirty="0">
              <a:latin typeface="Poppins" panose="00000500000000000000" pitchFamily="2" charset="0"/>
              <a:cs typeface="Poppins" panose="00000500000000000000" pitchFamily="2" charset="0"/>
            </a:endParaRPr>
          </a:p>
          <a:p>
            <a:pPr marL="0" indent="0" algn="ctr">
              <a:buNone/>
            </a:pPr>
            <a:r>
              <a:rPr lang="en-US" sz="1300" b="1" dirty="0">
                <a:solidFill>
                  <a:srgbClr val="0A2540"/>
                </a:solidFill>
                <a:latin typeface="Poppins" panose="00000500000000000000" pitchFamily="2" charset="0"/>
                <a:ea typeface="Cambria" pitchFamily="34" charset="-122"/>
                <a:cs typeface="Poppins" panose="00000500000000000000" pitchFamily="2" charset="0"/>
              </a:rPr>
              <a:t>Dynamics</a:t>
            </a:r>
            <a:endParaRPr lang="en-US" sz="1300" b="1" dirty="0">
              <a:latin typeface="Poppins" panose="00000500000000000000" pitchFamily="2" charset="0"/>
              <a:cs typeface="Poppins" panose="00000500000000000000" pitchFamily="2" charset="0"/>
            </a:endParaRPr>
          </a:p>
        </p:txBody>
      </p:sp>
      <p:sp>
        <p:nvSpPr>
          <p:cNvPr id="29" name="Text 12">
            <a:extLst>
              <a:ext uri="{FF2B5EF4-FFF2-40B4-BE49-F238E27FC236}">
                <a16:creationId xmlns:a16="http://schemas.microsoft.com/office/drawing/2014/main" id="{954C14E4-D27D-F4CD-E532-9035D2C18AE0}"/>
              </a:ext>
            </a:extLst>
          </p:cNvPr>
          <p:cNvSpPr/>
          <p:nvPr/>
        </p:nvSpPr>
        <p:spPr>
          <a:xfrm>
            <a:off x="2214585" y="3987609"/>
            <a:ext cx="1783080" cy="411480"/>
          </a:xfrm>
          <a:prstGeom prst="rect">
            <a:avLst/>
          </a:prstGeom>
          <a:noFill/>
          <a:ln/>
        </p:spPr>
        <p:txBody>
          <a:bodyPr wrap="square" lIns="0" tIns="0" rIns="0" bIns="0" rtlCol="0" anchor="ctr"/>
          <a:lstStyle/>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Constrained FK</a:t>
            </a:r>
            <a:endParaRPr lang="en-US" sz="1000" dirty="0">
              <a:latin typeface="Poppins" panose="00000500000000000000" pitchFamily="2" charset="0"/>
              <a:cs typeface="Poppins" panose="00000500000000000000" pitchFamily="2" charset="0"/>
            </a:endParaRPr>
          </a:p>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reduced-order</a:t>
            </a:r>
            <a:endParaRPr lang="en-US" sz="1000" dirty="0">
              <a:latin typeface="Poppins" panose="00000500000000000000" pitchFamily="2" charset="0"/>
              <a:cs typeface="Poppins" panose="00000500000000000000" pitchFamily="2" charset="0"/>
            </a:endParaRPr>
          </a:p>
        </p:txBody>
      </p:sp>
      <p:pic>
        <p:nvPicPr>
          <p:cNvPr id="30" name="Image 3" descr="preencoded.png">
            <a:extLst>
              <a:ext uri="{FF2B5EF4-FFF2-40B4-BE49-F238E27FC236}">
                <a16:creationId xmlns:a16="http://schemas.microsoft.com/office/drawing/2014/main" id="{392F2530-78A7-6DC2-2CF2-76BF9D006E71}"/>
              </a:ext>
            </a:extLst>
          </p:cNvPr>
          <p:cNvPicPr>
            <a:picLocks noChangeAspect="1"/>
          </p:cNvPicPr>
          <p:nvPr/>
        </p:nvPicPr>
        <p:blipFill>
          <a:blip r:embed="rId10"/>
          <a:stretch>
            <a:fillRect/>
          </a:stretch>
        </p:blipFill>
        <p:spPr>
          <a:xfrm>
            <a:off x="4019407" y="3150862"/>
            <a:ext cx="164592" cy="164592"/>
          </a:xfrm>
          <a:prstGeom prst="rect">
            <a:avLst/>
          </a:prstGeom>
        </p:spPr>
      </p:pic>
      <p:sp>
        <p:nvSpPr>
          <p:cNvPr id="31" name="Shape 13">
            <a:extLst>
              <a:ext uri="{FF2B5EF4-FFF2-40B4-BE49-F238E27FC236}">
                <a16:creationId xmlns:a16="http://schemas.microsoft.com/office/drawing/2014/main" id="{B5776ECF-2836-885F-83B4-A95786EB23C7}"/>
              </a:ext>
            </a:extLst>
          </p:cNvPr>
          <p:cNvSpPr/>
          <p:nvPr/>
        </p:nvSpPr>
        <p:spPr>
          <a:xfrm>
            <a:off x="4207151" y="2067369"/>
            <a:ext cx="1783080" cy="237744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32" name="Shape 14">
            <a:extLst>
              <a:ext uri="{FF2B5EF4-FFF2-40B4-BE49-F238E27FC236}">
                <a16:creationId xmlns:a16="http://schemas.microsoft.com/office/drawing/2014/main" id="{F7E94B95-F588-B3D9-B6AA-FA839B8F9B3F}"/>
              </a:ext>
            </a:extLst>
          </p:cNvPr>
          <p:cNvSpPr/>
          <p:nvPr/>
        </p:nvSpPr>
        <p:spPr>
          <a:xfrm>
            <a:off x="4207151" y="2067369"/>
            <a:ext cx="1783080" cy="91440"/>
          </a:xfrm>
          <a:prstGeom prst="rect">
            <a:avLst/>
          </a:prstGeom>
          <a:solidFill>
            <a:schemeClr val="accent6">
              <a:lumMod val="75000"/>
            </a:schemeClr>
          </a:solidFill>
          <a:ln w="12700">
            <a:noFill/>
            <a:prstDash val="solid"/>
          </a:ln>
        </p:spPr>
        <p:txBody>
          <a:bodyPr/>
          <a:lstStyle/>
          <a:p>
            <a:endParaRPr lang="it-IT"/>
          </a:p>
        </p:txBody>
      </p:sp>
      <p:sp>
        <p:nvSpPr>
          <p:cNvPr id="33" name="Text 15">
            <a:extLst>
              <a:ext uri="{FF2B5EF4-FFF2-40B4-BE49-F238E27FC236}">
                <a16:creationId xmlns:a16="http://schemas.microsoft.com/office/drawing/2014/main" id="{1A43F15C-6382-0370-F8F8-6F33B3488D7F}"/>
              </a:ext>
            </a:extLst>
          </p:cNvPr>
          <p:cNvSpPr/>
          <p:nvPr/>
        </p:nvSpPr>
        <p:spPr>
          <a:xfrm>
            <a:off x="4298591" y="2250249"/>
            <a:ext cx="1600200" cy="320040"/>
          </a:xfrm>
          <a:prstGeom prst="rect">
            <a:avLst/>
          </a:prstGeom>
          <a:noFill/>
          <a:ln/>
        </p:spPr>
        <p:txBody>
          <a:bodyPr wrap="square" lIns="0" tIns="0" rIns="0" bIns="0" rtlCol="0" anchor="ctr"/>
          <a:lstStyle/>
          <a:p>
            <a:pPr marL="0" indent="0">
              <a:buNone/>
            </a:pPr>
            <a:r>
              <a:rPr lang="en-US" sz="1400" b="1"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rPr>
              <a:t>03</a:t>
            </a:r>
            <a:endParaRPr lang="en-US" sz="1400"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endParaRPr>
          </a:p>
        </p:txBody>
      </p:sp>
      <p:pic>
        <p:nvPicPr>
          <p:cNvPr id="34" name="Image 4" descr="preencoded.png">
            <a:extLst>
              <a:ext uri="{FF2B5EF4-FFF2-40B4-BE49-F238E27FC236}">
                <a16:creationId xmlns:a16="http://schemas.microsoft.com/office/drawing/2014/main" id="{7151E717-7717-C4E2-D2D5-BE7937C52882}"/>
              </a:ext>
            </a:extLst>
          </p:cNvPr>
          <p:cNvPicPr>
            <a:picLocks noChangeAspect="1"/>
          </p:cNvPicPr>
          <p:nvPr/>
        </p:nvPicPr>
        <p:blipFill>
          <a:blip r:embed="rId12"/>
          <a:stretch>
            <a:fillRect/>
          </a:stretch>
        </p:blipFill>
        <p:spPr>
          <a:xfrm>
            <a:off x="4732931" y="2616009"/>
            <a:ext cx="731520" cy="731520"/>
          </a:xfrm>
          <a:prstGeom prst="rect">
            <a:avLst/>
          </a:prstGeom>
        </p:spPr>
      </p:pic>
      <p:sp>
        <p:nvSpPr>
          <p:cNvPr id="35" name="Text 16">
            <a:extLst>
              <a:ext uri="{FF2B5EF4-FFF2-40B4-BE49-F238E27FC236}">
                <a16:creationId xmlns:a16="http://schemas.microsoft.com/office/drawing/2014/main" id="{4D369338-AAF9-1BF6-8953-784F68981E87}"/>
              </a:ext>
            </a:extLst>
          </p:cNvPr>
          <p:cNvSpPr/>
          <p:nvPr/>
        </p:nvSpPr>
        <p:spPr>
          <a:xfrm>
            <a:off x="4207151" y="3438969"/>
            <a:ext cx="1783080" cy="548640"/>
          </a:xfrm>
          <a:prstGeom prst="rect">
            <a:avLst/>
          </a:prstGeom>
          <a:noFill/>
          <a:ln/>
        </p:spPr>
        <p:txBody>
          <a:bodyPr wrap="square" lIns="0" tIns="0" rIns="0" bIns="0" rtlCol="0" anchor="ctr"/>
          <a:lstStyle/>
          <a:p>
            <a:pPr marL="0" indent="0" algn="ctr">
              <a:buNone/>
            </a:pPr>
            <a:r>
              <a:rPr lang="en-US" sz="1300" b="1" dirty="0">
                <a:solidFill>
                  <a:srgbClr val="0A2540"/>
                </a:solidFill>
                <a:latin typeface="Poppins" panose="00000500000000000000" pitchFamily="2" charset="0"/>
                <a:ea typeface="Cambria" pitchFamily="34" charset="-122"/>
                <a:cs typeface="Poppins" panose="00000500000000000000" pitchFamily="2" charset="0"/>
              </a:rPr>
              <a:t>Compliant</a:t>
            </a:r>
            <a:endParaRPr lang="en-US" sz="1300" b="1" dirty="0">
              <a:latin typeface="Poppins" panose="00000500000000000000" pitchFamily="2" charset="0"/>
              <a:cs typeface="Poppins" panose="00000500000000000000" pitchFamily="2" charset="0"/>
            </a:endParaRPr>
          </a:p>
          <a:p>
            <a:pPr marL="0" indent="0" algn="ctr">
              <a:buNone/>
            </a:pPr>
            <a:r>
              <a:rPr lang="en-US" sz="1300" b="1" dirty="0">
                <a:solidFill>
                  <a:srgbClr val="0A2540"/>
                </a:solidFill>
                <a:latin typeface="Poppins" panose="00000500000000000000" pitchFamily="2" charset="0"/>
                <a:ea typeface="Cambria" pitchFamily="34" charset="-122"/>
                <a:cs typeface="Poppins" panose="00000500000000000000" pitchFamily="2" charset="0"/>
              </a:rPr>
              <a:t>Control</a:t>
            </a:r>
            <a:endParaRPr lang="en-US" sz="1300" b="1" dirty="0">
              <a:latin typeface="Poppins" panose="00000500000000000000" pitchFamily="2" charset="0"/>
              <a:cs typeface="Poppins" panose="00000500000000000000" pitchFamily="2" charset="0"/>
            </a:endParaRPr>
          </a:p>
        </p:txBody>
      </p:sp>
      <p:sp>
        <p:nvSpPr>
          <p:cNvPr id="36" name="Text 17">
            <a:extLst>
              <a:ext uri="{FF2B5EF4-FFF2-40B4-BE49-F238E27FC236}">
                <a16:creationId xmlns:a16="http://schemas.microsoft.com/office/drawing/2014/main" id="{E4B090C7-4E91-E08E-85C0-9A9CF54B14DD}"/>
              </a:ext>
            </a:extLst>
          </p:cNvPr>
          <p:cNvSpPr/>
          <p:nvPr/>
        </p:nvSpPr>
        <p:spPr>
          <a:xfrm>
            <a:off x="4207151" y="3987609"/>
            <a:ext cx="1783080" cy="411480"/>
          </a:xfrm>
          <a:prstGeom prst="rect">
            <a:avLst/>
          </a:prstGeom>
          <a:noFill/>
          <a:ln/>
        </p:spPr>
        <p:txBody>
          <a:bodyPr wrap="square" lIns="0" tIns="0" rIns="0" bIns="0" rtlCol="0" anchor="ctr"/>
          <a:lstStyle/>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Cascade</a:t>
            </a:r>
            <a:endParaRPr lang="en-US" sz="1000" dirty="0">
              <a:latin typeface="Poppins" panose="00000500000000000000" pitchFamily="2" charset="0"/>
              <a:cs typeface="Poppins" panose="00000500000000000000" pitchFamily="2" charset="0"/>
            </a:endParaRPr>
          </a:p>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admittance + PD</a:t>
            </a:r>
            <a:endParaRPr lang="en-US" sz="1000" dirty="0">
              <a:latin typeface="Poppins" panose="00000500000000000000" pitchFamily="2" charset="0"/>
              <a:cs typeface="Poppins" panose="00000500000000000000" pitchFamily="2" charset="0"/>
            </a:endParaRPr>
          </a:p>
        </p:txBody>
      </p:sp>
      <p:pic>
        <p:nvPicPr>
          <p:cNvPr id="37" name="Image 5" descr="preencoded.png">
            <a:extLst>
              <a:ext uri="{FF2B5EF4-FFF2-40B4-BE49-F238E27FC236}">
                <a16:creationId xmlns:a16="http://schemas.microsoft.com/office/drawing/2014/main" id="{4BD1274D-3CC0-3A95-6E54-B76E65ACEBCF}"/>
              </a:ext>
            </a:extLst>
          </p:cNvPr>
          <p:cNvPicPr>
            <a:picLocks noChangeAspect="1"/>
          </p:cNvPicPr>
          <p:nvPr/>
        </p:nvPicPr>
        <p:blipFill>
          <a:blip r:embed="rId10"/>
          <a:stretch>
            <a:fillRect/>
          </a:stretch>
        </p:blipFill>
        <p:spPr>
          <a:xfrm>
            <a:off x="6013704" y="3150862"/>
            <a:ext cx="164592" cy="164592"/>
          </a:xfrm>
          <a:prstGeom prst="rect">
            <a:avLst/>
          </a:prstGeom>
        </p:spPr>
      </p:pic>
      <p:sp>
        <p:nvSpPr>
          <p:cNvPr id="38" name="Shape 18">
            <a:extLst>
              <a:ext uri="{FF2B5EF4-FFF2-40B4-BE49-F238E27FC236}">
                <a16:creationId xmlns:a16="http://schemas.microsoft.com/office/drawing/2014/main" id="{7BD60372-89AC-1592-D9DB-FC04766CC4F6}"/>
              </a:ext>
            </a:extLst>
          </p:cNvPr>
          <p:cNvSpPr/>
          <p:nvPr/>
        </p:nvSpPr>
        <p:spPr>
          <a:xfrm>
            <a:off x="6199717" y="2067369"/>
            <a:ext cx="1783080" cy="237744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39" name="Shape 19">
            <a:extLst>
              <a:ext uri="{FF2B5EF4-FFF2-40B4-BE49-F238E27FC236}">
                <a16:creationId xmlns:a16="http://schemas.microsoft.com/office/drawing/2014/main" id="{CC49DE1A-AF9B-AECE-FB97-66C791FF52FB}"/>
              </a:ext>
            </a:extLst>
          </p:cNvPr>
          <p:cNvSpPr/>
          <p:nvPr/>
        </p:nvSpPr>
        <p:spPr>
          <a:xfrm>
            <a:off x="6199717" y="2067369"/>
            <a:ext cx="1783080" cy="91440"/>
          </a:xfrm>
          <a:prstGeom prst="rect">
            <a:avLst/>
          </a:prstGeom>
          <a:solidFill>
            <a:schemeClr val="accent6">
              <a:lumMod val="75000"/>
            </a:schemeClr>
          </a:solidFill>
          <a:ln w="12700">
            <a:noFill/>
            <a:prstDash val="solid"/>
          </a:ln>
        </p:spPr>
        <p:txBody>
          <a:bodyPr/>
          <a:lstStyle/>
          <a:p>
            <a:endParaRPr lang="it-IT"/>
          </a:p>
        </p:txBody>
      </p:sp>
      <p:sp>
        <p:nvSpPr>
          <p:cNvPr id="40" name="Text 20">
            <a:extLst>
              <a:ext uri="{FF2B5EF4-FFF2-40B4-BE49-F238E27FC236}">
                <a16:creationId xmlns:a16="http://schemas.microsoft.com/office/drawing/2014/main" id="{5C329727-0AAB-DEAC-F09B-CA09D067AFAB}"/>
              </a:ext>
            </a:extLst>
          </p:cNvPr>
          <p:cNvSpPr/>
          <p:nvPr/>
        </p:nvSpPr>
        <p:spPr>
          <a:xfrm>
            <a:off x="6291157" y="2250249"/>
            <a:ext cx="1600200" cy="320040"/>
          </a:xfrm>
          <a:prstGeom prst="rect">
            <a:avLst/>
          </a:prstGeom>
          <a:noFill/>
          <a:ln/>
        </p:spPr>
        <p:txBody>
          <a:bodyPr wrap="square" lIns="0" tIns="0" rIns="0" bIns="0" rtlCol="0" anchor="ctr"/>
          <a:lstStyle/>
          <a:p>
            <a:pPr marL="0" indent="0">
              <a:buNone/>
            </a:pPr>
            <a:r>
              <a:rPr lang="en-US" sz="1400" b="1"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rPr>
              <a:t>04</a:t>
            </a:r>
            <a:endParaRPr lang="en-US" sz="1400"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endParaRPr>
          </a:p>
        </p:txBody>
      </p:sp>
      <p:pic>
        <p:nvPicPr>
          <p:cNvPr id="41" name="Image 6" descr="preencoded.png">
            <a:extLst>
              <a:ext uri="{FF2B5EF4-FFF2-40B4-BE49-F238E27FC236}">
                <a16:creationId xmlns:a16="http://schemas.microsoft.com/office/drawing/2014/main" id="{5C575C1A-2B58-7016-251F-224D8E3942DF}"/>
              </a:ext>
            </a:extLst>
          </p:cNvPr>
          <p:cNvPicPr>
            <a:picLocks noChangeAspect="1"/>
          </p:cNvPicPr>
          <p:nvPr/>
        </p:nvPicPr>
        <p:blipFill>
          <a:blip r:embed="rId13"/>
          <a:stretch>
            <a:fillRect/>
          </a:stretch>
        </p:blipFill>
        <p:spPr>
          <a:xfrm>
            <a:off x="6725497" y="2616009"/>
            <a:ext cx="731520" cy="731520"/>
          </a:xfrm>
          <a:prstGeom prst="rect">
            <a:avLst/>
          </a:prstGeom>
        </p:spPr>
      </p:pic>
      <p:sp>
        <p:nvSpPr>
          <p:cNvPr id="42" name="Text 21">
            <a:extLst>
              <a:ext uri="{FF2B5EF4-FFF2-40B4-BE49-F238E27FC236}">
                <a16:creationId xmlns:a16="http://schemas.microsoft.com/office/drawing/2014/main" id="{8887DFBF-7B2B-EDE3-8B89-474EDFBA58E0}"/>
              </a:ext>
            </a:extLst>
          </p:cNvPr>
          <p:cNvSpPr/>
          <p:nvPr/>
        </p:nvSpPr>
        <p:spPr>
          <a:xfrm>
            <a:off x="6199717" y="3438969"/>
            <a:ext cx="1783080" cy="548640"/>
          </a:xfrm>
          <a:prstGeom prst="rect">
            <a:avLst/>
          </a:prstGeom>
          <a:noFill/>
          <a:ln/>
        </p:spPr>
        <p:txBody>
          <a:bodyPr wrap="square" lIns="0" tIns="0" rIns="0" bIns="0" rtlCol="0" anchor="ctr"/>
          <a:lstStyle/>
          <a:p>
            <a:pPr marL="0" indent="0" algn="ctr">
              <a:buNone/>
            </a:pPr>
            <a:r>
              <a:rPr lang="en-US" sz="1300" b="1" dirty="0">
                <a:solidFill>
                  <a:srgbClr val="0A2540"/>
                </a:solidFill>
                <a:latin typeface="Poppins" panose="00000500000000000000" pitchFamily="2" charset="0"/>
                <a:ea typeface="Cambria" pitchFamily="34" charset="-122"/>
                <a:cs typeface="Poppins" panose="00000500000000000000" pitchFamily="2" charset="0"/>
              </a:rPr>
              <a:t>Functional</a:t>
            </a:r>
            <a:endParaRPr lang="en-US" sz="1300" dirty="0">
              <a:latin typeface="Poppins" panose="00000500000000000000" pitchFamily="2" charset="0"/>
              <a:cs typeface="Poppins" panose="00000500000000000000" pitchFamily="2" charset="0"/>
            </a:endParaRPr>
          </a:p>
          <a:p>
            <a:pPr marL="0" indent="0" algn="ctr">
              <a:buNone/>
            </a:pPr>
            <a:r>
              <a:rPr lang="en-US" sz="1300" b="1" dirty="0">
                <a:solidFill>
                  <a:srgbClr val="0A2540"/>
                </a:solidFill>
                <a:latin typeface="Poppins" panose="00000500000000000000" pitchFamily="2" charset="0"/>
                <a:ea typeface="Cambria" pitchFamily="34" charset="-122"/>
                <a:cs typeface="Poppins" panose="00000500000000000000" pitchFamily="2" charset="0"/>
              </a:rPr>
              <a:t>Safety</a:t>
            </a:r>
            <a:endParaRPr lang="en-US" sz="1300" dirty="0">
              <a:latin typeface="Poppins" panose="00000500000000000000" pitchFamily="2" charset="0"/>
              <a:cs typeface="Poppins" panose="00000500000000000000" pitchFamily="2" charset="0"/>
            </a:endParaRPr>
          </a:p>
        </p:txBody>
      </p:sp>
      <p:sp>
        <p:nvSpPr>
          <p:cNvPr id="43" name="Text 22">
            <a:extLst>
              <a:ext uri="{FF2B5EF4-FFF2-40B4-BE49-F238E27FC236}">
                <a16:creationId xmlns:a16="http://schemas.microsoft.com/office/drawing/2014/main" id="{804F97C3-6255-6083-86E5-6FAD4CF10BF3}"/>
              </a:ext>
            </a:extLst>
          </p:cNvPr>
          <p:cNvSpPr/>
          <p:nvPr/>
        </p:nvSpPr>
        <p:spPr>
          <a:xfrm>
            <a:off x="6199717" y="3987609"/>
            <a:ext cx="1783080" cy="411480"/>
          </a:xfrm>
          <a:prstGeom prst="rect">
            <a:avLst/>
          </a:prstGeom>
          <a:noFill/>
          <a:ln/>
        </p:spPr>
        <p:txBody>
          <a:bodyPr wrap="square" lIns="0" tIns="0" rIns="0" bIns="0" rtlCol="0" anchor="ctr"/>
          <a:lstStyle/>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3-layer</a:t>
            </a:r>
            <a:endParaRPr lang="en-US" sz="1000" dirty="0">
              <a:latin typeface="Poppins" panose="00000500000000000000" pitchFamily="2" charset="0"/>
              <a:cs typeface="Poppins" panose="00000500000000000000" pitchFamily="2" charset="0"/>
            </a:endParaRPr>
          </a:p>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state machine</a:t>
            </a:r>
            <a:endParaRPr lang="en-US" sz="1000" dirty="0">
              <a:latin typeface="Poppins" panose="00000500000000000000" pitchFamily="2" charset="0"/>
              <a:cs typeface="Poppins" panose="00000500000000000000" pitchFamily="2" charset="0"/>
            </a:endParaRPr>
          </a:p>
        </p:txBody>
      </p:sp>
      <p:pic>
        <p:nvPicPr>
          <p:cNvPr id="44" name="Image 7" descr="preencoded.png">
            <a:extLst>
              <a:ext uri="{FF2B5EF4-FFF2-40B4-BE49-F238E27FC236}">
                <a16:creationId xmlns:a16="http://schemas.microsoft.com/office/drawing/2014/main" id="{120344A7-1BDF-E9E3-B0A0-542B2A0C288F}"/>
              </a:ext>
            </a:extLst>
          </p:cNvPr>
          <p:cNvPicPr>
            <a:picLocks noChangeAspect="1"/>
          </p:cNvPicPr>
          <p:nvPr/>
        </p:nvPicPr>
        <p:blipFill>
          <a:blip r:embed="rId10"/>
          <a:stretch>
            <a:fillRect/>
          </a:stretch>
        </p:blipFill>
        <p:spPr>
          <a:xfrm>
            <a:off x="7998799" y="3146361"/>
            <a:ext cx="164592" cy="164592"/>
          </a:xfrm>
          <a:prstGeom prst="rect">
            <a:avLst/>
          </a:prstGeom>
        </p:spPr>
      </p:pic>
      <p:sp>
        <p:nvSpPr>
          <p:cNvPr id="45" name="Shape 23">
            <a:extLst>
              <a:ext uri="{FF2B5EF4-FFF2-40B4-BE49-F238E27FC236}">
                <a16:creationId xmlns:a16="http://schemas.microsoft.com/office/drawing/2014/main" id="{BD28D11E-DB7D-4D92-D7D9-A3C0402486E9}"/>
              </a:ext>
            </a:extLst>
          </p:cNvPr>
          <p:cNvSpPr/>
          <p:nvPr/>
        </p:nvSpPr>
        <p:spPr>
          <a:xfrm>
            <a:off x="8186864" y="2067369"/>
            <a:ext cx="1783080" cy="237744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46" name="Shape 24">
            <a:extLst>
              <a:ext uri="{FF2B5EF4-FFF2-40B4-BE49-F238E27FC236}">
                <a16:creationId xmlns:a16="http://schemas.microsoft.com/office/drawing/2014/main" id="{754F62BD-C413-F270-9486-8049A9CC9A2F}"/>
              </a:ext>
            </a:extLst>
          </p:cNvPr>
          <p:cNvSpPr/>
          <p:nvPr/>
        </p:nvSpPr>
        <p:spPr>
          <a:xfrm>
            <a:off x="8186864" y="2067369"/>
            <a:ext cx="1783080" cy="91440"/>
          </a:xfrm>
          <a:prstGeom prst="rect">
            <a:avLst/>
          </a:prstGeom>
          <a:solidFill>
            <a:srgbClr val="FFC000"/>
          </a:solidFill>
          <a:ln w="12700">
            <a:noFill/>
            <a:prstDash val="solid"/>
          </a:ln>
        </p:spPr>
        <p:txBody>
          <a:bodyPr/>
          <a:lstStyle/>
          <a:p>
            <a:endParaRPr lang="it-IT"/>
          </a:p>
        </p:txBody>
      </p:sp>
      <p:sp>
        <p:nvSpPr>
          <p:cNvPr id="47" name="Text 25">
            <a:extLst>
              <a:ext uri="{FF2B5EF4-FFF2-40B4-BE49-F238E27FC236}">
                <a16:creationId xmlns:a16="http://schemas.microsoft.com/office/drawing/2014/main" id="{FE5F7730-26DC-4F19-C8BA-4F9EE2E5A387}"/>
              </a:ext>
            </a:extLst>
          </p:cNvPr>
          <p:cNvSpPr/>
          <p:nvPr/>
        </p:nvSpPr>
        <p:spPr>
          <a:xfrm>
            <a:off x="8278304" y="2250249"/>
            <a:ext cx="1600200" cy="320040"/>
          </a:xfrm>
          <a:prstGeom prst="rect">
            <a:avLst/>
          </a:prstGeom>
          <a:noFill/>
          <a:ln/>
        </p:spPr>
        <p:txBody>
          <a:bodyPr wrap="square" lIns="0" tIns="0" rIns="0" bIns="0" rtlCol="0" anchor="ctr"/>
          <a:lstStyle/>
          <a:p>
            <a:pPr marL="0" indent="0">
              <a:buNone/>
            </a:pPr>
            <a:r>
              <a:rPr lang="en-US" sz="1400" b="1"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rPr>
              <a:t>05</a:t>
            </a:r>
            <a:endParaRPr lang="en-US" sz="1400"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endParaRPr>
          </a:p>
        </p:txBody>
      </p:sp>
      <p:pic>
        <p:nvPicPr>
          <p:cNvPr id="48" name="Image 8" descr="preencoded.png">
            <a:extLst>
              <a:ext uri="{FF2B5EF4-FFF2-40B4-BE49-F238E27FC236}">
                <a16:creationId xmlns:a16="http://schemas.microsoft.com/office/drawing/2014/main" id="{BA2A918D-ACF5-3EF2-F029-7FC71501A742}"/>
              </a:ext>
            </a:extLst>
          </p:cNvPr>
          <p:cNvPicPr>
            <a:picLocks noChangeAspect="1"/>
          </p:cNvPicPr>
          <p:nvPr/>
        </p:nvPicPr>
        <p:blipFill>
          <a:blip r:embed="rId14"/>
          <a:stretch>
            <a:fillRect/>
          </a:stretch>
        </p:blipFill>
        <p:spPr>
          <a:xfrm>
            <a:off x="8712644" y="2616009"/>
            <a:ext cx="731520" cy="731520"/>
          </a:xfrm>
          <a:prstGeom prst="rect">
            <a:avLst/>
          </a:prstGeom>
        </p:spPr>
      </p:pic>
      <p:sp>
        <p:nvSpPr>
          <p:cNvPr id="49" name="Text 26">
            <a:extLst>
              <a:ext uri="{FF2B5EF4-FFF2-40B4-BE49-F238E27FC236}">
                <a16:creationId xmlns:a16="http://schemas.microsoft.com/office/drawing/2014/main" id="{8881F71A-6D8B-9444-5120-F6F50046D89A}"/>
              </a:ext>
            </a:extLst>
          </p:cNvPr>
          <p:cNvSpPr/>
          <p:nvPr/>
        </p:nvSpPr>
        <p:spPr>
          <a:xfrm>
            <a:off x="8186864" y="3438969"/>
            <a:ext cx="1783080" cy="548640"/>
          </a:xfrm>
          <a:prstGeom prst="rect">
            <a:avLst/>
          </a:prstGeom>
          <a:noFill/>
          <a:ln/>
        </p:spPr>
        <p:txBody>
          <a:bodyPr wrap="square" lIns="0" tIns="0" rIns="0" bIns="0" rtlCol="0" anchor="ctr"/>
          <a:lstStyle/>
          <a:p>
            <a:pPr marL="0" indent="0" algn="ctr">
              <a:buNone/>
            </a:pPr>
            <a:r>
              <a:rPr lang="en-US" sz="1300" b="1" dirty="0">
                <a:solidFill>
                  <a:srgbClr val="0A2540"/>
                </a:solidFill>
                <a:latin typeface="Poppins" panose="00000500000000000000" pitchFamily="2" charset="0"/>
                <a:ea typeface="Cambria" pitchFamily="34" charset="-122"/>
                <a:cs typeface="Poppins" panose="00000500000000000000" pitchFamily="2" charset="0"/>
              </a:rPr>
              <a:t>Model-Based</a:t>
            </a:r>
            <a:endParaRPr lang="en-US" sz="1300" dirty="0">
              <a:latin typeface="Poppins" panose="00000500000000000000" pitchFamily="2" charset="0"/>
              <a:cs typeface="Poppins" panose="00000500000000000000" pitchFamily="2" charset="0"/>
            </a:endParaRPr>
          </a:p>
          <a:p>
            <a:pPr marL="0" indent="0" algn="ctr">
              <a:buNone/>
            </a:pPr>
            <a:r>
              <a:rPr lang="en-US" sz="1300" b="1" dirty="0">
                <a:solidFill>
                  <a:srgbClr val="0A2540"/>
                </a:solidFill>
                <a:latin typeface="Poppins" panose="00000500000000000000" pitchFamily="2" charset="0"/>
                <a:ea typeface="Cambria" pitchFamily="34" charset="-122"/>
                <a:cs typeface="Poppins" panose="00000500000000000000" pitchFamily="2" charset="0"/>
              </a:rPr>
              <a:t>Detection</a:t>
            </a:r>
            <a:endParaRPr lang="en-US" sz="1300" dirty="0">
              <a:latin typeface="Poppins" panose="00000500000000000000" pitchFamily="2" charset="0"/>
              <a:cs typeface="Poppins" panose="00000500000000000000" pitchFamily="2" charset="0"/>
            </a:endParaRPr>
          </a:p>
        </p:txBody>
      </p:sp>
      <p:sp>
        <p:nvSpPr>
          <p:cNvPr id="50" name="Text 27">
            <a:extLst>
              <a:ext uri="{FF2B5EF4-FFF2-40B4-BE49-F238E27FC236}">
                <a16:creationId xmlns:a16="http://schemas.microsoft.com/office/drawing/2014/main" id="{8861AD03-43CB-C497-38B6-0F16FC534186}"/>
              </a:ext>
            </a:extLst>
          </p:cNvPr>
          <p:cNvSpPr/>
          <p:nvPr/>
        </p:nvSpPr>
        <p:spPr>
          <a:xfrm>
            <a:off x="8186864" y="3987609"/>
            <a:ext cx="1783080" cy="411480"/>
          </a:xfrm>
          <a:prstGeom prst="rect">
            <a:avLst/>
          </a:prstGeom>
          <a:noFill/>
          <a:ln/>
        </p:spPr>
        <p:txBody>
          <a:bodyPr wrap="square" lIns="0" tIns="0" rIns="0" bIns="0" rtlCol="0" anchor="ctr"/>
          <a:lstStyle/>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Observers</a:t>
            </a:r>
            <a:endParaRPr lang="en-US" sz="1000" dirty="0">
              <a:latin typeface="Poppins" panose="00000500000000000000" pitchFamily="2" charset="0"/>
              <a:cs typeface="Poppins" panose="00000500000000000000" pitchFamily="2" charset="0"/>
            </a:endParaRPr>
          </a:p>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residuals</a:t>
            </a:r>
            <a:endParaRPr lang="en-US" sz="1000" dirty="0">
              <a:latin typeface="Poppins" panose="00000500000000000000" pitchFamily="2" charset="0"/>
              <a:cs typeface="Poppins" panose="00000500000000000000" pitchFamily="2" charset="0"/>
            </a:endParaRPr>
          </a:p>
        </p:txBody>
      </p:sp>
      <p:pic>
        <p:nvPicPr>
          <p:cNvPr id="51" name="Image 9" descr="preencoded.png">
            <a:extLst>
              <a:ext uri="{FF2B5EF4-FFF2-40B4-BE49-F238E27FC236}">
                <a16:creationId xmlns:a16="http://schemas.microsoft.com/office/drawing/2014/main" id="{46ECE136-0472-09F3-AC91-53872D2B5BA3}"/>
              </a:ext>
            </a:extLst>
          </p:cNvPr>
          <p:cNvPicPr>
            <a:picLocks noChangeAspect="1"/>
          </p:cNvPicPr>
          <p:nvPr/>
        </p:nvPicPr>
        <p:blipFill>
          <a:blip r:embed="rId10"/>
          <a:stretch>
            <a:fillRect/>
          </a:stretch>
        </p:blipFill>
        <p:spPr>
          <a:xfrm>
            <a:off x="9997392" y="3128905"/>
            <a:ext cx="164592" cy="164592"/>
          </a:xfrm>
          <a:prstGeom prst="rect">
            <a:avLst/>
          </a:prstGeom>
        </p:spPr>
      </p:pic>
      <p:sp>
        <p:nvSpPr>
          <p:cNvPr id="52" name="Shape 28">
            <a:extLst>
              <a:ext uri="{FF2B5EF4-FFF2-40B4-BE49-F238E27FC236}">
                <a16:creationId xmlns:a16="http://schemas.microsoft.com/office/drawing/2014/main" id="{BB76F0BC-F821-B6E7-AB7B-A27D9F683BB3}"/>
              </a:ext>
            </a:extLst>
          </p:cNvPr>
          <p:cNvSpPr/>
          <p:nvPr/>
        </p:nvSpPr>
        <p:spPr>
          <a:xfrm>
            <a:off x="10189432" y="2067369"/>
            <a:ext cx="1783080" cy="237744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dirty="0"/>
          </a:p>
        </p:txBody>
      </p:sp>
      <p:sp>
        <p:nvSpPr>
          <p:cNvPr id="53" name="Shape 29">
            <a:extLst>
              <a:ext uri="{FF2B5EF4-FFF2-40B4-BE49-F238E27FC236}">
                <a16:creationId xmlns:a16="http://schemas.microsoft.com/office/drawing/2014/main" id="{9F7101D2-2C26-4CC8-6A3C-EAE5079FC60E}"/>
              </a:ext>
            </a:extLst>
          </p:cNvPr>
          <p:cNvSpPr/>
          <p:nvPr/>
        </p:nvSpPr>
        <p:spPr>
          <a:xfrm>
            <a:off x="10189432" y="2067369"/>
            <a:ext cx="1783080" cy="91440"/>
          </a:xfrm>
          <a:prstGeom prst="rect">
            <a:avLst/>
          </a:prstGeom>
          <a:solidFill>
            <a:srgbClr val="FF0000"/>
          </a:solidFill>
          <a:ln w="12700">
            <a:noFill/>
            <a:prstDash val="solid"/>
          </a:ln>
        </p:spPr>
        <p:txBody>
          <a:bodyPr/>
          <a:lstStyle/>
          <a:p>
            <a:endParaRPr lang="it-IT"/>
          </a:p>
        </p:txBody>
      </p:sp>
      <p:sp>
        <p:nvSpPr>
          <p:cNvPr id="54" name="Text 30">
            <a:extLst>
              <a:ext uri="{FF2B5EF4-FFF2-40B4-BE49-F238E27FC236}">
                <a16:creationId xmlns:a16="http://schemas.microsoft.com/office/drawing/2014/main" id="{F4656D4D-E572-7CD8-45EB-3A9D006B53BF}"/>
              </a:ext>
            </a:extLst>
          </p:cNvPr>
          <p:cNvSpPr/>
          <p:nvPr/>
        </p:nvSpPr>
        <p:spPr>
          <a:xfrm>
            <a:off x="10280872" y="2250249"/>
            <a:ext cx="1600200" cy="320040"/>
          </a:xfrm>
          <a:prstGeom prst="rect">
            <a:avLst/>
          </a:prstGeom>
          <a:noFill/>
          <a:ln/>
        </p:spPr>
        <p:txBody>
          <a:bodyPr wrap="square" lIns="0" tIns="0" rIns="0" bIns="0" rtlCol="0" anchor="ctr"/>
          <a:lstStyle/>
          <a:p>
            <a:pPr marL="0" indent="0">
              <a:buNone/>
            </a:pPr>
            <a:r>
              <a:rPr lang="en-US" sz="1400" b="1"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rPr>
              <a:t>06</a:t>
            </a:r>
            <a:endParaRPr lang="en-US" sz="1400" dirty="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endParaRPr>
          </a:p>
        </p:txBody>
      </p:sp>
      <p:pic>
        <p:nvPicPr>
          <p:cNvPr id="55" name="Image 10" descr="preencoded.png">
            <a:extLst>
              <a:ext uri="{FF2B5EF4-FFF2-40B4-BE49-F238E27FC236}">
                <a16:creationId xmlns:a16="http://schemas.microsoft.com/office/drawing/2014/main" id="{B3718CE3-8F66-C34A-3285-3BD738AD2D28}"/>
              </a:ext>
            </a:extLst>
          </p:cNvPr>
          <p:cNvPicPr>
            <a:picLocks noChangeAspect="1"/>
          </p:cNvPicPr>
          <p:nvPr/>
        </p:nvPicPr>
        <p:blipFill>
          <a:blip r:embed="rId15"/>
          <a:stretch>
            <a:fillRect/>
          </a:stretch>
        </p:blipFill>
        <p:spPr>
          <a:xfrm>
            <a:off x="10715212" y="2616009"/>
            <a:ext cx="731520" cy="731520"/>
          </a:xfrm>
          <a:prstGeom prst="rect">
            <a:avLst/>
          </a:prstGeom>
        </p:spPr>
      </p:pic>
      <p:sp>
        <p:nvSpPr>
          <p:cNvPr id="56" name="Text 31">
            <a:extLst>
              <a:ext uri="{FF2B5EF4-FFF2-40B4-BE49-F238E27FC236}">
                <a16:creationId xmlns:a16="http://schemas.microsoft.com/office/drawing/2014/main" id="{B87CD22E-7B20-E929-7B1B-4574B9508898}"/>
              </a:ext>
            </a:extLst>
          </p:cNvPr>
          <p:cNvSpPr/>
          <p:nvPr/>
        </p:nvSpPr>
        <p:spPr>
          <a:xfrm>
            <a:off x="10189432" y="3438969"/>
            <a:ext cx="1708843" cy="548640"/>
          </a:xfrm>
          <a:prstGeom prst="rect">
            <a:avLst/>
          </a:prstGeom>
          <a:noFill/>
          <a:ln/>
        </p:spPr>
        <p:txBody>
          <a:bodyPr wrap="square" lIns="0" tIns="0" rIns="0" bIns="0" rtlCol="0" anchor="ctr"/>
          <a:lstStyle/>
          <a:p>
            <a:pPr marL="0" indent="0" algn="ctr">
              <a:buNone/>
            </a:pPr>
            <a:r>
              <a:rPr lang="en-US" sz="1200" b="1" dirty="0">
                <a:solidFill>
                  <a:srgbClr val="0A2540"/>
                </a:solidFill>
                <a:latin typeface="Poppins" panose="00000500000000000000" pitchFamily="2" charset="0"/>
                <a:ea typeface="Cambria" pitchFamily="34" charset="-122"/>
                <a:cs typeface="Poppins" panose="00000500000000000000" pitchFamily="2" charset="0"/>
              </a:rPr>
              <a:t>HW</a:t>
            </a:r>
            <a:r>
              <a:rPr lang="en-US" sz="1200" dirty="0">
                <a:latin typeface="Poppins" panose="00000500000000000000" pitchFamily="2" charset="0"/>
                <a:cs typeface="Poppins" panose="00000500000000000000" pitchFamily="2" charset="0"/>
              </a:rPr>
              <a:t> </a:t>
            </a:r>
            <a:r>
              <a:rPr lang="en-US" sz="1200" b="1" dirty="0">
                <a:solidFill>
                  <a:srgbClr val="0A2540"/>
                </a:solidFill>
                <a:latin typeface="Poppins" panose="00000500000000000000" pitchFamily="2" charset="0"/>
                <a:ea typeface="Cambria" pitchFamily="34" charset="-122"/>
                <a:cs typeface="Poppins" panose="00000500000000000000" pitchFamily="2" charset="0"/>
              </a:rPr>
              <a:t>Prototype Integration</a:t>
            </a:r>
            <a:endParaRPr lang="en-US" sz="1200" dirty="0">
              <a:latin typeface="Poppins" panose="00000500000000000000" pitchFamily="2" charset="0"/>
              <a:cs typeface="Poppins" panose="00000500000000000000" pitchFamily="2" charset="0"/>
            </a:endParaRPr>
          </a:p>
        </p:txBody>
      </p:sp>
      <p:sp>
        <p:nvSpPr>
          <p:cNvPr id="57" name="Text 32">
            <a:extLst>
              <a:ext uri="{FF2B5EF4-FFF2-40B4-BE49-F238E27FC236}">
                <a16:creationId xmlns:a16="http://schemas.microsoft.com/office/drawing/2014/main" id="{7295CD09-FEEB-8D2D-7972-512FCA77BD82}"/>
              </a:ext>
            </a:extLst>
          </p:cNvPr>
          <p:cNvSpPr/>
          <p:nvPr/>
        </p:nvSpPr>
        <p:spPr>
          <a:xfrm>
            <a:off x="10189432" y="3987609"/>
            <a:ext cx="1783080" cy="411480"/>
          </a:xfrm>
          <a:prstGeom prst="rect">
            <a:avLst/>
          </a:prstGeom>
          <a:noFill/>
          <a:ln/>
        </p:spPr>
        <p:txBody>
          <a:bodyPr wrap="square" lIns="0" tIns="0" rIns="0" bIns="0" rtlCol="0" anchor="ctr"/>
          <a:lstStyle/>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Interface spec</a:t>
            </a:r>
            <a:endParaRPr lang="en-US" sz="1000" dirty="0">
              <a:latin typeface="Poppins" panose="00000500000000000000" pitchFamily="2" charset="0"/>
              <a:cs typeface="Poppins" panose="00000500000000000000" pitchFamily="2" charset="0"/>
            </a:endParaRPr>
          </a:p>
          <a:p>
            <a:pPr marL="0" indent="0" algn="ctr">
              <a:buNone/>
            </a:pPr>
            <a:r>
              <a:rPr lang="en-US" sz="1000" dirty="0">
                <a:solidFill>
                  <a:srgbClr val="64748B"/>
                </a:solidFill>
                <a:latin typeface="Poppins" panose="00000500000000000000" pitchFamily="2" charset="0"/>
                <a:ea typeface="Calibri" pitchFamily="34" charset="-122"/>
                <a:cs typeface="Poppins" panose="00000500000000000000" pitchFamily="2" charset="0"/>
              </a:rPr>
              <a:t>for HIL</a:t>
            </a:r>
            <a:endParaRPr lang="en-US" sz="1000" dirty="0">
              <a:latin typeface="Poppins" panose="00000500000000000000" pitchFamily="2" charset="0"/>
              <a:cs typeface="Poppins" panose="00000500000000000000" pitchFamily="2" charset="0"/>
            </a:endParaRPr>
          </a:p>
        </p:txBody>
      </p:sp>
      <p:sp>
        <p:nvSpPr>
          <p:cNvPr id="61" name="Shape 33">
            <a:extLst>
              <a:ext uri="{FF2B5EF4-FFF2-40B4-BE49-F238E27FC236}">
                <a16:creationId xmlns:a16="http://schemas.microsoft.com/office/drawing/2014/main" id="{9CCBD058-0CAD-A658-1129-0F2FC5DF0295}"/>
              </a:ext>
            </a:extLst>
          </p:cNvPr>
          <p:cNvSpPr/>
          <p:nvPr/>
        </p:nvSpPr>
        <p:spPr>
          <a:xfrm>
            <a:off x="234908" y="4728938"/>
            <a:ext cx="11737603" cy="1463040"/>
          </a:xfrm>
          <a:prstGeom prst="rect">
            <a:avLst/>
          </a:prstGeom>
          <a:solidFill>
            <a:srgbClr val="E8EEF3"/>
          </a:solidFill>
          <a:ln w="12700">
            <a:solidFill>
              <a:srgbClr val="E8EEF3"/>
            </a:solidFill>
            <a:prstDash val="solid"/>
          </a:ln>
          <a:effectLst/>
        </p:spPr>
        <p:txBody>
          <a:bodyPr/>
          <a:lstStyle/>
          <a:p>
            <a:endParaRPr lang="it-IT"/>
          </a:p>
        </p:txBody>
      </p:sp>
      <p:sp>
        <p:nvSpPr>
          <p:cNvPr id="62" name="Shape 34">
            <a:extLst>
              <a:ext uri="{FF2B5EF4-FFF2-40B4-BE49-F238E27FC236}">
                <a16:creationId xmlns:a16="http://schemas.microsoft.com/office/drawing/2014/main" id="{5376C458-12C1-178E-0F9B-DDE4DB480373}"/>
              </a:ext>
            </a:extLst>
          </p:cNvPr>
          <p:cNvSpPr/>
          <p:nvPr/>
        </p:nvSpPr>
        <p:spPr>
          <a:xfrm>
            <a:off x="234909" y="4728938"/>
            <a:ext cx="116406" cy="1463040"/>
          </a:xfrm>
          <a:prstGeom prst="rect">
            <a:avLst/>
          </a:prstGeom>
          <a:solidFill>
            <a:srgbClr val="00B0F0"/>
          </a:solidFill>
          <a:ln w="12700">
            <a:noFill/>
            <a:prstDash val="solid"/>
          </a:ln>
          <a:effectLst>
            <a:softEdge rad="127000"/>
          </a:effectLst>
        </p:spPr>
        <p:txBody>
          <a:bodyPr/>
          <a:lstStyle/>
          <a:p>
            <a:endParaRPr lang="it-IT" dirty="0"/>
          </a:p>
        </p:txBody>
      </p:sp>
      <p:sp>
        <p:nvSpPr>
          <p:cNvPr id="63" name="Text 35">
            <a:extLst>
              <a:ext uri="{FF2B5EF4-FFF2-40B4-BE49-F238E27FC236}">
                <a16:creationId xmlns:a16="http://schemas.microsoft.com/office/drawing/2014/main" id="{A8DBBDB9-A1DD-900A-6B02-383CFF6E3505}"/>
              </a:ext>
            </a:extLst>
          </p:cNvPr>
          <p:cNvSpPr/>
          <p:nvPr/>
        </p:nvSpPr>
        <p:spPr>
          <a:xfrm>
            <a:off x="463508" y="4820378"/>
            <a:ext cx="11155573" cy="320040"/>
          </a:xfrm>
          <a:prstGeom prst="rect">
            <a:avLst/>
          </a:prstGeom>
          <a:noFill/>
          <a:ln/>
        </p:spPr>
        <p:txBody>
          <a:bodyPr wrap="square" lIns="0" tIns="0" rIns="0" bIns="0" rtlCol="0" anchor="ctr"/>
          <a:lstStyle/>
          <a:p>
            <a:pPr marL="0" indent="0">
              <a:buNone/>
            </a:pPr>
            <a:r>
              <a:rPr lang="en-US" sz="1600" b="1" kern="0" dirty="0">
                <a:solidFill>
                  <a:srgbClr val="1C7293"/>
                </a:solidFill>
                <a:latin typeface="Poppins" panose="00000500000000000000" pitchFamily="2" charset="0"/>
                <a:ea typeface="Calibri" pitchFamily="34" charset="-122"/>
                <a:cs typeface="Poppins" panose="00000500000000000000" pitchFamily="2" charset="0"/>
              </a:rPr>
              <a:t>Framework</a:t>
            </a:r>
            <a:endParaRPr lang="en-US" sz="1100" dirty="0">
              <a:latin typeface="Poppins" panose="00000500000000000000" pitchFamily="2" charset="0"/>
              <a:cs typeface="Poppins" panose="00000500000000000000" pitchFamily="2" charset="0"/>
            </a:endParaRPr>
          </a:p>
        </p:txBody>
      </p:sp>
      <p:sp>
        <p:nvSpPr>
          <p:cNvPr id="64" name="Text 36">
            <a:extLst>
              <a:ext uri="{FF2B5EF4-FFF2-40B4-BE49-F238E27FC236}">
                <a16:creationId xmlns:a16="http://schemas.microsoft.com/office/drawing/2014/main" id="{8CB260D0-86D6-A77E-DB8C-49034E801200}"/>
              </a:ext>
            </a:extLst>
          </p:cNvPr>
          <p:cNvSpPr/>
          <p:nvPr/>
        </p:nvSpPr>
        <p:spPr>
          <a:xfrm>
            <a:off x="463508" y="5121202"/>
            <a:ext cx="11640598" cy="502920"/>
          </a:xfrm>
          <a:prstGeom prst="rect">
            <a:avLst/>
          </a:prstGeom>
          <a:noFill/>
          <a:ln/>
        </p:spPr>
        <p:txBody>
          <a:bodyPr wrap="square" lIns="0" tIns="0" rIns="0" bIns="0" rtlCol="0" anchor="ctr"/>
          <a:lstStyle/>
          <a:p>
            <a:pPr marL="0" indent="0">
              <a:buNone/>
            </a:pPr>
            <a:r>
              <a:rPr lang="en-US" sz="1300" dirty="0">
                <a:solidFill>
                  <a:srgbClr val="1E293B"/>
                </a:solidFill>
                <a:latin typeface="Poppins" panose="00000500000000000000" pitchFamily="2" charset="0"/>
                <a:ea typeface="Calibri" pitchFamily="34" charset="-122"/>
                <a:cs typeface="Poppins" panose="00000500000000000000" pitchFamily="2" charset="0"/>
              </a:rPr>
              <a:t>Entirely implemented in </a:t>
            </a:r>
            <a:r>
              <a:rPr lang="en-US" sz="1300" b="1" dirty="0">
                <a:solidFill>
                  <a:srgbClr val="1E293B"/>
                </a:solidFill>
                <a:latin typeface="Poppins" panose="00000500000000000000" pitchFamily="2" charset="0"/>
                <a:ea typeface="Calibri" pitchFamily="34" charset="-122"/>
                <a:cs typeface="Poppins" panose="00000500000000000000" pitchFamily="2" charset="0"/>
              </a:rPr>
              <a:t>ROS2</a:t>
            </a:r>
            <a:r>
              <a:rPr lang="en-US" sz="1300" dirty="0">
                <a:solidFill>
                  <a:srgbClr val="1E293B"/>
                </a:solidFill>
                <a:latin typeface="Poppins" panose="00000500000000000000" pitchFamily="2" charset="0"/>
                <a:ea typeface="Calibri" pitchFamily="34" charset="-122"/>
                <a:cs typeface="Poppins" panose="00000500000000000000" pitchFamily="2" charset="0"/>
              </a:rPr>
              <a:t>, built on the </a:t>
            </a:r>
            <a:r>
              <a:rPr lang="en-US" sz="1300" b="1" dirty="0">
                <a:solidFill>
                  <a:srgbClr val="1E293B"/>
                </a:solidFill>
                <a:latin typeface="Poppins" panose="00000500000000000000" pitchFamily="2" charset="0"/>
                <a:ea typeface="Calibri" pitchFamily="34" charset="-122"/>
                <a:cs typeface="Poppins" panose="00000500000000000000" pitchFamily="2" charset="0"/>
              </a:rPr>
              <a:t>Pinocchio</a:t>
            </a:r>
            <a:r>
              <a:rPr lang="en-US" sz="1300" dirty="0">
                <a:solidFill>
                  <a:srgbClr val="1E293B"/>
                </a:solidFill>
                <a:latin typeface="Poppins" panose="00000500000000000000" pitchFamily="2" charset="0"/>
                <a:ea typeface="Calibri" pitchFamily="34" charset="-122"/>
                <a:cs typeface="Poppins" panose="00000500000000000000" pitchFamily="2" charset="0"/>
              </a:rPr>
              <a:t> rigid-body dynamics library, and organized as </a:t>
            </a:r>
            <a:r>
              <a:rPr lang="en-US" sz="1300" b="1" dirty="0">
                <a:solidFill>
                  <a:srgbClr val="1E293B"/>
                </a:solidFill>
                <a:latin typeface="Poppins" panose="00000500000000000000" pitchFamily="2" charset="0"/>
                <a:ea typeface="Calibri" pitchFamily="34" charset="-122"/>
                <a:cs typeface="Poppins" panose="00000500000000000000" pitchFamily="2" charset="0"/>
              </a:rPr>
              <a:t>nine modular packages</a:t>
            </a:r>
            <a:r>
              <a:rPr lang="en-US" sz="1300" dirty="0">
                <a:solidFill>
                  <a:srgbClr val="1E293B"/>
                </a:solidFill>
                <a:latin typeface="Poppins" panose="00000500000000000000" pitchFamily="2" charset="0"/>
                <a:ea typeface="Calibri" pitchFamily="34" charset="-122"/>
                <a:cs typeface="Poppins" panose="00000500000000000000" pitchFamily="2" charset="0"/>
              </a:rPr>
              <a:t> that can be independently developed, tested and deployed.</a:t>
            </a:r>
            <a:endParaRPr lang="en-US" sz="1300" dirty="0">
              <a:latin typeface="Poppins" panose="00000500000000000000" pitchFamily="2" charset="0"/>
              <a:cs typeface="Poppins" panose="00000500000000000000" pitchFamily="2" charset="0"/>
            </a:endParaRPr>
          </a:p>
        </p:txBody>
      </p:sp>
      <p:sp>
        <p:nvSpPr>
          <p:cNvPr id="65" name="Text 37">
            <a:extLst>
              <a:ext uri="{FF2B5EF4-FFF2-40B4-BE49-F238E27FC236}">
                <a16:creationId xmlns:a16="http://schemas.microsoft.com/office/drawing/2014/main" id="{53B59DB3-1DCD-3C6E-3859-86F00BB73403}"/>
              </a:ext>
            </a:extLst>
          </p:cNvPr>
          <p:cNvSpPr/>
          <p:nvPr/>
        </p:nvSpPr>
        <p:spPr>
          <a:xfrm>
            <a:off x="463508" y="5597618"/>
            <a:ext cx="11640598" cy="502920"/>
          </a:xfrm>
          <a:prstGeom prst="rect">
            <a:avLst/>
          </a:prstGeom>
          <a:noFill/>
          <a:ln/>
        </p:spPr>
        <p:txBody>
          <a:bodyPr wrap="square" lIns="0" tIns="0" rIns="0" bIns="0" rtlCol="0" anchor="ctr"/>
          <a:lstStyle/>
          <a:p>
            <a:pPr marL="0" indent="0">
              <a:buNone/>
            </a:pPr>
            <a:r>
              <a:rPr lang="en-US" sz="1100" i="1" dirty="0">
                <a:solidFill>
                  <a:srgbClr val="64748B"/>
                </a:solidFill>
                <a:latin typeface="Poppins" panose="00000500000000000000" pitchFamily="2" charset="0"/>
                <a:ea typeface="Calibri" pitchFamily="34" charset="-122"/>
                <a:cs typeface="Poppins" panose="00000500000000000000" pitchFamily="2" charset="0"/>
              </a:rPr>
              <a:t>Single-finger module serves as the proof of concept; the architecture is designed to scale to the full three-finger prototype.</a:t>
            </a:r>
            <a:endParaRPr lang="en-US" sz="1100" dirty="0">
              <a:latin typeface="Poppins" panose="00000500000000000000" pitchFamily="2" charset="0"/>
              <a:cs typeface="Poppins" panose="00000500000000000000" pitchFamily="2" charset="0"/>
            </a:endParaRPr>
          </a:p>
        </p:txBody>
      </p:sp>
      <p:sp>
        <p:nvSpPr>
          <p:cNvPr id="66" name="Shape 34">
            <a:extLst>
              <a:ext uri="{FF2B5EF4-FFF2-40B4-BE49-F238E27FC236}">
                <a16:creationId xmlns:a16="http://schemas.microsoft.com/office/drawing/2014/main" id="{A13BA7F2-191C-20DA-32D5-873211CC9B11}"/>
              </a:ext>
            </a:extLst>
          </p:cNvPr>
          <p:cNvSpPr/>
          <p:nvPr/>
        </p:nvSpPr>
        <p:spPr>
          <a:xfrm>
            <a:off x="226889" y="4728938"/>
            <a:ext cx="109728" cy="1463040"/>
          </a:xfrm>
          <a:prstGeom prst="rect">
            <a:avLst/>
          </a:prstGeom>
          <a:solidFill>
            <a:schemeClr val="tx2">
              <a:lumMod val="75000"/>
              <a:lumOff val="25000"/>
            </a:schemeClr>
          </a:solidFill>
          <a:ln w="12700">
            <a:noFill/>
            <a:prstDash val="solid"/>
          </a:ln>
        </p:spPr>
        <p:txBody>
          <a:bodyPr/>
          <a:lstStyle/>
          <a:p>
            <a:endParaRPr lang="it-IT">
              <a:solidFill>
                <a:srgbClr val="193C6A"/>
              </a:solidFill>
            </a:endParaRPr>
          </a:p>
        </p:txBody>
      </p:sp>
    </p:spTree>
    <p:extLst>
      <p:ext uri="{BB962C8B-B14F-4D97-AF65-F5344CB8AC3E}">
        <p14:creationId xmlns:p14="http://schemas.microsoft.com/office/powerpoint/2010/main" val="1714094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A2F81-1FAB-13DB-FA48-3516ED5F5A44}"/>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4E2023A8-BE34-8425-68AE-F0D48D29B098}"/>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C10F6F9A-D458-ABC0-F1F4-2819D12D8571}"/>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C2A92381-1090-3ACB-712F-57C2615629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D086A5EF-D2F9-A140-A6B7-3837B39C52C5}"/>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D086A5EF-D2F9-A140-A6B7-3837B39C52C5}"/>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F464EF3A-8B9E-BFBB-6659-6B52F83D9226}"/>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F464EF3A-8B9E-BFBB-6659-6B52F83D9226}"/>
                  </a:ext>
                </a:extLst>
              </p:cNvPr>
              <p:cNvPicPr/>
              <p:nvPr/>
            </p:nvPicPr>
            <p:blipFill>
              <a:blip r:embed="rId6"/>
              <a:stretch>
                <a:fillRect/>
              </a:stretch>
            </p:blipFill>
            <p:spPr>
              <a:xfrm>
                <a:off x="5259213" y="963076"/>
                <a:ext cx="1950120" cy="35156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B74C188-8E2F-86E6-44F8-F4A0C6D72516}"/>
                  </a:ext>
                </a:extLst>
              </p14:cNvPr>
              <p14:cNvContentPartPr/>
              <p14:nvPr/>
            </p14:nvContentPartPr>
            <p14:xfrm>
              <a:off x="525933" y="2691537"/>
              <a:ext cx="360" cy="360"/>
            </p14:xfrm>
          </p:contentPart>
        </mc:Choice>
        <mc:Fallback xmlns="">
          <p:pic>
            <p:nvPicPr>
              <p:cNvPr id="13" name="Ink 12">
                <a:extLst>
                  <a:ext uri="{FF2B5EF4-FFF2-40B4-BE49-F238E27FC236}">
                    <a16:creationId xmlns:a16="http://schemas.microsoft.com/office/drawing/2014/main" id="{DB74C188-8E2F-86E6-44F8-F4A0C6D72516}"/>
                  </a:ext>
                </a:extLst>
              </p:cNvPr>
              <p:cNvPicPr/>
              <p:nvPr/>
            </p:nvPicPr>
            <p:blipFill>
              <a:blip r:embed="rId8"/>
              <a:stretch>
                <a:fillRect/>
              </a:stretch>
            </p:blipFill>
            <p:spPr>
              <a:xfrm>
                <a:off x="462933" y="2628537"/>
                <a:ext cx="126000" cy="126000"/>
              </a:xfrm>
              <a:prstGeom prst="rect">
                <a:avLst/>
              </a:prstGeom>
            </p:spPr>
          </p:pic>
        </mc:Fallback>
      </mc:AlternateContent>
      <p:sp>
        <p:nvSpPr>
          <p:cNvPr id="14" name="Google Shape;259;p29">
            <a:extLst>
              <a:ext uri="{FF2B5EF4-FFF2-40B4-BE49-F238E27FC236}">
                <a16:creationId xmlns:a16="http://schemas.microsoft.com/office/drawing/2014/main" id="{20D5C9AC-FDB3-B44E-C80B-D00761F1CB16}"/>
              </a:ext>
            </a:extLst>
          </p:cNvPr>
          <p:cNvSpPr/>
          <p:nvPr/>
        </p:nvSpPr>
        <p:spPr>
          <a:xfrm>
            <a:off x="525932" y="1433398"/>
            <a:ext cx="8824382"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CA8AFF88-523C-8FDF-8C9D-9CA4499F8E85}"/>
              </a:ext>
            </a:extLst>
          </p:cNvPr>
          <p:cNvSpPr txBox="1">
            <a:spLocks/>
          </p:cNvSpPr>
          <p:nvPr/>
        </p:nvSpPr>
        <p:spPr>
          <a:xfrm>
            <a:off x="604929" y="1129380"/>
            <a:ext cx="9791774"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rgbClr val="193C6A"/>
                </a:solidFill>
                <a:latin typeface="Poppins Black" panose="00000A00000000000000" pitchFamily="2" charset="0"/>
                <a:ea typeface="Cambria" pitchFamily="34" charset="-122"/>
                <a:cs typeface="Poppins Black" panose="00000A00000000000000" pitchFamily="2" charset="0"/>
              </a:rPr>
              <a:t>Mechanical Design and URDF Modeling</a:t>
            </a:r>
            <a:endParaRPr lang="en-US" sz="3200" dirty="0">
              <a:solidFill>
                <a:srgbClr val="193C6A"/>
              </a:solidFill>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3393E4FB-1AB6-6BFD-AC5F-0895B9134D8F}"/>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A2ECF823-6427-C7D0-882C-9B88D1780498}"/>
              </a:ext>
            </a:extLst>
          </p:cNvPr>
          <p:cNvSpPr txBox="1"/>
          <p:nvPr/>
        </p:nvSpPr>
        <p:spPr>
          <a:xfrm>
            <a:off x="604929" y="1705798"/>
            <a:ext cx="6109138" cy="338554"/>
          </a:xfrm>
          <a:prstGeom prst="rect">
            <a:avLst/>
          </a:prstGeom>
          <a:noFill/>
        </p:spPr>
        <p:txBody>
          <a:bodyPr wrap="square">
            <a:spAutoFit/>
          </a:bodyPr>
          <a:lstStyle/>
          <a:p>
            <a:pPr marL="0" indent="0">
              <a:buNone/>
            </a:pPr>
            <a:r>
              <a:rPr lang="en-US" sz="1600" i="1" dirty="0">
                <a:solidFill>
                  <a:srgbClr val="64748B"/>
                </a:solidFill>
                <a:latin typeface="Poppins" panose="00000500000000000000" pitchFamily="2" charset="0"/>
                <a:ea typeface="Calibri" pitchFamily="34" charset="-122"/>
                <a:cs typeface="Poppins" panose="00000500000000000000" pitchFamily="2" charset="0"/>
              </a:rPr>
              <a:t>From CAD to a simulation-ready robot description</a:t>
            </a:r>
            <a:endParaRPr lang="en-US" sz="1600" dirty="0">
              <a:latin typeface="Poppins" panose="00000500000000000000" pitchFamily="2" charset="0"/>
              <a:cs typeface="Poppins" panose="00000500000000000000" pitchFamily="2" charset="0"/>
            </a:endParaRPr>
          </a:p>
        </p:txBody>
      </p:sp>
      <p:sp>
        <p:nvSpPr>
          <p:cNvPr id="19" name="Shape 5">
            <a:extLst>
              <a:ext uri="{FF2B5EF4-FFF2-40B4-BE49-F238E27FC236}">
                <a16:creationId xmlns:a16="http://schemas.microsoft.com/office/drawing/2014/main" id="{0997D16C-651C-2891-1CF9-1532CF61A5C5}"/>
              </a:ext>
            </a:extLst>
          </p:cNvPr>
          <p:cNvSpPr/>
          <p:nvPr/>
        </p:nvSpPr>
        <p:spPr>
          <a:xfrm>
            <a:off x="604929" y="4687314"/>
            <a:ext cx="4442523" cy="1738731"/>
          </a:xfrm>
          <a:prstGeom prst="rect">
            <a:avLst/>
          </a:prstGeom>
          <a:solidFill>
            <a:srgbClr val="0A2540"/>
          </a:solidFill>
          <a:ln w="12700">
            <a:solidFill>
              <a:srgbClr val="0A2540"/>
            </a:solidFill>
            <a:prstDash val="solid"/>
          </a:ln>
          <a:effectLst>
            <a:outerShdw blurRad="50800" dist="38100" dir="2700000" algn="tl" rotWithShape="0">
              <a:prstClr val="black">
                <a:alpha val="40000"/>
              </a:prstClr>
            </a:outerShdw>
          </a:effectLst>
        </p:spPr>
        <p:txBody>
          <a:bodyPr/>
          <a:lstStyle/>
          <a:p>
            <a:endParaRPr lang="it-IT"/>
          </a:p>
        </p:txBody>
      </p:sp>
      <p:sp>
        <p:nvSpPr>
          <p:cNvPr id="20" name="Shape 6">
            <a:extLst>
              <a:ext uri="{FF2B5EF4-FFF2-40B4-BE49-F238E27FC236}">
                <a16:creationId xmlns:a16="http://schemas.microsoft.com/office/drawing/2014/main" id="{95F406B4-70E3-FB42-987D-77AD762766F4}"/>
              </a:ext>
            </a:extLst>
          </p:cNvPr>
          <p:cNvSpPr/>
          <p:nvPr/>
        </p:nvSpPr>
        <p:spPr>
          <a:xfrm>
            <a:off x="604929" y="4687314"/>
            <a:ext cx="115992" cy="1734051"/>
          </a:xfrm>
          <a:prstGeom prst="rect">
            <a:avLst/>
          </a:prstGeom>
          <a:solidFill>
            <a:srgbClr val="E8A33D"/>
          </a:solidFill>
          <a:ln w="12700">
            <a:solidFill>
              <a:srgbClr val="E8A33D"/>
            </a:solidFill>
            <a:prstDash val="solid"/>
          </a:ln>
        </p:spPr>
        <p:txBody>
          <a:bodyPr/>
          <a:lstStyle/>
          <a:p>
            <a:endParaRPr lang="it-IT"/>
          </a:p>
        </p:txBody>
      </p:sp>
      <p:pic>
        <p:nvPicPr>
          <p:cNvPr id="21" name="Image 0" descr="preencoded.png">
            <a:extLst>
              <a:ext uri="{FF2B5EF4-FFF2-40B4-BE49-F238E27FC236}">
                <a16:creationId xmlns:a16="http://schemas.microsoft.com/office/drawing/2014/main" id="{CE2EA7AF-3C88-4910-CC36-F71A410D7F92}"/>
              </a:ext>
            </a:extLst>
          </p:cNvPr>
          <p:cNvPicPr>
            <a:picLocks noChangeAspect="1"/>
          </p:cNvPicPr>
          <p:nvPr/>
        </p:nvPicPr>
        <p:blipFill>
          <a:blip r:embed="rId9"/>
          <a:stretch>
            <a:fillRect/>
          </a:stretch>
        </p:blipFill>
        <p:spPr>
          <a:xfrm>
            <a:off x="975586" y="4854974"/>
            <a:ext cx="269423" cy="269423"/>
          </a:xfrm>
          <a:prstGeom prst="rect">
            <a:avLst/>
          </a:prstGeom>
        </p:spPr>
      </p:pic>
      <p:sp>
        <p:nvSpPr>
          <p:cNvPr id="22" name="Text 7">
            <a:extLst>
              <a:ext uri="{FF2B5EF4-FFF2-40B4-BE49-F238E27FC236}">
                <a16:creationId xmlns:a16="http://schemas.microsoft.com/office/drawing/2014/main" id="{25B5929F-3B90-ADBE-CEE6-9CE330D3528A}"/>
              </a:ext>
            </a:extLst>
          </p:cNvPr>
          <p:cNvSpPr/>
          <p:nvPr/>
        </p:nvSpPr>
        <p:spPr>
          <a:xfrm>
            <a:off x="1336449" y="4772220"/>
            <a:ext cx="3500481" cy="457200"/>
          </a:xfrm>
          <a:prstGeom prst="rect">
            <a:avLst/>
          </a:prstGeom>
          <a:noFill/>
          <a:ln/>
        </p:spPr>
        <p:txBody>
          <a:bodyPr wrap="square" lIns="0" tIns="0" rIns="0" bIns="0" rtlCol="0" anchor="ctr"/>
          <a:lstStyle/>
          <a:p>
            <a:pPr marL="0" indent="0">
              <a:buNone/>
            </a:pPr>
            <a:r>
              <a:rPr lang="en-US" sz="1400" dirty="0">
                <a:solidFill>
                  <a:srgbClr val="FFFFFF"/>
                </a:solidFill>
                <a:latin typeface="Poppins Black" panose="00000A00000000000000" pitchFamily="2" charset="0"/>
                <a:ea typeface="Cambria" pitchFamily="34" charset="-122"/>
                <a:cs typeface="Poppins Black" panose="00000A00000000000000" pitchFamily="2" charset="0"/>
              </a:rPr>
              <a:t>The closed kinematic chain problem</a:t>
            </a:r>
            <a:endParaRPr lang="en-US" sz="1400" dirty="0">
              <a:latin typeface="Poppins Black" panose="00000A00000000000000" pitchFamily="2" charset="0"/>
              <a:cs typeface="Poppins Black" panose="00000A00000000000000" pitchFamily="2" charset="0"/>
            </a:endParaRPr>
          </a:p>
        </p:txBody>
      </p:sp>
      <p:sp>
        <p:nvSpPr>
          <p:cNvPr id="23" name="Text 8">
            <a:extLst>
              <a:ext uri="{FF2B5EF4-FFF2-40B4-BE49-F238E27FC236}">
                <a16:creationId xmlns:a16="http://schemas.microsoft.com/office/drawing/2014/main" id="{754EB503-1A1F-9670-987E-3AF2530D5241}"/>
              </a:ext>
            </a:extLst>
          </p:cNvPr>
          <p:cNvSpPr/>
          <p:nvPr/>
        </p:nvSpPr>
        <p:spPr>
          <a:xfrm>
            <a:off x="833529" y="5008725"/>
            <a:ext cx="4119393" cy="1417320"/>
          </a:xfrm>
          <a:prstGeom prst="rect">
            <a:avLst/>
          </a:prstGeom>
          <a:noFill/>
          <a:ln/>
        </p:spPr>
        <p:txBody>
          <a:bodyPr wrap="square" rtlCol="0" anchor="ctr"/>
          <a:lstStyle/>
          <a:p>
            <a:pPr>
              <a:spcAft>
                <a:spcPts val="400"/>
              </a:spcAft>
              <a:buSzPct val="100000"/>
            </a:pPr>
            <a:r>
              <a:rPr lang="en-US" sz="1200" dirty="0">
                <a:solidFill>
                  <a:srgbClr val="CADCFC"/>
                </a:solidFill>
                <a:latin typeface="Poppins" panose="00000500000000000000" pitchFamily="2" charset="0"/>
                <a:ea typeface="Calibri" pitchFamily="34" charset="-122"/>
                <a:cs typeface="Poppins" panose="00000500000000000000" pitchFamily="2" charset="0"/>
              </a:rPr>
              <a:t>URDF does </a:t>
            </a:r>
            <a:r>
              <a:rPr lang="en-US" sz="1200" b="1" dirty="0">
                <a:solidFill>
                  <a:srgbClr val="CADCFC"/>
                </a:solidFill>
                <a:latin typeface="Poppins" panose="00000500000000000000" pitchFamily="2" charset="0"/>
                <a:ea typeface="Calibri" pitchFamily="34" charset="-122"/>
                <a:cs typeface="Poppins" panose="00000500000000000000" pitchFamily="2" charset="0"/>
              </a:rPr>
              <a:t>NOT</a:t>
            </a:r>
            <a:r>
              <a:rPr lang="en-US" sz="1200" dirty="0">
                <a:solidFill>
                  <a:srgbClr val="CADCFC"/>
                </a:solidFill>
                <a:latin typeface="Poppins" panose="00000500000000000000" pitchFamily="2" charset="0"/>
                <a:ea typeface="Calibri" pitchFamily="34" charset="-122"/>
                <a:cs typeface="Poppins" panose="00000500000000000000" pitchFamily="2" charset="0"/>
              </a:rPr>
              <a:t> support closed-loop topologies</a:t>
            </a:r>
            <a:endParaRPr lang="en-US" sz="1200" dirty="0">
              <a:latin typeface="Poppins" panose="00000500000000000000" pitchFamily="2" charset="0"/>
              <a:cs typeface="Poppins" panose="00000500000000000000" pitchFamily="2" charset="0"/>
            </a:endParaRPr>
          </a:p>
          <a:p>
            <a:pPr>
              <a:spcAft>
                <a:spcPts val="400"/>
              </a:spcAft>
              <a:buSzPct val="100000"/>
            </a:pPr>
            <a:r>
              <a:rPr lang="en-US" sz="1200" b="1" dirty="0">
                <a:solidFill>
                  <a:srgbClr val="CADCFC"/>
                </a:solidFill>
                <a:latin typeface="Poppins" panose="00000500000000000000" pitchFamily="2" charset="0"/>
                <a:ea typeface="Calibri" pitchFamily="34" charset="-122"/>
                <a:cs typeface="Poppins" panose="00000500000000000000" pitchFamily="2" charset="0"/>
              </a:rPr>
              <a:t>Strategy</a:t>
            </a:r>
            <a:r>
              <a:rPr lang="en-US" sz="1200" dirty="0">
                <a:solidFill>
                  <a:srgbClr val="CADCFC"/>
                </a:solidFill>
                <a:latin typeface="Poppins" panose="00000500000000000000" pitchFamily="2" charset="0"/>
                <a:ea typeface="Calibri" pitchFamily="34" charset="-122"/>
                <a:cs typeface="Poppins" panose="00000500000000000000" pitchFamily="2" charset="0"/>
              </a:rPr>
              <a:t>: open selected revolute joints and replace them with coincident auxiliary frames</a:t>
            </a:r>
            <a:endParaRPr lang="en-US" sz="1200" dirty="0">
              <a:latin typeface="Poppins" panose="00000500000000000000" pitchFamily="2" charset="0"/>
              <a:cs typeface="Poppins" panose="00000500000000000000" pitchFamily="2" charset="0"/>
            </a:endParaRPr>
          </a:p>
          <a:p>
            <a:pPr>
              <a:spcAft>
                <a:spcPts val="400"/>
              </a:spcAft>
              <a:buSzPct val="100000"/>
            </a:pPr>
            <a:r>
              <a:rPr lang="en-US" sz="1200" dirty="0">
                <a:solidFill>
                  <a:srgbClr val="CADCFC"/>
                </a:solidFill>
                <a:latin typeface="Poppins" panose="00000500000000000000" pitchFamily="2" charset="0"/>
                <a:ea typeface="Calibri" pitchFamily="34" charset="-122"/>
                <a:cs typeface="Poppins" panose="00000500000000000000" pitchFamily="2" charset="0"/>
              </a:rPr>
              <a:t>Loop-closure enforced numerically at runtime</a:t>
            </a:r>
            <a:endParaRPr lang="en-US" sz="1200" dirty="0">
              <a:latin typeface="Poppins" panose="00000500000000000000" pitchFamily="2" charset="0"/>
              <a:cs typeface="Poppins" panose="00000500000000000000" pitchFamily="2" charset="0"/>
            </a:endParaRPr>
          </a:p>
        </p:txBody>
      </p:sp>
      <p:sp>
        <p:nvSpPr>
          <p:cNvPr id="24" name="Text 4">
            <a:extLst>
              <a:ext uri="{FF2B5EF4-FFF2-40B4-BE49-F238E27FC236}">
                <a16:creationId xmlns:a16="http://schemas.microsoft.com/office/drawing/2014/main" id="{87DEB28D-7231-3419-6E08-8839721D62E9}"/>
              </a:ext>
            </a:extLst>
          </p:cNvPr>
          <p:cNvSpPr/>
          <p:nvPr/>
        </p:nvSpPr>
        <p:spPr>
          <a:xfrm>
            <a:off x="604929" y="2512777"/>
            <a:ext cx="4232001" cy="1828800"/>
          </a:xfrm>
          <a:prstGeom prst="rect">
            <a:avLst/>
          </a:prstGeom>
          <a:noFill/>
          <a:ln/>
        </p:spPr>
        <p:txBody>
          <a:bodyPr wrap="square" rtlCol="0" anchor="ctr"/>
          <a:lstStyle/>
          <a:p>
            <a:pPr>
              <a:spcAft>
                <a:spcPts val="600"/>
              </a:spcAft>
              <a:buSzPct val="100000"/>
            </a:pPr>
            <a:r>
              <a:rPr lang="en-US" sz="1600" dirty="0">
                <a:solidFill>
                  <a:srgbClr val="193C6A"/>
                </a:solidFill>
                <a:latin typeface="Poppins Black" panose="00000A00000000000000" pitchFamily="2" charset="0"/>
                <a:ea typeface="Calibri" pitchFamily="34" charset="-122"/>
                <a:cs typeface="Poppins Black" panose="00000A00000000000000" pitchFamily="2" charset="0"/>
              </a:rPr>
              <a:t>Pipeline:</a:t>
            </a:r>
            <a:endParaRPr lang="en-US" sz="1200" dirty="0">
              <a:solidFill>
                <a:srgbClr val="1E293B"/>
              </a:solidFill>
              <a:latin typeface="Poppins" panose="00000500000000000000" pitchFamily="2" charset="0"/>
              <a:ea typeface="Calibri" pitchFamily="34" charset="-122"/>
              <a:cs typeface="Poppins" panose="00000500000000000000" pitchFamily="2" charset="0"/>
            </a:endParaRPr>
          </a:p>
          <a:p>
            <a:pPr marL="342900" indent="-342900">
              <a:spcAft>
                <a:spcPts val="600"/>
              </a:spcAft>
              <a:buSzPct val="100000"/>
              <a:buFont typeface="+mj-lt"/>
              <a:buAutoNum type="arabicPeriod"/>
            </a:pPr>
            <a:r>
              <a:rPr lang="en-US" sz="1200" dirty="0">
                <a:solidFill>
                  <a:srgbClr val="1E293B"/>
                </a:solidFill>
                <a:latin typeface="Poppins" panose="00000500000000000000" pitchFamily="2" charset="0"/>
                <a:ea typeface="Calibri" pitchFamily="34" charset="-122"/>
                <a:cs typeface="Poppins" panose="00000500000000000000" pitchFamily="2" charset="0"/>
              </a:rPr>
              <a:t>Parametric CAD modeling in Fusion 360 from </a:t>
            </a:r>
            <a:r>
              <a:rPr lang="en-US" sz="1200" u="sng" dirty="0">
                <a:solidFill>
                  <a:srgbClr val="1E293B"/>
                </a:solidFill>
                <a:latin typeface="Poppins" panose="00000500000000000000" pitchFamily="2" charset="0"/>
                <a:ea typeface="Calibri" pitchFamily="34" charset="-122"/>
                <a:cs typeface="Poppins" panose="00000500000000000000" pitchFamily="2" charset="0"/>
              </a:rPr>
              <a:t>Bartalucci</a:t>
            </a:r>
            <a:r>
              <a:rPr lang="en-US" sz="1200" dirty="0">
                <a:solidFill>
                  <a:srgbClr val="1E293B"/>
                </a:solidFill>
                <a:latin typeface="Poppins" panose="00000500000000000000" pitchFamily="2" charset="0"/>
                <a:ea typeface="Calibri" pitchFamily="34" charset="-122"/>
                <a:cs typeface="Poppins" panose="00000500000000000000" pitchFamily="2" charset="0"/>
              </a:rPr>
              <a:t>'s reference dimensions (no technical drawing was provided)</a:t>
            </a:r>
            <a:endParaRPr lang="en-US" sz="1200" dirty="0">
              <a:latin typeface="Poppins" panose="00000500000000000000" pitchFamily="2" charset="0"/>
              <a:cs typeface="Poppins" panose="00000500000000000000" pitchFamily="2" charset="0"/>
            </a:endParaRPr>
          </a:p>
          <a:p>
            <a:pPr marL="342900" indent="-342900">
              <a:spcAft>
                <a:spcPts val="600"/>
              </a:spcAft>
              <a:buSzPct val="100000"/>
              <a:buFont typeface="+mj-lt"/>
              <a:buAutoNum type="arabicPeriod"/>
            </a:pPr>
            <a:r>
              <a:rPr lang="en-US" sz="1200" dirty="0">
                <a:solidFill>
                  <a:srgbClr val="1E293B"/>
                </a:solidFill>
                <a:latin typeface="Poppins" panose="00000500000000000000" pitchFamily="2" charset="0"/>
                <a:ea typeface="Calibri" pitchFamily="34" charset="-122"/>
                <a:cs typeface="Poppins" panose="00000500000000000000" pitchFamily="2" charset="0"/>
              </a:rPr>
              <a:t>Geometric and structural validation against the original assembly</a:t>
            </a:r>
            <a:endParaRPr lang="en-US" sz="1200" dirty="0">
              <a:latin typeface="Poppins" panose="00000500000000000000" pitchFamily="2" charset="0"/>
              <a:cs typeface="Poppins" panose="00000500000000000000" pitchFamily="2" charset="0"/>
            </a:endParaRPr>
          </a:p>
          <a:p>
            <a:pPr marL="342900" indent="-342900">
              <a:spcAft>
                <a:spcPts val="600"/>
              </a:spcAft>
              <a:buSzPct val="100000"/>
              <a:buFont typeface="+mj-lt"/>
              <a:buAutoNum type="arabicPeriod"/>
            </a:pPr>
            <a:r>
              <a:rPr lang="en-US" sz="1200" dirty="0">
                <a:solidFill>
                  <a:srgbClr val="1E293B"/>
                </a:solidFill>
                <a:latin typeface="Poppins" panose="00000500000000000000" pitchFamily="2" charset="0"/>
                <a:ea typeface="Calibri" pitchFamily="34" charset="-122"/>
                <a:cs typeface="Poppins" panose="00000500000000000000" pitchFamily="2" charset="0"/>
              </a:rPr>
              <a:t>URDF generation through the </a:t>
            </a:r>
            <a:r>
              <a:rPr lang="en-US" sz="1200" b="1" dirty="0">
                <a:solidFill>
                  <a:srgbClr val="1E293B"/>
                </a:solidFill>
                <a:latin typeface="Poppins" panose="00000500000000000000" pitchFamily="2" charset="0"/>
                <a:ea typeface="Calibri" pitchFamily="34" charset="-122"/>
                <a:cs typeface="Poppins" panose="00000500000000000000" pitchFamily="2" charset="0"/>
              </a:rPr>
              <a:t>ACDC4Robot</a:t>
            </a:r>
            <a:r>
              <a:rPr lang="en-US" sz="1200" dirty="0">
                <a:solidFill>
                  <a:srgbClr val="1E293B"/>
                </a:solidFill>
                <a:latin typeface="Poppins" panose="00000500000000000000" pitchFamily="2" charset="0"/>
                <a:ea typeface="Calibri" pitchFamily="34" charset="-122"/>
                <a:cs typeface="Poppins" panose="00000500000000000000" pitchFamily="2" charset="0"/>
              </a:rPr>
              <a:t> plugin</a:t>
            </a:r>
            <a:endParaRPr lang="en-US" sz="1200" dirty="0">
              <a:latin typeface="Poppins" panose="00000500000000000000" pitchFamily="2" charset="0"/>
              <a:cs typeface="Poppins" panose="00000500000000000000" pitchFamily="2" charset="0"/>
            </a:endParaRPr>
          </a:p>
          <a:p>
            <a:pPr marL="342900" indent="-342900">
              <a:spcAft>
                <a:spcPts val="600"/>
              </a:spcAft>
              <a:buSzPct val="100000"/>
              <a:buFont typeface="+mj-lt"/>
              <a:buAutoNum type="arabicPeriod"/>
            </a:pPr>
            <a:r>
              <a:rPr lang="en-US" sz="1200" dirty="0">
                <a:solidFill>
                  <a:srgbClr val="1E293B"/>
                </a:solidFill>
                <a:latin typeface="Poppins" panose="00000500000000000000" pitchFamily="2" charset="0"/>
                <a:ea typeface="Calibri" pitchFamily="34" charset="-122"/>
                <a:cs typeface="Poppins" panose="00000500000000000000" pitchFamily="2" charset="0"/>
              </a:rPr>
              <a:t>Integration into the ROS 2 description package for visualization and simulation</a:t>
            </a:r>
            <a:endParaRPr lang="en-US" sz="1200" dirty="0">
              <a:latin typeface="Poppins" panose="00000500000000000000" pitchFamily="2" charset="0"/>
              <a:cs typeface="Poppins" panose="00000500000000000000" pitchFamily="2" charset="0"/>
            </a:endParaRPr>
          </a:p>
        </p:txBody>
      </p:sp>
      <p:pic>
        <p:nvPicPr>
          <p:cNvPr id="26" name="Picture 25">
            <a:extLst>
              <a:ext uri="{FF2B5EF4-FFF2-40B4-BE49-F238E27FC236}">
                <a16:creationId xmlns:a16="http://schemas.microsoft.com/office/drawing/2014/main" id="{746F057F-FDA9-BFD7-2E0C-A8273305426F}"/>
              </a:ext>
            </a:extLst>
          </p:cNvPr>
          <p:cNvPicPr>
            <a:picLocks noChangeAspect="1"/>
          </p:cNvPicPr>
          <p:nvPr/>
        </p:nvPicPr>
        <p:blipFill>
          <a:blip r:embed="rId10"/>
          <a:stretch>
            <a:fillRect/>
          </a:stretch>
        </p:blipFill>
        <p:spPr>
          <a:xfrm>
            <a:off x="5452458" y="2254995"/>
            <a:ext cx="5976582" cy="3743227"/>
          </a:xfrm>
          <a:prstGeom prst="rect">
            <a:avLst/>
          </a:prstGeom>
        </p:spPr>
      </p:pic>
      <p:sp>
        <p:nvSpPr>
          <p:cNvPr id="27" name="TextBox 26">
            <a:extLst>
              <a:ext uri="{FF2B5EF4-FFF2-40B4-BE49-F238E27FC236}">
                <a16:creationId xmlns:a16="http://schemas.microsoft.com/office/drawing/2014/main" id="{7020C8A4-271F-1403-E3DD-8A572AF34F87}"/>
              </a:ext>
            </a:extLst>
          </p:cNvPr>
          <p:cNvSpPr txBox="1"/>
          <p:nvPr/>
        </p:nvSpPr>
        <p:spPr>
          <a:xfrm>
            <a:off x="5549373" y="6236417"/>
            <a:ext cx="6094301" cy="369332"/>
          </a:xfrm>
          <a:prstGeom prst="rect">
            <a:avLst/>
          </a:prstGeom>
          <a:noFill/>
        </p:spPr>
        <p:txBody>
          <a:bodyPr wrap="square" rtlCol="0">
            <a:spAutoFit/>
          </a:bodyPr>
          <a:lstStyle/>
          <a:p>
            <a:r>
              <a:rPr lang="it-IT" sz="900" dirty="0">
                <a:solidFill>
                  <a:schemeClr val="tx1">
                    <a:lumMod val="75000"/>
                    <a:lumOff val="25000"/>
                  </a:schemeClr>
                </a:solidFill>
                <a:latin typeface="Poppins" panose="00000500000000000000" pitchFamily="2" charset="0"/>
                <a:cs typeface="Poppins" panose="00000500000000000000" pitchFamily="2" charset="0"/>
              </a:rPr>
              <a:t>Eng. </a:t>
            </a:r>
            <a:r>
              <a:rPr lang="it-IT" sz="900" u="sng" dirty="0">
                <a:solidFill>
                  <a:schemeClr val="tx1">
                    <a:lumMod val="75000"/>
                    <a:lumOff val="25000"/>
                  </a:schemeClr>
                </a:solidFill>
                <a:latin typeface="Poppins" panose="00000500000000000000" pitchFamily="2" charset="0"/>
                <a:cs typeface="Poppins" panose="00000500000000000000" pitchFamily="2" charset="0"/>
              </a:rPr>
              <a:t>Bartalucci</a:t>
            </a:r>
            <a:r>
              <a:rPr lang="it-IT" sz="900" dirty="0">
                <a:solidFill>
                  <a:schemeClr val="tx1">
                    <a:lumMod val="75000"/>
                    <a:lumOff val="25000"/>
                  </a:schemeClr>
                </a:solidFill>
                <a:latin typeface="Poppins" panose="00000500000000000000" pitchFamily="2" charset="0"/>
                <a:cs typeface="Poppins" panose="00000500000000000000" pitchFamily="2" charset="0"/>
              </a:rPr>
              <a:t> has collaborated with HumanWare in the first prototyping phase during his thesis work and some results were presented there </a:t>
            </a:r>
          </a:p>
        </p:txBody>
      </p:sp>
    </p:spTree>
    <p:extLst>
      <p:ext uri="{BB962C8B-B14F-4D97-AF65-F5344CB8AC3E}">
        <p14:creationId xmlns:p14="http://schemas.microsoft.com/office/powerpoint/2010/main" val="4062533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D673F-3AF3-795F-4A9D-CE9001931AF7}"/>
            </a:ext>
          </a:extLst>
        </p:cNvPr>
        <p:cNvGrpSpPr/>
        <p:nvPr/>
      </p:nvGrpSpPr>
      <p:grpSpPr>
        <a:xfrm>
          <a:off x="0" y="0"/>
          <a:ext cx="0" cy="0"/>
          <a:chOff x="0" y="0"/>
          <a:chExt cx="0" cy="0"/>
        </a:xfrm>
      </p:grpSpPr>
      <p:sp>
        <p:nvSpPr>
          <p:cNvPr id="36" name="Shape 33">
            <a:extLst>
              <a:ext uri="{FF2B5EF4-FFF2-40B4-BE49-F238E27FC236}">
                <a16:creationId xmlns:a16="http://schemas.microsoft.com/office/drawing/2014/main" id="{BA43DAD3-0F28-BC26-56C8-254CE1AF90CE}"/>
              </a:ext>
            </a:extLst>
          </p:cNvPr>
          <p:cNvSpPr/>
          <p:nvPr/>
        </p:nvSpPr>
        <p:spPr>
          <a:xfrm>
            <a:off x="8196416" y="4288331"/>
            <a:ext cx="3455243" cy="612600"/>
          </a:xfrm>
          <a:prstGeom prst="rect">
            <a:avLst/>
          </a:prstGeom>
          <a:solidFill>
            <a:srgbClr val="E8EEF3"/>
          </a:solidFill>
          <a:ln w="12700">
            <a:solidFill>
              <a:srgbClr val="E8EEF3"/>
            </a:solidFill>
            <a:prstDash val="solid"/>
          </a:ln>
          <a:effectLst>
            <a:softEdge rad="63500"/>
          </a:effectLst>
        </p:spPr>
        <p:txBody>
          <a:bodyPr/>
          <a:lstStyle/>
          <a:p>
            <a:endParaRPr lang="it-IT"/>
          </a:p>
        </p:txBody>
      </p:sp>
      <p:sp>
        <p:nvSpPr>
          <p:cNvPr id="35" name="Shape 33">
            <a:extLst>
              <a:ext uri="{FF2B5EF4-FFF2-40B4-BE49-F238E27FC236}">
                <a16:creationId xmlns:a16="http://schemas.microsoft.com/office/drawing/2014/main" id="{42D0F97F-AFE9-68D4-7AB3-DBAD8C9DDE42}"/>
              </a:ext>
            </a:extLst>
          </p:cNvPr>
          <p:cNvSpPr/>
          <p:nvPr/>
        </p:nvSpPr>
        <p:spPr>
          <a:xfrm>
            <a:off x="4314002" y="4288331"/>
            <a:ext cx="3455243" cy="612600"/>
          </a:xfrm>
          <a:prstGeom prst="rect">
            <a:avLst/>
          </a:prstGeom>
          <a:solidFill>
            <a:srgbClr val="E8EEF3"/>
          </a:solidFill>
          <a:ln w="12700">
            <a:solidFill>
              <a:srgbClr val="E8EEF3"/>
            </a:solidFill>
            <a:prstDash val="solid"/>
          </a:ln>
          <a:effectLst>
            <a:softEdge rad="63500"/>
          </a:effectLst>
        </p:spPr>
        <p:txBody>
          <a:bodyPr/>
          <a:lstStyle/>
          <a:p>
            <a:endParaRPr lang="it-IT"/>
          </a:p>
        </p:txBody>
      </p:sp>
      <p:sp>
        <p:nvSpPr>
          <p:cNvPr id="34" name="Shape 33">
            <a:extLst>
              <a:ext uri="{FF2B5EF4-FFF2-40B4-BE49-F238E27FC236}">
                <a16:creationId xmlns:a16="http://schemas.microsoft.com/office/drawing/2014/main" id="{F2E77D42-BBD3-4EBF-BED3-3E7EF9B1591B}"/>
              </a:ext>
            </a:extLst>
          </p:cNvPr>
          <p:cNvSpPr/>
          <p:nvPr/>
        </p:nvSpPr>
        <p:spPr>
          <a:xfrm>
            <a:off x="449310" y="4261172"/>
            <a:ext cx="3455243" cy="612600"/>
          </a:xfrm>
          <a:prstGeom prst="rect">
            <a:avLst/>
          </a:prstGeom>
          <a:solidFill>
            <a:srgbClr val="E8EEF3"/>
          </a:solidFill>
          <a:ln w="12700">
            <a:solidFill>
              <a:srgbClr val="E8EEF3"/>
            </a:solidFill>
            <a:prstDash val="solid"/>
          </a:ln>
          <a:effectLst>
            <a:softEdge rad="63500"/>
          </a:effectLst>
        </p:spPr>
        <p:txBody>
          <a:bodyPr/>
          <a:lstStyle/>
          <a:p>
            <a:endParaRPr lang="it-IT" dirty="0"/>
          </a:p>
        </p:txBody>
      </p:sp>
      <p:sp>
        <p:nvSpPr>
          <p:cNvPr id="28" name="Shape 3">
            <a:extLst>
              <a:ext uri="{FF2B5EF4-FFF2-40B4-BE49-F238E27FC236}">
                <a16:creationId xmlns:a16="http://schemas.microsoft.com/office/drawing/2014/main" id="{44A73A5C-F5DF-7C3E-CF7C-346975B0364C}"/>
              </a:ext>
            </a:extLst>
          </p:cNvPr>
          <p:cNvSpPr/>
          <p:nvPr/>
        </p:nvSpPr>
        <p:spPr>
          <a:xfrm>
            <a:off x="8413898" y="2248362"/>
            <a:ext cx="3078301" cy="189810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25" name="Shape 3">
            <a:extLst>
              <a:ext uri="{FF2B5EF4-FFF2-40B4-BE49-F238E27FC236}">
                <a16:creationId xmlns:a16="http://schemas.microsoft.com/office/drawing/2014/main" id="{5D4A5B2C-C9FF-1C50-3BFD-A731E4D201CF}"/>
              </a:ext>
            </a:extLst>
          </p:cNvPr>
          <p:cNvSpPr/>
          <p:nvPr/>
        </p:nvSpPr>
        <p:spPr>
          <a:xfrm>
            <a:off x="4525841" y="2285297"/>
            <a:ext cx="3078301" cy="189810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18" name="Shape 3">
            <a:extLst>
              <a:ext uri="{FF2B5EF4-FFF2-40B4-BE49-F238E27FC236}">
                <a16:creationId xmlns:a16="http://schemas.microsoft.com/office/drawing/2014/main" id="{FF773AD3-45B2-6F44-A0EC-4399FCE06143}"/>
              </a:ext>
            </a:extLst>
          </p:cNvPr>
          <p:cNvSpPr/>
          <p:nvPr/>
        </p:nvSpPr>
        <p:spPr>
          <a:xfrm>
            <a:off x="637782" y="2283348"/>
            <a:ext cx="3078301" cy="189810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3" name="Sottotitolo 2">
            <a:extLst>
              <a:ext uri="{FF2B5EF4-FFF2-40B4-BE49-F238E27FC236}">
                <a16:creationId xmlns:a16="http://schemas.microsoft.com/office/drawing/2014/main" id="{715C75FB-C7A0-8D47-9513-3BD93D24283F}"/>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B748D073-789A-CB47-07C6-BB343A37A879}"/>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380382F8-A63C-6296-A19A-83BCBD0F84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1FBC2A67-9635-179C-4AD7-F05DE68E2147}"/>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1FBC2A67-9635-179C-4AD7-F05DE68E2147}"/>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BC67590E-D1E9-5676-5FD0-948CC3B53BE6}"/>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BC67590E-D1E9-5676-5FD0-948CC3B53BE6}"/>
                  </a:ext>
                </a:extLst>
              </p:cNvPr>
              <p:cNvPicPr/>
              <p:nvPr/>
            </p:nvPicPr>
            <p:blipFill>
              <a:blip r:embed="rId6"/>
              <a:stretch>
                <a:fillRect/>
              </a:stretch>
            </p:blipFill>
            <p:spPr>
              <a:xfrm>
                <a:off x="5259213" y="963076"/>
                <a:ext cx="1950120" cy="35156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26EF4DBA-0E53-0DA7-F737-DFDC9FD5C5AD}"/>
                  </a:ext>
                </a:extLst>
              </p14:cNvPr>
              <p14:cNvContentPartPr/>
              <p14:nvPr/>
            </p14:nvContentPartPr>
            <p14:xfrm>
              <a:off x="813934" y="2432430"/>
              <a:ext cx="360" cy="360"/>
            </p14:xfrm>
          </p:contentPart>
        </mc:Choice>
        <mc:Fallback xmlns="">
          <p:pic>
            <p:nvPicPr>
              <p:cNvPr id="13" name="Ink 12">
                <a:extLst>
                  <a:ext uri="{FF2B5EF4-FFF2-40B4-BE49-F238E27FC236}">
                    <a16:creationId xmlns:a16="http://schemas.microsoft.com/office/drawing/2014/main" id="{26EF4DBA-0E53-0DA7-F737-DFDC9FD5C5AD}"/>
                  </a:ext>
                </a:extLst>
              </p:cNvPr>
              <p:cNvPicPr/>
              <p:nvPr/>
            </p:nvPicPr>
            <p:blipFill>
              <a:blip r:embed="rId8"/>
              <a:stretch>
                <a:fillRect/>
              </a:stretch>
            </p:blipFill>
            <p:spPr>
              <a:xfrm>
                <a:off x="750934" y="2369430"/>
                <a:ext cx="126000" cy="126000"/>
              </a:xfrm>
              <a:prstGeom prst="rect">
                <a:avLst/>
              </a:prstGeom>
            </p:spPr>
          </p:pic>
        </mc:Fallback>
      </mc:AlternateContent>
      <p:sp>
        <p:nvSpPr>
          <p:cNvPr id="14" name="Google Shape;259;p29">
            <a:extLst>
              <a:ext uri="{FF2B5EF4-FFF2-40B4-BE49-F238E27FC236}">
                <a16:creationId xmlns:a16="http://schemas.microsoft.com/office/drawing/2014/main" id="{81F5C2B6-B1EE-0F9D-1DD7-A823D19FB481}"/>
              </a:ext>
            </a:extLst>
          </p:cNvPr>
          <p:cNvSpPr/>
          <p:nvPr/>
        </p:nvSpPr>
        <p:spPr>
          <a:xfrm>
            <a:off x="525932" y="1433398"/>
            <a:ext cx="8824382"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B7475673-2937-8EE7-888A-8DBB500E599B}"/>
              </a:ext>
            </a:extLst>
          </p:cNvPr>
          <p:cNvSpPr txBox="1">
            <a:spLocks/>
          </p:cNvSpPr>
          <p:nvPr/>
        </p:nvSpPr>
        <p:spPr>
          <a:xfrm>
            <a:off x="604929" y="1129380"/>
            <a:ext cx="9791774"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rgbClr val="193C6A"/>
                </a:solidFill>
                <a:latin typeface="Poppins Black" panose="00000A00000000000000" pitchFamily="2" charset="0"/>
                <a:ea typeface="Cambria" pitchFamily="34" charset="-122"/>
                <a:cs typeface="Poppins Black" panose="00000A00000000000000" pitchFamily="2" charset="0"/>
              </a:rPr>
              <a:t>Mechanical Design and URDF Modeling</a:t>
            </a:r>
            <a:endParaRPr lang="en-US" sz="3200" dirty="0">
              <a:solidFill>
                <a:srgbClr val="193C6A"/>
              </a:solidFill>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B514950B-75D6-37F2-FB45-C19A86DFD3D0}"/>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D60E9FB8-58E4-D20F-D7AC-A962BF05AE44}"/>
              </a:ext>
            </a:extLst>
          </p:cNvPr>
          <p:cNvSpPr txBox="1"/>
          <p:nvPr/>
        </p:nvSpPr>
        <p:spPr>
          <a:xfrm>
            <a:off x="604929" y="1705798"/>
            <a:ext cx="6109138" cy="338554"/>
          </a:xfrm>
          <a:prstGeom prst="rect">
            <a:avLst/>
          </a:prstGeom>
          <a:noFill/>
        </p:spPr>
        <p:txBody>
          <a:bodyPr wrap="square">
            <a:spAutoFit/>
          </a:bodyPr>
          <a:lstStyle/>
          <a:p>
            <a:pPr marL="0" indent="0">
              <a:buNone/>
            </a:pPr>
            <a:r>
              <a:rPr lang="en-US" sz="1600" i="1" dirty="0">
                <a:solidFill>
                  <a:srgbClr val="64748B"/>
                </a:solidFill>
                <a:latin typeface="Poppins" panose="00000500000000000000" pitchFamily="2" charset="0"/>
                <a:ea typeface="Calibri" pitchFamily="34" charset="-122"/>
                <a:cs typeface="Poppins" panose="00000500000000000000" pitchFamily="2" charset="0"/>
              </a:rPr>
              <a:t>From CAD to a simulation-ready robot description</a:t>
            </a:r>
            <a:endParaRPr lang="en-US" sz="1600" dirty="0">
              <a:latin typeface="Poppins" panose="00000500000000000000" pitchFamily="2" charset="0"/>
              <a:cs typeface="Poppins" panose="00000500000000000000" pitchFamily="2" charset="0"/>
            </a:endParaRPr>
          </a:p>
        </p:txBody>
      </p:sp>
      <p:pic>
        <p:nvPicPr>
          <p:cNvPr id="7" name="Picture 6">
            <a:extLst>
              <a:ext uri="{FF2B5EF4-FFF2-40B4-BE49-F238E27FC236}">
                <a16:creationId xmlns:a16="http://schemas.microsoft.com/office/drawing/2014/main" id="{89CC2C3B-221E-C146-80F0-837E5C7E00AF}"/>
              </a:ext>
            </a:extLst>
          </p:cNvPr>
          <p:cNvPicPr>
            <a:picLocks noChangeAspect="1"/>
          </p:cNvPicPr>
          <p:nvPr/>
        </p:nvPicPr>
        <p:blipFill>
          <a:blip r:embed="rId9"/>
          <a:stretch>
            <a:fillRect/>
          </a:stretch>
        </p:blipFill>
        <p:spPr>
          <a:xfrm>
            <a:off x="637783" y="2619797"/>
            <a:ext cx="2819171" cy="1435111"/>
          </a:xfrm>
          <a:prstGeom prst="rect">
            <a:avLst/>
          </a:prstGeom>
        </p:spPr>
      </p:pic>
      <p:pic>
        <p:nvPicPr>
          <p:cNvPr id="9" name="Picture 8">
            <a:extLst>
              <a:ext uri="{FF2B5EF4-FFF2-40B4-BE49-F238E27FC236}">
                <a16:creationId xmlns:a16="http://schemas.microsoft.com/office/drawing/2014/main" id="{5C1E9F62-9ED4-ED26-4C40-8F891667DF9A}"/>
              </a:ext>
            </a:extLst>
          </p:cNvPr>
          <p:cNvPicPr>
            <a:picLocks noChangeAspect="1"/>
          </p:cNvPicPr>
          <p:nvPr/>
        </p:nvPicPr>
        <p:blipFill>
          <a:blip r:embed="rId10"/>
          <a:stretch>
            <a:fillRect/>
          </a:stretch>
        </p:blipFill>
        <p:spPr>
          <a:xfrm>
            <a:off x="4910092" y="2283348"/>
            <a:ext cx="2309798" cy="1863114"/>
          </a:xfrm>
          <a:prstGeom prst="rect">
            <a:avLst/>
          </a:prstGeom>
        </p:spPr>
      </p:pic>
      <p:pic>
        <p:nvPicPr>
          <p:cNvPr id="17" name="Picture 16">
            <a:extLst>
              <a:ext uri="{FF2B5EF4-FFF2-40B4-BE49-F238E27FC236}">
                <a16:creationId xmlns:a16="http://schemas.microsoft.com/office/drawing/2014/main" id="{0C909AA6-FB24-DDA2-4ADA-289F0F695412}"/>
              </a:ext>
            </a:extLst>
          </p:cNvPr>
          <p:cNvPicPr>
            <a:picLocks noChangeAspect="1"/>
          </p:cNvPicPr>
          <p:nvPr/>
        </p:nvPicPr>
        <p:blipFill>
          <a:blip r:embed="rId11"/>
          <a:stretch>
            <a:fillRect/>
          </a:stretch>
        </p:blipFill>
        <p:spPr>
          <a:xfrm>
            <a:off x="8769758" y="2311462"/>
            <a:ext cx="2612910" cy="1845770"/>
          </a:xfrm>
          <a:prstGeom prst="rect">
            <a:avLst/>
          </a:prstGeom>
        </p:spPr>
      </p:pic>
      <p:sp>
        <p:nvSpPr>
          <p:cNvPr id="31" name="TextBox 30">
            <a:extLst>
              <a:ext uri="{FF2B5EF4-FFF2-40B4-BE49-F238E27FC236}">
                <a16:creationId xmlns:a16="http://schemas.microsoft.com/office/drawing/2014/main" id="{A8CD591E-C33A-93A7-1B87-A0EF8A1BD35C}"/>
              </a:ext>
            </a:extLst>
          </p:cNvPr>
          <p:cNvSpPr txBox="1"/>
          <p:nvPr/>
        </p:nvSpPr>
        <p:spPr>
          <a:xfrm>
            <a:off x="637782" y="4468290"/>
            <a:ext cx="3078301" cy="307777"/>
          </a:xfrm>
          <a:prstGeom prst="rect">
            <a:avLst/>
          </a:prstGeom>
          <a:noFill/>
          <a:effectLst>
            <a:softEdge rad="63500"/>
          </a:effectLst>
        </p:spPr>
        <p:txBody>
          <a:bodyPr wrap="square" rtlCol="0">
            <a:spAutoFit/>
          </a:bodyPr>
          <a:lstStyle/>
          <a:p>
            <a:pPr algn="ctr"/>
            <a:r>
              <a:rPr lang="it-IT" sz="1400" b="1" dirty="0">
                <a:solidFill>
                  <a:srgbClr val="193C6A"/>
                </a:solidFill>
                <a:latin typeface="Poppins" panose="00000500000000000000" pitchFamily="2" charset="0"/>
                <a:cs typeface="Poppins" panose="00000500000000000000" pitchFamily="2" charset="0"/>
              </a:rPr>
              <a:t>Scheme on Bartalucci thesis</a:t>
            </a:r>
          </a:p>
        </p:txBody>
      </p:sp>
      <p:sp>
        <p:nvSpPr>
          <p:cNvPr id="32" name="TextBox 31">
            <a:extLst>
              <a:ext uri="{FF2B5EF4-FFF2-40B4-BE49-F238E27FC236}">
                <a16:creationId xmlns:a16="http://schemas.microsoft.com/office/drawing/2014/main" id="{518A766E-04B1-E28E-B65D-72193F8A1AFA}"/>
              </a:ext>
            </a:extLst>
          </p:cNvPr>
          <p:cNvSpPr txBox="1"/>
          <p:nvPr/>
        </p:nvSpPr>
        <p:spPr>
          <a:xfrm>
            <a:off x="4525840" y="4468290"/>
            <a:ext cx="3078301" cy="307777"/>
          </a:xfrm>
          <a:prstGeom prst="rect">
            <a:avLst/>
          </a:prstGeom>
          <a:noFill/>
        </p:spPr>
        <p:txBody>
          <a:bodyPr wrap="square" rtlCol="0">
            <a:spAutoFit/>
          </a:bodyPr>
          <a:lstStyle/>
          <a:p>
            <a:pPr algn="ctr"/>
            <a:r>
              <a:rPr lang="it-IT" sz="1400" b="1" dirty="0">
                <a:solidFill>
                  <a:srgbClr val="193C6A"/>
                </a:solidFill>
                <a:latin typeface="Poppins" panose="00000500000000000000" pitchFamily="2" charset="0"/>
                <a:cs typeface="Poppins" panose="00000500000000000000" pitchFamily="2" charset="0"/>
              </a:rPr>
              <a:t>3D model on Fusion360</a:t>
            </a:r>
          </a:p>
        </p:txBody>
      </p:sp>
      <p:sp>
        <p:nvSpPr>
          <p:cNvPr id="33" name="TextBox 32">
            <a:extLst>
              <a:ext uri="{FF2B5EF4-FFF2-40B4-BE49-F238E27FC236}">
                <a16:creationId xmlns:a16="http://schemas.microsoft.com/office/drawing/2014/main" id="{89036B51-15E1-A572-8971-77DF804B561D}"/>
              </a:ext>
            </a:extLst>
          </p:cNvPr>
          <p:cNvSpPr txBox="1"/>
          <p:nvPr/>
        </p:nvSpPr>
        <p:spPr>
          <a:xfrm>
            <a:off x="8413897" y="4468290"/>
            <a:ext cx="3078301" cy="307777"/>
          </a:xfrm>
          <a:prstGeom prst="rect">
            <a:avLst/>
          </a:prstGeom>
          <a:noFill/>
        </p:spPr>
        <p:txBody>
          <a:bodyPr wrap="square" rtlCol="0">
            <a:spAutoFit/>
          </a:bodyPr>
          <a:lstStyle/>
          <a:p>
            <a:pPr algn="ctr"/>
            <a:r>
              <a:rPr lang="it-IT" sz="1400" b="1" dirty="0">
                <a:solidFill>
                  <a:srgbClr val="193C6A"/>
                </a:solidFill>
                <a:latin typeface="Poppins" panose="00000500000000000000" pitchFamily="2" charset="0"/>
                <a:cs typeface="Poppins" panose="00000500000000000000" pitchFamily="2" charset="0"/>
              </a:rPr>
              <a:t>URDF model in RViz</a:t>
            </a:r>
          </a:p>
        </p:txBody>
      </p:sp>
      <p:sp>
        <p:nvSpPr>
          <p:cNvPr id="37" name="Shape 33">
            <a:extLst>
              <a:ext uri="{FF2B5EF4-FFF2-40B4-BE49-F238E27FC236}">
                <a16:creationId xmlns:a16="http://schemas.microsoft.com/office/drawing/2014/main" id="{AA05BF80-B972-01F1-A765-2C096F35FB67}"/>
              </a:ext>
            </a:extLst>
          </p:cNvPr>
          <p:cNvSpPr/>
          <p:nvPr/>
        </p:nvSpPr>
        <p:spPr>
          <a:xfrm>
            <a:off x="544220" y="5116021"/>
            <a:ext cx="11064240" cy="1173093"/>
          </a:xfrm>
          <a:prstGeom prst="rect">
            <a:avLst/>
          </a:prstGeom>
          <a:solidFill>
            <a:srgbClr val="E8EEF3"/>
          </a:solidFill>
          <a:ln w="12700">
            <a:solidFill>
              <a:srgbClr val="E8EEF3"/>
            </a:solidFill>
            <a:prstDash val="solid"/>
          </a:ln>
        </p:spPr>
        <p:txBody>
          <a:bodyPr/>
          <a:lstStyle/>
          <a:p>
            <a:endParaRPr lang="it-IT" dirty="0"/>
          </a:p>
        </p:txBody>
      </p:sp>
      <p:sp>
        <p:nvSpPr>
          <p:cNvPr id="38" name="Shape 34">
            <a:extLst>
              <a:ext uri="{FF2B5EF4-FFF2-40B4-BE49-F238E27FC236}">
                <a16:creationId xmlns:a16="http://schemas.microsoft.com/office/drawing/2014/main" id="{A42EF1CA-0ECD-121C-1F87-85B8C694026A}"/>
              </a:ext>
            </a:extLst>
          </p:cNvPr>
          <p:cNvSpPr/>
          <p:nvPr/>
        </p:nvSpPr>
        <p:spPr>
          <a:xfrm>
            <a:off x="525932" y="5116021"/>
            <a:ext cx="109728" cy="1173093"/>
          </a:xfrm>
          <a:prstGeom prst="rect">
            <a:avLst/>
          </a:prstGeom>
          <a:solidFill>
            <a:schemeClr val="tx2">
              <a:lumMod val="75000"/>
              <a:lumOff val="25000"/>
            </a:schemeClr>
          </a:solidFill>
          <a:ln w="12700">
            <a:noFill/>
            <a:prstDash val="solid"/>
          </a:ln>
        </p:spPr>
        <p:txBody>
          <a:bodyPr/>
          <a:lstStyle/>
          <a:p>
            <a:endParaRPr lang="it-IT"/>
          </a:p>
        </p:txBody>
      </p:sp>
      <p:sp>
        <p:nvSpPr>
          <p:cNvPr id="39" name="Text 35">
            <a:extLst>
              <a:ext uri="{FF2B5EF4-FFF2-40B4-BE49-F238E27FC236}">
                <a16:creationId xmlns:a16="http://schemas.microsoft.com/office/drawing/2014/main" id="{187BE689-0CFA-7F9E-DC53-768D6250DE82}"/>
              </a:ext>
            </a:extLst>
          </p:cNvPr>
          <p:cNvSpPr/>
          <p:nvPr/>
        </p:nvSpPr>
        <p:spPr>
          <a:xfrm>
            <a:off x="838200" y="5247786"/>
            <a:ext cx="10515600" cy="320040"/>
          </a:xfrm>
          <a:prstGeom prst="rect">
            <a:avLst/>
          </a:prstGeom>
          <a:noFill/>
          <a:ln/>
        </p:spPr>
        <p:txBody>
          <a:bodyPr wrap="square" lIns="0" tIns="0" rIns="0" bIns="0" rtlCol="0" anchor="ctr"/>
          <a:lstStyle/>
          <a:p>
            <a:r>
              <a:rPr lang="en-US" sz="1500" b="1" dirty="0">
                <a:solidFill>
                  <a:srgbClr val="193C6A"/>
                </a:solidFill>
                <a:latin typeface="Poppins" panose="00000500000000000000" pitchFamily="2" charset="0"/>
                <a:cs typeface="Poppins" panose="00000500000000000000" pitchFamily="2" charset="0"/>
              </a:rPr>
              <a:t>When the Prototype Changes Size – Redoing the CAD Model</a:t>
            </a:r>
            <a:r>
              <a:rPr lang="en-US" sz="1500" b="1" kern="0" dirty="0">
                <a:solidFill>
                  <a:srgbClr val="193C6A"/>
                </a:solidFill>
                <a:latin typeface="Poppins" panose="00000500000000000000" pitchFamily="2" charset="0"/>
                <a:ea typeface="Calibri" pitchFamily="34" charset="-122"/>
                <a:cs typeface="Poppins" panose="00000500000000000000" pitchFamily="2" charset="0"/>
              </a:rPr>
              <a:t> </a:t>
            </a:r>
            <a:endParaRPr lang="en-US" sz="1500" dirty="0">
              <a:solidFill>
                <a:srgbClr val="193C6A"/>
              </a:solidFill>
              <a:latin typeface="Poppins" panose="00000500000000000000" pitchFamily="2" charset="0"/>
              <a:cs typeface="Poppins" panose="00000500000000000000" pitchFamily="2" charset="0"/>
            </a:endParaRPr>
          </a:p>
        </p:txBody>
      </p:sp>
      <p:sp>
        <p:nvSpPr>
          <p:cNvPr id="40" name="Text 36">
            <a:extLst>
              <a:ext uri="{FF2B5EF4-FFF2-40B4-BE49-F238E27FC236}">
                <a16:creationId xmlns:a16="http://schemas.microsoft.com/office/drawing/2014/main" id="{A86ECA20-632B-E2CC-FE23-8E62965255C4}"/>
              </a:ext>
            </a:extLst>
          </p:cNvPr>
          <p:cNvSpPr/>
          <p:nvPr/>
        </p:nvSpPr>
        <p:spPr>
          <a:xfrm>
            <a:off x="879073" y="5559092"/>
            <a:ext cx="10972800" cy="666218"/>
          </a:xfrm>
          <a:prstGeom prst="rect">
            <a:avLst/>
          </a:prstGeom>
          <a:noFill/>
          <a:ln/>
        </p:spPr>
        <p:txBody>
          <a:bodyPr wrap="square" lIns="0" tIns="0" rIns="0" bIns="0" rtlCol="0" anchor="ctr"/>
          <a:lstStyle/>
          <a:p>
            <a:r>
              <a:rPr lang="en-US" sz="1400" dirty="0">
                <a:latin typeface="Poppins" panose="00000500000000000000" pitchFamily="2" charset="0"/>
                <a:cs typeface="Poppins" panose="00000500000000000000" pitchFamily="2" charset="0"/>
              </a:rPr>
              <a:t>Only constraint: keep auxiliary frame names unchanged.</a:t>
            </a:r>
          </a:p>
          <a:p>
            <a:r>
              <a:rPr lang="en-US" sz="1400" dirty="0">
                <a:latin typeface="Poppins" panose="00000500000000000000" pitchFamily="2" charset="0"/>
                <a:cs typeface="Poppins" panose="00000500000000000000" pitchFamily="2" charset="0"/>
              </a:rPr>
              <a:t>The closed-kinematic function uses these names to find the correct frames to work with.</a:t>
            </a:r>
          </a:p>
        </p:txBody>
      </p:sp>
    </p:spTree>
    <p:extLst>
      <p:ext uri="{BB962C8B-B14F-4D97-AF65-F5344CB8AC3E}">
        <p14:creationId xmlns:p14="http://schemas.microsoft.com/office/powerpoint/2010/main" val="2711230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8CC3E-9B81-E762-7FB4-07DD83CE2F56}"/>
            </a:ext>
          </a:extLst>
        </p:cNvPr>
        <p:cNvGrpSpPr/>
        <p:nvPr/>
      </p:nvGrpSpPr>
      <p:grpSpPr>
        <a:xfrm>
          <a:off x="0" y="0"/>
          <a:ext cx="0" cy="0"/>
          <a:chOff x="0" y="0"/>
          <a:chExt cx="0" cy="0"/>
        </a:xfrm>
      </p:grpSpPr>
      <p:sp>
        <p:nvSpPr>
          <p:cNvPr id="29" name="Shape 33">
            <a:extLst>
              <a:ext uri="{FF2B5EF4-FFF2-40B4-BE49-F238E27FC236}">
                <a16:creationId xmlns:a16="http://schemas.microsoft.com/office/drawing/2014/main" id="{6C0E73CA-B916-36B1-2D97-660B19919F3D}"/>
              </a:ext>
            </a:extLst>
          </p:cNvPr>
          <p:cNvSpPr/>
          <p:nvPr/>
        </p:nvSpPr>
        <p:spPr>
          <a:xfrm>
            <a:off x="563880" y="4842834"/>
            <a:ext cx="11064240" cy="1173093"/>
          </a:xfrm>
          <a:prstGeom prst="rect">
            <a:avLst/>
          </a:prstGeom>
          <a:solidFill>
            <a:srgbClr val="E8EEF3"/>
          </a:solidFill>
          <a:ln w="12700">
            <a:solidFill>
              <a:srgbClr val="E8EEF3"/>
            </a:solidFill>
            <a:prstDash val="solid"/>
          </a:ln>
        </p:spPr>
        <p:txBody>
          <a:bodyPr/>
          <a:lstStyle/>
          <a:p>
            <a:endParaRPr lang="it-IT" dirty="0"/>
          </a:p>
        </p:txBody>
      </p:sp>
      <p:sp>
        <p:nvSpPr>
          <p:cNvPr id="30" name="Shape 34">
            <a:extLst>
              <a:ext uri="{FF2B5EF4-FFF2-40B4-BE49-F238E27FC236}">
                <a16:creationId xmlns:a16="http://schemas.microsoft.com/office/drawing/2014/main" id="{A73C9972-B440-82D3-00E1-E55A67DB2BF3}"/>
              </a:ext>
            </a:extLst>
          </p:cNvPr>
          <p:cNvSpPr/>
          <p:nvPr/>
        </p:nvSpPr>
        <p:spPr>
          <a:xfrm>
            <a:off x="545592" y="4842834"/>
            <a:ext cx="109728" cy="1173093"/>
          </a:xfrm>
          <a:prstGeom prst="rect">
            <a:avLst/>
          </a:prstGeom>
          <a:solidFill>
            <a:schemeClr val="tx2">
              <a:lumMod val="75000"/>
              <a:lumOff val="25000"/>
            </a:schemeClr>
          </a:solidFill>
          <a:ln w="12700">
            <a:noFill/>
            <a:prstDash val="solid"/>
          </a:ln>
        </p:spPr>
        <p:txBody>
          <a:bodyPr/>
          <a:lstStyle/>
          <a:p>
            <a:endParaRPr lang="it-IT"/>
          </a:p>
        </p:txBody>
      </p:sp>
      <p:sp>
        <p:nvSpPr>
          <p:cNvPr id="3" name="Sottotitolo 2">
            <a:extLst>
              <a:ext uri="{FF2B5EF4-FFF2-40B4-BE49-F238E27FC236}">
                <a16:creationId xmlns:a16="http://schemas.microsoft.com/office/drawing/2014/main" id="{BD96CD4C-17DD-6013-6E3F-DA2BFE655487}"/>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12FE2317-F30E-C6BC-D6E7-576A2CE8353E}"/>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28B2B0C3-D270-BE2A-6F30-49100EC82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E11C83A7-E4D4-9BC4-F5B8-8F36B3C5D92F}"/>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E11C83A7-E4D4-9BC4-F5B8-8F36B3C5D92F}"/>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B9461C1A-CF3B-3EE2-1DBA-9C1BE76F48F4}"/>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B9461C1A-CF3B-3EE2-1DBA-9C1BE76F48F4}"/>
                  </a:ext>
                </a:extLst>
              </p:cNvPr>
              <p:cNvPicPr/>
              <p:nvPr/>
            </p:nvPicPr>
            <p:blipFill>
              <a:blip r:embed="rId6"/>
              <a:stretch>
                <a:fillRect/>
              </a:stretch>
            </p:blipFill>
            <p:spPr>
              <a:xfrm>
                <a:off x="5259213" y="963076"/>
                <a:ext cx="1950120" cy="35156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217FD5AE-294E-EA90-E5D2-BD242C21D582}"/>
                  </a:ext>
                </a:extLst>
              </p14:cNvPr>
              <p14:cNvContentPartPr/>
              <p14:nvPr/>
            </p14:nvContentPartPr>
            <p14:xfrm>
              <a:off x="525933" y="2691537"/>
              <a:ext cx="360" cy="360"/>
            </p14:xfrm>
          </p:contentPart>
        </mc:Choice>
        <mc:Fallback xmlns="">
          <p:pic>
            <p:nvPicPr>
              <p:cNvPr id="13" name="Ink 12">
                <a:extLst>
                  <a:ext uri="{FF2B5EF4-FFF2-40B4-BE49-F238E27FC236}">
                    <a16:creationId xmlns:a16="http://schemas.microsoft.com/office/drawing/2014/main" id="{217FD5AE-294E-EA90-E5D2-BD242C21D582}"/>
                  </a:ext>
                </a:extLst>
              </p:cNvPr>
              <p:cNvPicPr/>
              <p:nvPr/>
            </p:nvPicPr>
            <p:blipFill>
              <a:blip r:embed="rId8"/>
              <a:stretch>
                <a:fillRect/>
              </a:stretch>
            </p:blipFill>
            <p:spPr>
              <a:xfrm>
                <a:off x="462933" y="2628537"/>
                <a:ext cx="126000" cy="126000"/>
              </a:xfrm>
              <a:prstGeom prst="rect">
                <a:avLst/>
              </a:prstGeom>
            </p:spPr>
          </p:pic>
        </mc:Fallback>
      </mc:AlternateContent>
      <p:sp>
        <p:nvSpPr>
          <p:cNvPr id="14" name="Google Shape;259;p29">
            <a:extLst>
              <a:ext uri="{FF2B5EF4-FFF2-40B4-BE49-F238E27FC236}">
                <a16:creationId xmlns:a16="http://schemas.microsoft.com/office/drawing/2014/main" id="{77564786-4405-8B31-A2BA-E83E0814F5D6}"/>
              </a:ext>
            </a:extLst>
          </p:cNvPr>
          <p:cNvSpPr/>
          <p:nvPr/>
        </p:nvSpPr>
        <p:spPr>
          <a:xfrm>
            <a:off x="525932" y="1433398"/>
            <a:ext cx="7703641"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DC4997CB-55E7-AA9F-3B5E-3AA35CA00312}"/>
              </a:ext>
            </a:extLst>
          </p:cNvPr>
          <p:cNvSpPr txBox="1">
            <a:spLocks/>
          </p:cNvSpPr>
          <p:nvPr/>
        </p:nvSpPr>
        <p:spPr>
          <a:xfrm>
            <a:off x="604929" y="1129380"/>
            <a:ext cx="7704000"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193C6A"/>
                </a:solidFill>
                <a:latin typeface="Poppins Black" panose="00000A00000000000000" pitchFamily="2" charset="0"/>
                <a:ea typeface="Cambria" pitchFamily="34" charset="-122"/>
                <a:cs typeface="Poppins Black" panose="00000A00000000000000" pitchFamily="2" charset="0"/>
              </a:rPr>
              <a:t>Kinematic and Dynamic Modeling</a:t>
            </a:r>
            <a:endParaRPr lang="en-US" sz="3200" dirty="0">
              <a:solidFill>
                <a:srgbClr val="193C6A"/>
              </a:solidFill>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7F185D24-4A89-BB03-E8EA-FF9AC7C8744A}"/>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814DA5A1-2075-F67A-33F0-DBF17E9F7934}"/>
              </a:ext>
            </a:extLst>
          </p:cNvPr>
          <p:cNvSpPr txBox="1"/>
          <p:nvPr/>
        </p:nvSpPr>
        <p:spPr>
          <a:xfrm>
            <a:off x="604929" y="1705798"/>
            <a:ext cx="6109138" cy="338554"/>
          </a:xfrm>
          <a:prstGeom prst="rect">
            <a:avLst/>
          </a:prstGeom>
          <a:noFill/>
        </p:spPr>
        <p:txBody>
          <a:bodyPr wrap="square">
            <a:spAutoFit/>
          </a:bodyPr>
          <a:lstStyle/>
          <a:p>
            <a:r>
              <a:rPr lang="en-US" sz="1600" i="1" dirty="0">
                <a:solidFill>
                  <a:srgbClr val="64748B"/>
                </a:solidFill>
                <a:latin typeface="Poppins" panose="00000500000000000000" pitchFamily="2" charset="0"/>
                <a:ea typeface="Calibri" pitchFamily="34" charset="-122"/>
                <a:cs typeface="Poppins" panose="00000500000000000000" pitchFamily="2" charset="0"/>
              </a:rPr>
              <a:t>The technical </a:t>
            </a:r>
            <a:r>
              <a:rPr lang="en-US" sz="1600" b="1" i="1" dirty="0">
                <a:solidFill>
                  <a:srgbClr val="64748B"/>
                </a:solidFill>
                <a:latin typeface="Poppins" panose="00000500000000000000" pitchFamily="2" charset="0"/>
                <a:ea typeface="Calibri" pitchFamily="34" charset="-122"/>
                <a:cs typeface="Poppins" panose="00000500000000000000" pitchFamily="2" charset="0"/>
              </a:rPr>
              <a:t>core</a:t>
            </a:r>
            <a:r>
              <a:rPr lang="en-US" sz="1600" i="1" dirty="0">
                <a:solidFill>
                  <a:srgbClr val="64748B"/>
                </a:solidFill>
                <a:latin typeface="Poppins" panose="00000500000000000000" pitchFamily="2" charset="0"/>
                <a:ea typeface="Calibri" pitchFamily="34" charset="-122"/>
                <a:cs typeface="Poppins" panose="00000500000000000000" pitchFamily="2" charset="0"/>
              </a:rPr>
              <a:t> of the thesis</a:t>
            </a:r>
            <a:endParaRPr lang="en-US" sz="1600" dirty="0">
              <a:latin typeface="Poppins" panose="00000500000000000000" pitchFamily="2" charset="0"/>
              <a:cs typeface="Poppins" panose="00000500000000000000" pitchFamily="2" charset="0"/>
            </a:endParaRPr>
          </a:p>
        </p:txBody>
      </p:sp>
      <p:sp>
        <p:nvSpPr>
          <p:cNvPr id="7" name="Shape 3">
            <a:extLst>
              <a:ext uri="{FF2B5EF4-FFF2-40B4-BE49-F238E27FC236}">
                <a16:creationId xmlns:a16="http://schemas.microsoft.com/office/drawing/2014/main" id="{E8C9369A-56E3-3F8A-AE55-787B089078BA}"/>
              </a:ext>
            </a:extLst>
          </p:cNvPr>
          <p:cNvSpPr/>
          <p:nvPr/>
        </p:nvSpPr>
        <p:spPr>
          <a:xfrm>
            <a:off x="510387" y="2395728"/>
            <a:ext cx="5486400" cy="210312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8" name="Shape 4">
            <a:extLst>
              <a:ext uri="{FF2B5EF4-FFF2-40B4-BE49-F238E27FC236}">
                <a16:creationId xmlns:a16="http://schemas.microsoft.com/office/drawing/2014/main" id="{8111A071-4017-576B-5890-F046C8897E3A}"/>
              </a:ext>
            </a:extLst>
          </p:cNvPr>
          <p:cNvSpPr/>
          <p:nvPr/>
        </p:nvSpPr>
        <p:spPr>
          <a:xfrm>
            <a:off x="510387" y="2395728"/>
            <a:ext cx="5486400" cy="91440"/>
          </a:xfrm>
          <a:prstGeom prst="rect">
            <a:avLst/>
          </a:prstGeom>
          <a:solidFill>
            <a:srgbClr val="065A82"/>
          </a:solidFill>
          <a:ln w="12700">
            <a:solidFill>
              <a:srgbClr val="065A82"/>
            </a:solidFill>
            <a:prstDash val="solid"/>
          </a:ln>
        </p:spPr>
        <p:txBody>
          <a:bodyPr/>
          <a:lstStyle/>
          <a:p>
            <a:endParaRPr lang="it-IT"/>
          </a:p>
        </p:txBody>
      </p:sp>
      <p:sp>
        <p:nvSpPr>
          <p:cNvPr id="9" name="Text 5">
            <a:extLst>
              <a:ext uri="{FF2B5EF4-FFF2-40B4-BE49-F238E27FC236}">
                <a16:creationId xmlns:a16="http://schemas.microsoft.com/office/drawing/2014/main" id="{1446B990-46AD-E070-1641-5A6F0E3CE57A}"/>
              </a:ext>
            </a:extLst>
          </p:cNvPr>
          <p:cNvSpPr/>
          <p:nvPr/>
        </p:nvSpPr>
        <p:spPr>
          <a:xfrm>
            <a:off x="693267" y="2532888"/>
            <a:ext cx="5212080" cy="365760"/>
          </a:xfrm>
          <a:prstGeom prst="rect">
            <a:avLst/>
          </a:prstGeom>
          <a:noFill/>
          <a:ln/>
        </p:spPr>
        <p:txBody>
          <a:bodyPr wrap="square" lIns="0" tIns="0" rIns="0" bIns="0" rtlCol="0" anchor="ctr"/>
          <a:lstStyle/>
          <a:p>
            <a:pPr marL="0" indent="0">
              <a:buNone/>
            </a:pPr>
            <a:r>
              <a:rPr lang="en-US" sz="1600" b="1" dirty="0">
                <a:solidFill>
                  <a:schemeClr val="tx2">
                    <a:lumMod val="90000"/>
                    <a:lumOff val="10000"/>
                  </a:schemeClr>
                </a:solidFill>
                <a:latin typeface="Poppins "/>
                <a:ea typeface="Cambria" pitchFamily="34" charset="-122"/>
                <a:cs typeface="Cambria" pitchFamily="34" charset="-120"/>
              </a:rPr>
              <a:t>Constrained Forward Kinematics</a:t>
            </a:r>
            <a:endParaRPr lang="en-US" sz="1600" dirty="0">
              <a:solidFill>
                <a:schemeClr val="tx2">
                  <a:lumMod val="90000"/>
                  <a:lumOff val="10000"/>
                </a:schemeClr>
              </a:solidFill>
              <a:latin typeface="Poppins "/>
            </a:endParaRPr>
          </a:p>
        </p:txBody>
      </p:sp>
      <p:sp>
        <p:nvSpPr>
          <p:cNvPr id="16" name="Text 6">
            <a:extLst>
              <a:ext uri="{FF2B5EF4-FFF2-40B4-BE49-F238E27FC236}">
                <a16:creationId xmlns:a16="http://schemas.microsoft.com/office/drawing/2014/main" id="{E983BB5D-BE5C-35BA-05EC-9EDD5910C538}"/>
              </a:ext>
            </a:extLst>
          </p:cNvPr>
          <p:cNvSpPr/>
          <p:nvPr/>
        </p:nvSpPr>
        <p:spPr>
          <a:xfrm>
            <a:off x="693267" y="2898648"/>
            <a:ext cx="5212080" cy="594360"/>
          </a:xfrm>
          <a:prstGeom prst="rect">
            <a:avLst/>
          </a:prstGeom>
          <a:noFill/>
          <a:ln/>
        </p:spPr>
        <p:txBody>
          <a:bodyPr wrap="square" lIns="0" tIns="0" rIns="0" bIns="0" rtlCol="0" anchor="ctr"/>
          <a:lstStyle/>
          <a:p>
            <a:pPr marL="0" indent="0">
              <a:buNone/>
            </a:pPr>
            <a:r>
              <a:rPr lang="en-US" sz="1200" dirty="0">
                <a:solidFill>
                  <a:srgbClr val="1E293B"/>
                </a:solidFill>
                <a:latin typeface="Poppins "/>
                <a:ea typeface="Calibri" pitchFamily="34" charset="-122"/>
                <a:cs typeface="Calibri" pitchFamily="34" charset="-120"/>
              </a:rPr>
              <a:t>Loop-closure constraints enforced numerically at runtime by a nonlinear solver, yielding an implicit mapping:</a:t>
            </a:r>
            <a:endParaRPr lang="en-US" sz="1200" dirty="0">
              <a:latin typeface="Poppins "/>
            </a:endParaRPr>
          </a:p>
        </p:txBody>
      </p:sp>
      <p:sp>
        <p:nvSpPr>
          <p:cNvPr id="17" name="Shape 7">
            <a:extLst>
              <a:ext uri="{FF2B5EF4-FFF2-40B4-BE49-F238E27FC236}">
                <a16:creationId xmlns:a16="http://schemas.microsoft.com/office/drawing/2014/main" id="{D9CE8C88-83D7-0DE6-D4AC-CF237B18628C}"/>
              </a:ext>
            </a:extLst>
          </p:cNvPr>
          <p:cNvSpPr/>
          <p:nvPr/>
        </p:nvSpPr>
        <p:spPr>
          <a:xfrm>
            <a:off x="1790547" y="3538728"/>
            <a:ext cx="2926080" cy="502920"/>
          </a:xfrm>
          <a:prstGeom prst="rect">
            <a:avLst/>
          </a:prstGeom>
          <a:solidFill>
            <a:srgbClr val="E8EEF3"/>
          </a:solidFill>
          <a:ln w="12700">
            <a:solidFill>
              <a:srgbClr val="E8EEF3"/>
            </a:solidFill>
            <a:prstDash val="solid"/>
          </a:ln>
        </p:spPr>
        <p:txBody>
          <a:bodyPr/>
          <a:lstStyle/>
          <a:p>
            <a:endParaRPr lang="it-IT"/>
          </a:p>
        </p:txBody>
      </p:sp>
      <mc:AlternateContent xmlns:mc="http://schemas.openxmlformats.org/markup-compatibility/2006" xmlns:a14="http://schemas.microsoft.com/office/drawing/2010/main">
        <mc:Choice Requires="a14">
          <p:sp>
            <p:nvSpPr>
              <p:cNvPr id="18" name="Text 8">
                <a:extLst>
                  <a:ext uri="{FF2B5EF4-FFF2-40B4-BE49-F238E27FC236}">
                    <a16:creationId xmlns:a16="http://schemas.microsoft.com/office/drawing/2014/main" id="{6FD32A25-AE38-807D-EAD4-B92D23890E0A}"/>
                  </a:ext>
                </a:extLst>
              </p:cNvPr>
              <p:cNvSpPr/>
              <p:nvPr/>
            </p:nvSpPr>
            <p:spPr>
              <a:xfrm>
                <a:off x="1790547" y="3538728"/>
                <a:ext cx="2926080" cy="502920"/>
              </a:xfrm>
              <a:prstGeom prst="rect">
                <a:avLst/>
              </a:prstGeom>
              <a:noFill/>
              <a:ln/>
            </p:spPr>
            <p:txBody>
              <a:bodyPr wrap="square" lIns="0" tIns="0" rIns="0" bIns="0" rtlCol="0" anchor="ctr"/>
              <a:lstStyle/>
              <a:p>
                <a:pPr marL="0" indent="0" algn="ctr">
                  <a:buNone/>
                </a:pPr>
                <a14:m>
                  <m:oMathPara xmlns:m="http://schemas.openxmlformats.org/officeDocument/2006/math">
                    <m:oMathParaPr>
                      <m:jc m:val="centerGroup"/>
                    </m:oMathParaPr>
                    <m:oMath xmlns:m="http://schemas.openxmlformats.org/officeDocument/2006/math">
                      <m:r>
                        <a:rPr lang="en-US" sz="2200" b="0" i="1" dirty="0" smtClean="0">
                          <a:solidFill>
                            <a:srgbClr val="065A82"/>
                          </a:solidFill>
                          <a:latin typeface="Cambria Math" panose="02040503050406030204" pitchFamily="18" charset="0"/>
                          <a:ea typeface="Cambria Math" pitchFamily="34" charset="-122"/>
                          <a:cs typeface="Cambria Math" pitchFamily="34" charset="-120"/>
                        </a:rPr>
                        <m:t>𝑞</m:t>
                      </m:r>
                      <m:r>
                        <a:rPr lang="en-US" sz="2200" b="0" i="1" dirty="0" smtClean="0">
                          <a:solidFill>
                            <a:srgbClr val="065A82"/>
                          </a:solidFill>
                          <a:latin typeface="Cambria Math" panose="02040503050406030204" pitchFamily="18" charset="0"/>
                          <a:ea typeface="Cambria Math" pitchFamily="34" charset="-122"/>
                          <a:cs typeface="Cambria Math" pitchFamily="34" charset="-120"/>
                        </a:rPr>
                        <m:t> = </m:t>
                      </m:r>
                      <m:r>
                        <a:rPr lang="en-US" sz="2200" b="0" i="1" dirty="0" smtClean="0">
                          <a:solidFill>
                            <a:srgbClr val="065A82"/>
                          </a:solidFill>
                          <a:latin typeface="Cambria Math" panose="02040503050406030204" pitchFamily="18" charset="0"/>
                          <a:ea typeface="Cambria Math" pitchFamily="34" charset="-122"/>
                          <a:cs typeface="Cambria Math" pitchFamily="34" charset="-120"/>
                        </a:rPr>
                        <m:t>𝑞</m:t>
                      </m:r>
                      <m:r>
                        <a:rPr lang="en-US" sz="2200" b="0" i="1" dirty="0" smtClean="0">
                          <a:solidFill>
                            <a:srgbClr val="065A82"/>
                          </a:solidFill>
                          <a:latin typeface="Cambria Math" panose="02040503050406030204" pitchFamily="18" charset="0"/>
                          <a:ea typeface="Cambria Math" pitchFamily="34" charset="-122"/>
                          <a:cs typeface="Cambria Math" pitchFamily="34" charset="-120"/>
                        </a:rPr>
                        <m:t>(</m:t>
                      </m:r>
                      <m:r>
                        <a:rPr lang="en-US" sz="2200" b="0" i="1" dirty="0" smtClean="0">
                          <a:solidFill>
                            <a:srgbClr val="065A82"/>
                          </a:solidFill>
                          <a:latin typeface="Cambria Math" panose="02040503050406030204" pitchFamily="18" charset="0"/>
                          <a:ea typeface="Cambria Math" pitchFamily="34" charset="-122"/>
                          <a:cs typeface="Cambria Math" pitchFamily="34" charset="-120"/>
                        </a:rPr>
                        <m:t>𝜃</m:t>
                      </m:r>
                      <m:r>
                        <a:rPr lang="en-US" sz="2200" b="0" i="1" dirty="0" smtClean="0">
                          <a:solidFill>
                            <a:srgbClr val="065A82"/>
                          </a:solidFill>
                          <a:latin typeface="Cambria Math" panose="02040503050406030204" pitchFamily="18" charset="0"/>
                          <a:ea typeface="Cambria Math" pitchFamily="34" charset="-122"/>
                          <a:cs typeface="Cambria Math" pitchFamily="34" charset="-120"/>
                        </a:rPr>
                        <m:t>)</m:t>
                      </m:r>
                    </m:oMath>
                  </m:oMathPara>
                </a14:m>
                <a:endParaRPr i="1" dirty="0"/>
              </a:p>
            </p:txBody>
          </p:sp>
        </mc:Choice>
        <mc:Fallback xmlns="">
          <p:sp>
            <p:nvSpPr>
              <p:cNvPr id="18" name="Text 8">
                <a:extLst>
                  <a:ext uri="{FF2B5EF4-FFF2-40B4-BE49-F238E27FC236}">
                    <a16:creationId xmlns:a16="http://schemas.microsoft.com/office/drawing/2014/main" id="{6FD32A25-AE38-807D-EAD4-B92D23890E0A}"/>
                  </a:ext>
                </a:extLst>
              </p:cNvPr>
              <p:cNvSpPr>
                <a:spLocks noRot="1" noChangeAspect="1" noMove="1" noResize="1" noEditPoints="1" noAdjustHandles="1" noChangeArrowheads="1" noChangeShapeType="1" noTextEdit="1"/>
              </p:cNvSpPr>
              <p:nvPr/>
            </p:nvSpPr>
            <p:spPr>
              <a:xfrm>
                <a:off x="1790547" y="3538728"/>
                <a:ext cx="2926080" cy="502920"/>
              </a:xfrm>
              <a:prstGeom prst="rect">
                <a:avLst/>
              </a:prstGeom>
              <a:blipFill>
                <a:blip r:embed="rId9"/>
                <a:stretch>
                  <a:fillRect b="-7317"/>
                </a:stretch>
              </a:blipFill>
              <a:ln/>
            </p:spPr>
            <p:txBody>
              <a:bodyPr/>
              <a:lstStyle/>
              <a:p>
                <a:r>
                  <a:rPr lang="it-IT">
                    <a:noFill/>
                  </a:rPr>
                  <a:t> </a:t>
                </a:r>
              </a:p>
            </p:txBody>
          </p:sp>
        </mc:Fallback>
      </mc:AlternateContent>
      <p:sp>
        <p:nvSpPr>
          <p:cNvPr id="20" name="Text 9">
            <a:extLst>
              <a:ext uri="{FF2B5EF4-FFF2-40B4-BE49-F238E27FC236}">
                <a16:creationId xmlns:a16="http://schemas.microsoft.com/office/drawing/2014/main" id="{A0DD961E-792D-285D-92C6-6D524C4949FC}"/>
              </a:ext>
            </a:extLst>
          </p:cNvPr>
          <p:cNvSpPr/>
          <p:nvPr/>
        </p:nvSpPr>
        <p:spPr>
          <a:xfrm>
            <a:off x="693267" y="4096512"/>
            <a:ext cx="5212080" cy="365760"/>
          </a:xfrm>
          <a:prstGeom prst="rect">
            <a:avLst/>
          </a:prstGeom>
          <a:noFill/>
          <a:ln/>
        </p:spPr>
        <p:txBody>
          <a:bodyPr wrap="square" lIns="0" tIns="0" rIns="0" bIns="0" rtlCol="0" anchor="ctr"/>
          <a:lstStyle/>
          <a:p>
            <a:pPr marL="0" indent="0">
              <a:buNone/>
            </a:pPr>
            <a:r>
              <a:rPr lang="en-US" sz="1100" i="1" dirty="0">
                <a:solidFill>
                  <a:srgbClr val="64748B"/>
                </a:solidFill>
                <a:latin typeface="Poppins "/>
                <a:ea typeface="Calibri" pitchFamily="34" charset="-122"/>
                <a:cs typeface="Calibri" pitchFamily="34" charset="-120"/>
              </a:rPr>
              <a:t>Every configuration at runtime must be kinematically admissible and consistent with the physical mechanism.</a:t>
            </a:r>
            <a:endParaRPr lang="en-US" sz="1100" dirty="0">
              <a:latin typeface="Poppins "/>
            </a:endParaRPr>
          </a:p>
        </p:txBody>
      </p:sp>
      <p:sp>
        <p:nvSpPr>
          <p:cNvPr id="21" name="Shape 10">
            <a:extLst>
              <a:ext uri="{FF2B5EF4-FFF2-40B4-BE49-F238E27FC236}">
                <a16:creationId xmlns:a16="http://schemas.microsoft.com/office/drawing/2014/main" id="{FD739363-7FED-757A-245D-0C7F186F79E1}"/>
              </a:ext>
            </a:extLst>
          </p:cNvPr>
          <p:cNvSpPr/>
          <p:nvPr/>
        </p:nvSpPr>
        <p:spPr>
          <a:xfrm>
            <a:off x="6179667" y="2395728"/>
            <a:ext cx="5486400" cy="210312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22" name="Shape 11">
            <a:extLst>
              <a:ext uri="{FF2B5EF4-FFF2-40B4-BE49-F238E27FC236}">
                <a16:creationId xmlns:a16="http://schemas.microsoft.com/office/drawing/2014/main" id="{0A4BCE41-FF2F-45CC-88DA-89E92AF3D766}"/>
              </a:ext>
            </a:extLst>
          </p:cNvPr>
          <p:cNvSpPr/>
          <p:nvPr/>
        </p:nvSpPr>
        <p:spPr>
          <a:xfrm>
            <a:off x="6179667" y="2395728"/>
            <a:ext cx="5486400" cy="91440"/>
          </a:xfrm>
          <a:prstGeom prst="rect">
            <a:avLst/>
          </a:prstGeom>
          <a:solidFill>
            <a:srgbClr val="065A82"/>
          </a:solidFill>
          <a:ln w="12700">
            <a:solidFill>
              <a:srgbClr val="065A82"/>
            </a:solidFill>
            <a:prstDash val="solid"/>
          </a:ln>
        </p:spPr>
        <p:txBody>
          <a:bodyPr/>
          <a:lstStyle/>
          <a:p>
            <a:endParaRPr lang="it-IT"/>
          </a:p>
        </p:txBody>
      </p:sp>
      <p:sp>
        <p:nvSpPr>
          <p:cNvPr id="23" name="Text 12">
            <a:extLst>
              <a:ext uri="{FF2B5EF4-FFF2-40B4-BE49-F238E27FC236}">
                <a16:creationId xmlns:a16="http://schemas.microsoft.com/office/drawing/2014/main" id="{D88785A1-E088-7469-5BFF-72B00CFEDF8C}"/>
              </a:ext>
            </a:extLst>
          </p:cNvPr>
          <p:cNvSpPr/>
          <p:nvPr/>
        </p:nvSpPr>
        <p:spPr>
          <a:xfrm>
            <a:off x="6362547" y="2532888"/>
            <a:ext cx="5212080" cy="365760"/>
          </a:xfrm>
          <a:prstGeom prst="rect">
            <a:avLst/>
          </a:prstGeom>
          <a:noFill/>
          <a:ln/>
        </p:spPr>
        <p:txBody>
          <a:bodyPr wrap="square" lIns="0" tIns="0" rIns="0" bIns="0" rtlCol="0" anchor="ctr"/>
          <a:lstStyle/>
          <a:p>
            <a:pPr marL="0" indent="0">
              <a:buNone/>
            </a:pPr>
            <a:r>
              <a:rPr lang="en-US" sz="1600" b="1" dirty="0">
                <a:solidFill>
                  <a:schemeClr val="tx2">
                    <a:lumMod val="90000"/>
                    <a:lumOff val="10000"/>
                  </a:schemeClr>
                </a:solidFill>
                <a:latin typeface="Poppins "/>
                <a:ea typeface="Cambria" pitchFamily="34" charset="-122"/>
                <a:cs typeface="Cambria" pitchFamily="34" charset="-120"/>
              </a:rPr>
              <a:t>Reduced-Order Dynamics</a:t>
            </a:r>
            <a:endParaRPr lang="en-US" sz="1600" dirty="0">
              <a:solidFill>
                <a:schemeClr val="tx2">
                  <a:lumMod val="90000"/>
                  <a:lumOff val="10000"/>
                </a:schemeClr>
              </a:solidFill>
              <a:latin typeface="Poppins "/>
            </a:endParaRPr>
          </a:p>
        </p:txBody>
      </p:sp>
      <p:sp>
        <p:nvSpPr>
          <p:cNvPr id="24" name="Text 13">
            <a:extLst>
              <a:ext uri="{FF2B5EF4-FFF2-40B4-BE49-F238E27FC236}">
                <a16:creationId xmlns:a16="http://schemas.microsoft.com/office/drawing/2014/main" id="{D485DCD4-CBF4-D884-A345-C69466547298}"/>
              </a:ext>
            </a:extLst>
          </p:cNvPr>
          <p:cNvSpPr/>
          <p:nvPr/>
        </p:nvSpPr>
        <p:spPr>
          <a:xfrm>
            <a:off x="6362547" y="2898648"/>
            <a:ext cx="5212080" cy="502920"/>
          </a:xfrm>
          <a:prstGeom prst="rect">
            <a:avLst/>
          </a:prstGeom>
          <a:noFill/>
          <a:ln/>
        </p:spPr>
        <p:txBody>
          <a:bodyPr wrap="square" lIns="0" tIns="0" rIns="0" bIns="0" rtlCol="0" anchor="ctr"/>
          <a:lstStyle/>
          <a:p>
            <a:pPr marL="0" indent="0">
              <a:buNone/>
            </a:pPr>
            <a:r>
              <a:rPr lang="en-US" sz="1200" dirty="0">
                <a:solidFill>
                  <a:srgbClr val="1E293B"/>
                </a:solidFill>
                <a:latin typeface="Poppins "/>
                <a:ea typeface="Calibri" pitchFamily="34" charset="-122"/>
                <a:cs typeface="Calibri" pitchFamily="34" charset="-120"/>
              </a:rPr>
              <a:t>Full multibody dynamics projected onto the single actuated DOF via the constraint Jacobian:</a:t>
            </a:r>
            <a:endParaRPr lang="en-US" sz="1200" dirty="0">
              <a:latin typeface="Poppins "/>
            </a:endParaRPr>
          </a:p>
        </p:txBody>
      </p:sp>
      <mc:AlternateContent xmlns:mc="http://schemas.openxmlformats.org/markup-compatibility/2006" xmlns:a14="http://schemas.microsoft.com/office/drawing/2010/main">
        <mc:Choice Requires="a14">
          <p:sp>
            <p:nvSpPr>
              <p:cNvPr id="25" name="Shape 14">
                <a:extLst>
                  <a:ext uri="{FF2B5EF4-FFF2-40B4-BE49-F238E27FC236}">
                    <a16:creationId xmlns:a16="http://schemas.microsoft.com/office/drawing/2014/main" id="{971D8127-9BB2-98FC-063A-3EBCF531470C}"/>
                  </a:ext>
                </a:extLst>
              </p:cNvPr>
              <p:cNvSpPr/>
              <p:nvPr/>
            </p:nvSpPr>
            <p:spPr>
              <a:xfrm>
                <a:off x="6362547" y="3401568"/>
                <a:ext cx="5212080" cy="594360"/>
              </a:xfrm>
              <a:prstGeom prst="rect">
                <a:avLst/>
              </a:prstGeom>
              <a:solidFill>
                <a:srgbClr val="E8EEF3"/>
              </a:solidFill>
              <a:ln w="12700">
                <a:solidFill>
                  <a:srgbClr val="E8EEF3"/>
                </a:solidFill>
                <a:prstDash val="solid"/>
              </a:ln>
            </p:spPr>
            <p:txBody>
              <a:bodyPr anchor="ctr"/>
              <a:lstStyle/>
              <a:p>
                <a:pPr/>
                <a14:m>
                  <m:oMathPara xmlns:m="http://schemas.openxmlformats.org/officeDocument/2006/math">
                    <m:oMathParaPr>
                      <m:jc m:val="center"/>
                    </m:oMathParaPr>
                    <m:oMath xmlns:m="http://schemas.openxmlformats.org/officeDocument/2006/math">
                      <m:sSub>
                        <m:sSubPr>
                          <m:ctrlPr>
                            <a:rPr lang="it-IT" sz="1100" i="1" smtClean="0">
                              <a:solidFill>
                                <a:schemeClr val="tx2">
                                  <a:lumMod val="90000"/>
                                  <a:lumOff val="10000"/>
                                </a:schemeClr>
                              </a:solidFill>
                              <a:latin typeface="Cambria Math" panose="02040503050406030204" pitchFamily="18" charset="0"/>
                            </a:rPr>
                          </m:ctrlPr>
                        </m:sSubPr>
                        <m:e>
                          <m:r>
                            <a:rPr lang="it-IT" sz="1100" b="0" i="1" smtClean="0">
                              <a:solidFill>
                                <a:schemeClr val="tx2">
                                  <a:lumMod val="90000"/>
                                  <a:lumOff val="10000"/>
                                </a:schemeClr>
                              </a:solidFill>
                              <a:latin typeface="Cambria Math" panose="02040503050406030204" pitchFamily="18" charset="0"/>
                            </a:rPr>
                            <m:t>𝑀</m:t>
                          </m:r>
                        </m:e>
                        <m:sub>
                          <m:r>
                            <a:rPr lang="it-IT" sz="1100" b="0" i="1" smtClean="0">
                              <a:solidFill>
                                <a:schemeClr val="tx2">
                                  <a:lumMod val="90000"/>
                                  <a:lumOff val="10000"/>
                                </a:schemeClr>
                              </a:solidFill>
                              <a:latin typeface="Cambria Math" panose="02040503050406030204" pitchFamily="18" charset="0"/>
                            </a:rPr>
                            <m:t>𝑒𝑓𝑓</m:t>
                          </m:r>
                        </m:sub>
                      </m:sSub>
                      <m:d>
                        <m:dPr>
                          <m:ctrlPr>
                            <a:rPr lang="it-IT" sz="1100" i="1" smtClean="0">
                              <a:solidFill>
                                <a:schemeClr val="tx2">
                                  <a:lumMod val="90000"/>
                                  <a:lumOff val="10000"/>
                                </a:schemeClr>
                              </a:solidFill>
                              <a:latin typeface="Cambria Math" panose="02040503050406030204" pitchFamily="18" charset="0"/>
                            </a:rPr>
                          </m:ctrlPr>
                        </m:dPr>
                        <m:e>
                          <m:r>
                            <a:rPr lang="it-IT" sz="1100" b="0" i="1" smtClean="0">
                              <a:solidFill>
                                <a:schemeClr val="tx2">
                                  <a:lumMod val="90000"/>
                                  <a:lumOff val="10000"/>
                                </a:schemeClr>
                              </a:solidFill>
                              <a:latin typeface="Cambria Math" panose="02040503050406030204" pitchFamily="18" charset="0"/>
                            </a:rPr>
                            <m:t>𝜃</m:t>
                          </m:r>
                        </m:e>
                      </m:d>
                      <m:acc>
                        <m:accPr>
                          <m:chr m:val="̈"/>
                          <m:ctrlPr>
                            <a:rPr lang="it-IT" sz="1100" i="1" smtClean="0">
                              <a:solidFill>
                                <a:schemeClr val="tx2">
                                  <a:lumMod val="90000"/>
                                  <a:lumOff val="10000"/>
                                </a:schemeClr>
                              </a:solidFill>
                              <a:latin typeface="Cambria Math" panose="02040503050406030204" pitchFamily="18" charset="0"/>
                            </a:rPr>
                          </m:ctrlPr>
                        </m:accPr>
                        <m:e>
                          <m:r>
                            <a:rPr lang="it-IT" sz="1100" b="0" i="1" smtClean="0">
                              <a:solidFill>
                                <a:schemeClr val="tx2">
                                  <a:lumMod val="90000"/>
                                  <a:lumOff val="10000"/>
                                </a:schemeClr>
                              </a:solidFill>
                              <a:latin typeface="Cambria Math" panose="02040503050406030204" pitchFamily="18" charset="0"/>
                            </a:rPr>
                            <m:t>𝜃</m:t>
                          </m:r>
                        </m:e>
                      </m:acc>
                      <m:r>
                        <a:rPr lang="it-IT" sz="1100" b="0" i="1" smtClean="0">
                          <a:solidFill>
                            <a:schemeClr val="tx2">
                              <a:lumMod val="90000"/>
                              <a:lumOff val="10000"/>
                            </a:schemeClr>
                          </a:solidFill>
                          <a:latin typeface="Cambria Math" panose="02040503050406030204" pitchFamily="18" charset="0"/>
                        </a:rPr>
                        <m:t>=</m:t>
                      </m:r>
                      <m:sSub>
                        <m:sSubPr>
                          <m:ctrlPr>
                            <a:rPr lang="it-IT" sz="1100" i="1" smtClean="0">
                              <a:solidFill>
                                <a:schemeClr val="tx2">
                                  <a:lumMod val="90000"/>
                                  <a:lumOff val="10000"/>
                                </a:schemeClr>
                              </a:solidFill>
                              <a:latin typeface="Cambria Math" panose="02040503050406030204" pitchFamily="18" charset="0"/>
                            </a:rPr>
                          </m:ctrlPr>
                        </m:sSubPr>
                        <m:e>
                          <m:r>
                            <a:rPr lang="it-IT" sz="1100" b="0" i="1" smtClean="0">
                              <a:solidFill>
                                <a:schemeClr val="tx2">
                                  <a:lumMod val="90000"/>
                                  <a:lumOff val="10000"/>
                                </a:schemeClr>
                              </a:solidFill>
                              <a:latin typeface="Cambria Math" panose="02040503050406030204" pitchFamily="18" charset="0"/>
                            </a:rPr>
                            <m:t>𝜏</m:t>
                          </m:r>
                        </m:e>
                        <m:sub>
                          <m:r>
                            <a:rPr lang="it-IT" sz="1100" b="0" i="1" smtClean="0">
                              <a:solidFill>
                                <a:schemeClr val="tx2">
                                  <a:lumMod val="90000"/>
                                  <a:lumOff val="10000"/>
                                </a:schemeClr>
                              </a:solidFill>
                              <a:latin typeface="Cambria Math" panose="02040503050406030204" pitchFamily="18" charset="0"/>
                            </a:rPr>
                            <m:t>𝑚</m:t>
                          </m:r>
                        </m:sub>
                      </m:sSub>
                      <m:r>
                        <a:rPr lang="it-IT" sz="1100" b="0" i="1" smtClean="0">
                          <a:solidFill>
                            <a:schemeClr val="tx2">
                              <a:lumMod val="90000"/>
                              <a:lumOff val="10000"/>
                            </a:schemeClr>
                          </a:solidFill>
                          <a:latin typeface="Cambria Math" panose="02040503050406030204" pitchFamily="18" charset="0"/>
                        </a:rPr>
                        <m:t>+</m:t>
                      </m:r>
                      <m:sSub>
                        <m:sSubPr>
                          <m:ctrlPr>
                            <a:rPr lang="it-IT" sz="1100" i="1" smtClean="0">
                              <a:solidFill>
                                <a:schemeClr val="tx2">
                                  <a:lumMod val="90000"/>
                                  <a:lumOff val="10000"/>
                                </a:schemeClr>
                              </a:solidFill>
                              <a:latin typeface="Cambria Math" panose="02040503050406030204" pitchFamily="18" charset="0"/>
                            </a:rPr>
                          </m:ctrlPr>
                        </m:sSubPr>
                        <m:e>
                          <m:r>
                            <a:rPr lang="it-IT" sz="1100" b="0" i="1" smtClean="0">
                              <a:solidFill>
                                <a:schemeClr val="tx2">
                                  <a:lumMod val="90000"/>
                                  <a:lumOff val="10000"/>
                                </a:schemeClr>
                              </a:solidFill>
                              <a:latin typeface="Cambria Math" panose="02040503050406030204" pitchFamily="18" charset="0"/>
                            </a:rPr>
                            <m:t>𝜏</m:t>
                          </m:r>
                        </m:e>
                        <m:sub>
                          <m:r>
                            <a:rPr lang="it-IT" sz="1100" b="0" i="1" smtClean="0">
                              <a:solidFill>
                                <a:schemeClr val="tx2">
                                  <a:lumMod val="90000"/>
                                  <a:lumOff val="10000"/>
                                </a:schemeClr>
                              </a:solidFill>
                              <a:latin typeface="Cambria Math" panose="02040503050406030204" pitchFamily="18" charset="0"/>
                            </a:rPr>
                            <m:t>𝑝𝑎𝑠𝑠</m:t>
                          </m:r>
                          <m:r>
                            <a:rPr lang="it-IT" sz="1100" b="0" i="1" smtClean="0">
                              <a:solidFill>
                                <a:schemeClr val="tx2">
                                  <a:lumMod val="90000"/>
                                  <a:lumOff val="10000"/>
                                </a:schemeClr>
                              </a:solidFill>
                              <a:latin typeface="Cambria Math" panose="02040503050406030204" pitchFamily="18" charset="0"/>
                            </a:rPr>
                            <m:t>,</m:t>
                          </m:r>
                          <m:r>
                            <a:rPr lang="it-IT" sz="1100" b="0" i="1" smtClean="0">
                              <a:solidFill>
                                <a:schemeClr val="tx2">
                                  <a:lumMod val="90000"/>
                                  <a:lumOff val="10000"/>
                                </a:schemeClr>
                              </a:solidFill>
                              <a:latin typeface="Cambria Math" panose="02040503050406030204" pitchFamily="18" charset="0"/>
                            </a:rPr>
                            <m:t>𝜃</m:t>
                          </m:r>
                        </m:sub>
                      </m:sSub>
                      <m:d>
                        <m:dPr>
                          <m:ctrlPr>
                            <a:rPr lang="it-IT" sz="1100" i="1" smtClean="0">
                              <a:solidFill>
                                <a:schemeClr val="tx2">
                                  <a:lumMod val="90000"/>
                                  <a:lumOff val="10000"/>
                                </a:schemeClr>
                              </a:solidFill>
                              <a:latin typeface="Cambria Math" panose="02040503050406030204" pitchFamily="18" charset="0"/>
                            </a:rPr>
                          </m:ctrlPr>
                        </m:dPr>
                        <m:e>
                          <m:r>
                            <a:rPr lang="it-IT" sz="1100" b="0" i="1" smtClean="0">
                              <a:solidFill>
                                <a:schemeClr val="tx2">
                                  <a:lumMod val="90000"/>
                                  <a:lumOff val="10000"/>
                                </a:schemeClr>
                              </a:solidFill>
                              <a:latin typeface="Cambria Math" panose="02040503050406030204" pitchFamily="18" charset="0"/>
                            </a:rPr>
                            <m:t>𝜃</m:t>
                          </m:r>
                          <m:r>
                            <a:rPr lang="it-IT" sz="1100" b="0" i="1" smtClean="0">
                              <a:solidFill>
                                <a:schemeClr val="tx2">
                                  <a:lumMod val="90000"/>
                                  <a:lumOff val="10000"/>
                                </a:schemeClr>
                              </a:solidFill>
                              <a:latin typeface="Cambria Math" panose="02040503050406030204" pitchFamily="18" charset="0"/>
                            </a:rPr>
                            <m:t>,</m:t>
                          </m:r>
                          <m:acc>
                            <m:accPr>
                              <m:chr m:val="̇"/>
                              <m:ctrlPr>
                                <a:rPr lang="it-IT" sz="1100" i="1" smtClean="0">
                                  <a:solidFill>
                                    <a:schemeClr val="tx2">
                                      <a:lumMod val="90000"/>
                                      <a:lumOff val="10000"/>
                                    </a:schemeClr>
                                  </a:solidFill>
                                  <a:latin typeface="Cambria Math" panose="02040503050406030204" pitchFamily="18" charset="0"/>
                                </a:rPr>
                              </m:ctrlPr>
                            </m:accPr>
                            <m:e>
                              <m:r>
                                <a:rPr lang="it-IT" sz="1100" b="0" i="1" smtClean="0">
                                  <a:solidFill>
                                    <a:schemeClr val="tx2">
                                      <a:lumMod val="90000"/>
                                      <a:lumOff val="10000"/>
                                    </a:schemeClr>
                                  </a:solidFill>
                                  <a:latin typeface="Cambria Math" panose="02040503050406030204" pitchFamily="18" charset="0"/>
                                </a:rPr>
                                <m:t>𝜃</m:t>
                              </m:r>
                            </m:e>
                          </m:acc>
                        </m:e>
                      </m:d>
                      <m:r>
                        <a:rPr lang="it-IT" sz="1100" b="0" i="1" smtClean="0">
                          <a:solidFill>
                            <a:schemeClr val="tx2">
                              <a:lumMod val="90000"/>
                              <a:lumOff val="10000"/>
                            </a:schemeClr>
                          </a:solidFill>
                          <a:latin typeface="Cambria Math" panose="02040503050406030204" pitchFamily="18" charset="0"/>
                        </a:rPr>
                        <m:t>+</m:t>
                      </m:r>
                      <m:sSub>
                        <m:sSubPr>
                          <m:ctrlPr>
                            <a:rPr lang="it-IT" sz="1100" i="1" smtClean="0">
                              <a:solidFill>
                                <a:schemeClr val="tx2">
                                  <a:lumMod val="90000"/>
                                  <a:lumOff val="10000"/>
                                </a:schemeClr>
                              </a:solidFill>
                              <a:latin typeface="Cambria Math" panose="02040503050406030204" pitchFamily="18" charset="0"/>
                            </a:rPr>
                          </m:ctrlPr>
                        </m:sSubPr>
                        <m:e>
                          <m:r>
                            <a:rPr lang="it-IT" sz="1100" b="0" i="1" smtClean="0">
                              <a:solidFill>
                                <a:schemeClr val="tx2">
                                  <a:lumMod val="90000"/>
                                  <a:lumOff val="10000"/>
                                </a:schemeClr>
                              </a:solidFill>
                              <a:latin typeface="Cambria Math" panose="02040503050406030204" pitchFamily="18" charset="0"/>
                            </a:rPr>
                            <m:t>𝜏</m:t>
                          </m:r>
                        </m:e>
                        <m:sub>
                          <m:r>
                            <a:rPr lang="it-IT" sz="1100" b="0" i="1" smtClean="0">
                              <a:solidFill>
                                <a:schemeClr val="tx2">
                                  <a:lumMod val="90000"/>
                                  <a:lumOff val="10000"/>
                                </a:schemeClr>
                              </a:solidFill>
                              <a:latin typeface="Cambria Math" panose="02040503050406030204" pitchFamily="18" charset="0"/>
                            </a:rPr>
                            <m:t>𝑒𝑥𝑡</m:t>
                          </m:r>
                          <m:r>
                            <a:rPr lang="it-IT" sz="1100" b="0" i="1" smtClean="0">
                              <a:solidFill>
                                <a:schemeClr val="tx2">
                                  <a:lumMod val="90000"/>
                                  <a:lumOff val="10000"/>
                                </a:schemeClr>
                              </a:solidFill>
                              <a:latin typeface="Cambria Math" panose="02040503050406030204" pitchFamily="18" charset="0"/>
                            </a:rPr>
                            <m:t>,</m:t>
                          </m:r>
                          <m:r>
                            <a:rPr lang="it-IT" sz="1100" b="0" i="1" smtClean="0">
                              <a:solidFill>
                                <a:schemeClr val="tx2">
                                  <a:lumMod val="90000"/>
                                  <a:lumOff val="10000"/>
                                </a:schemeClr>
                              </a:solidFill>
                              <a:latin typeface="Cambria Math" panose="02040503050406030204" pitchFamily="18" charset="0"/>
                            </a:rPr>
                            <m:t>𝜃</m:t>
                          </m:r>
                        </m:sub>
                      </m:sSub>
                      <m:d>
                        <m:dPr>
                          <m:ctrlPr>
                            <a:rPr lang="it-IT" sz="1100" i="1" smtClean="0">
                              <a:solidFill>
                                <a:schemeClr val="tx2">
                                  <a:lumMod val="90000"/>
                                  <a:lumOff val="10000"/>
                                </a:schemeClr>
                              </a:solidFill>
                              <a:latin typeface="Cambria Math" panose="02040503050406030204" pitchFamily="18" charset="0"/>
                            </a:rPr>
                          </m:ctrlPr>
                        </m:dPr>
                        <m:e>
                          <m:r>
                            <a:rPr lang="it-IT" sz="1100" b="0" i="1" smtClean="0">
                              <a:solidFill>
                                <a:schemeClr val="tx2">
                                  <a:lumMod val="90000"/>
                                  <a:lumOff val="10000"/>
                                </a:schemeClr>
                              </a:solidFill>
                              <a:latin typeface="Cambria Math" panose="02040503050406030204" pitchFamily="18" charset="0"/>
                            </a:rPr>
                            <m:t>𝜃</m:t>
                          </m:r>
                        </m:e>
                      </m:d>
                      <m:r>
                        <a:rPr lang="it-IT" sz="1100" b="0" i="1" smtClean="0">
                          <a:solidFill>
                            <a:schemeClr val="tx2">
                              <a:lumMod val="90000"/>
                              <a:lumOff val="10000"/>
                            </a:schemeClr>
                          </a:solidFill>
                          <a:latin typeface="Cambria Math" panose="02040503050406030204" pitchFamily="18" charset="0"/>
                        </a:rPr>
                        <m:t>−</m:t>
                      </m:r>
                      <m:r>
                        <a:rPr lang="it-IT" sz="1100" b="0" i="1" smtClean="0">
                          <a:solidFill>
                            <a:schemeClr val="tx2">
                              <a:lumMod val="90000"/>
                              <a:lumOff val="10000"/>
                            </a:schemeClr>
                          </a:solidFill>
                          <a:latin typeface="Cambria Math" panose="02040503050406030204" pitchFamily="18" charset="0"/>
                        </a:rPr>
                        <m:t>𝑝𝑟𝑜𝑗</m:t>
                      </m:r>
                      <m:d>
                        <m:dPr>
                          <m:ctrlPr>
                            <a:rPr lang="it-IT" sz="1100" i="1" smtClean="0">
                              <a:solidFill>
                                <a:schemeClr val="tx2">
                                  <a:lumMod val="90000"/>
                                  <a:lumOff val="10000"/>
                                </a:schemeClr>
                              </a:solidFill>
                              <a:latin typeface="Cambria Math" panose="02040503050406030204" pitchFamily="18" charset="0"/>
                            </a:rPr>
                          </m:ctrlPr>
                        </m:dPr>
                        <m:e>
                          <m:r>
                            <a:rPr lang="it-IT" sz="1100" b="0" i="1" smtClean="0">
                              <a:solidFill>
                                <a:schemeClr val="tx2">
                                  <a:lumMod val="90000"/>
                                  <a:lumOff val="10000"/>
                                </a:schemeClr>
                              </a:solidFill>
                              <a:latin typeface="Cambria Math" panose="02040503050406030204" pitchFamily="18" charset="0"/>
                            </a:rPr>
                            <m:t>𝜃</m:t>
                          </m:r>
                          <m:r>
                            <a:rPr lang="it-IT" sz="1100" b="0" i="1" smtClean="0">
                              <a:solidFill>
                                <a:schemeClr val="tx2">
                                  <a:lumMod val="90000"/>
                                  <a:lumOff val="10000"/>
                                </a:schemeClr>
                              </a:solidFill>
                              <a:latin typeface="Cambria Math" panose="02040503050406030204" pitchFamily="18" charset="0"/>
                            </a:rPr>
                            <m:t>,</m:t>
                          </m:r>
                          <m:acc>
                            <m:accPr>
                              <m:chr m:val="̇"/>
                              <m:ctrlPr>
                                <a:rPr lang="it-IT" sz="1100" i="1" smtClean="0">
                                  <a:solidFill>
                                    <a:schemeClr val="tx2">
                                      <a:lumMod val="90000"/>
                                      <a:lumOff val="10000"/>
                                    </a:schemeClr>
                                  </a:solidFill>
                                  <a:latin typeface="Cambria Math" panose="02040503050406030204" pitchFamily="18" charset="0"/>
                                </a:rPr>
                              </m:ctrlPr>
                            </m:accPr>
                            <m:e>
                              <m:r>
                                <a:rPr lang="it-IT" sz="1100" b="0" i="1" smtClean="0">
                                  <a:solidFill>
                                    <a:schemeClr val="tx2">
                                      <a:lumMod val="90000"/>
                                      <a:lumOff val="10000"/>
                                    </a:schemeClr>
                                  </a:solidFill>
                                  <a:latin typeface="Cambria Math" panose="02040503050406030204" pitchFamily="18" charset="0"/>
                                </a:rPr>
                                <m:t>𝜃</m:t>
                              </m:r>
                            </m:e>
                          </m:acc>
                        </m:e>
                      </m:d>
                      <m:r>
                        <a:rPr lang="it-IT" sz="1100" b="0" i="1" smtClean="0">
                          <a:solidFill>
                            <a:schemeClr val="tx2">
                              <a:lumMod val="90000"/>
                              <a:lumOff val="10000"/>
                            </a:schemeClr>
                          </a:solidFill>
                          <a:latin typeface="Cambria Math" panose="02040503050406030204" pitchFamily="18" charset="0"/>
                        </a:rPr>
                        <m:t>−</m:t>
                      </m:r>
                      <m:sSub>
                        <m:sSubPr>
                          <m:ctrlPr>
                            <a:rPr lang="it-IT" sz="1100" i="1" smtClean="0">
                              <a:solidFill>
                                <a:schemeClr val="tx2">
                                  <a:lumMod val="90000"/>
                                  <a:lumOff val="10000"/>
                                </a:schemeClr>
                              </a:solidFill>
                              <a:latin typeface="Cambria Math" panose="02040503050406030204" pitchFamily="18" charset="0"/>
                            </a:rPr>
                          </m:ctrlPr>
                        </m:sSubPr>
                        <m:e>
                          <m:r>
                            <a:rPr lang="it-IT" sz="1100" b="0" i="1" smtClean="0">
                              <a:solidFill>
                                <a:schemeClr val="tx2">
                                  <a:lumMod val="90000"/>
                                  <a:lumOff val="10000"/>
                                </a:schemeClr>
                              </a:solidFill>
                              <a:latin typeface="Cambria Math" panose="02040503050406030204" pitchFamily="18" charset="0"/>
                            </a:rPr>
                            <m:t>𝜏</m:t>
                          </m:r>
                        </m:e>
                        <m:sub>
                          <m:r>
                            <a:rPr lang="it-IT" sz="1100" b="0" i="1" smtClean="0">
                              <a:solidFill>
                                <a:schemeClr val="tx2">
                                  <a:lumMod val="90000"/>
                                  <a:lumOff val="10000"/>
                                </a:schemeClr>
                              </a:solidFill>
                              <a:latin typeface="Cambria Math" panose="02040503050406030204" pitchFamily="18" charset="0"/>
                            </a:rPr>
                            <m:t>𝑓𝑟𝑖𝑐</m:t>
                          </m:r>
                        </m:sub>
                      </m:sSub>
                      <m:d>
                        <m:dPr>
                          <m:ctrlPr>
                            <a:rPr lang="it-IT" sz="1100" i="1" smtClean="0">
                              <a:solidFill>
                                <a:schemeClr val="tx2">
                                  <a:lumMod val="90000"/>
                                  <a:lumOff val="10000"/>
                                </a:schemeClr>
                              </a:solidFill>
                              <a:latin typeface="Cambria Math" panose="02040503050406030204" pitchFamily="18" charset="0"/>
                            </a:rPr>
                          </m:ctrlPr>
                        </m:dPr>
                        <m:e>
                          <m:acc>
                            <m:accPr>
                              <m:chr m:val="̇"/>
                              <m:ctrlPr>
                                <a:rPr lang="it-IT" sz="1100" i="1" smtClean="0">
                                  <a:solidFill>
                                    <a:schemeClr val="tx2">
                                      <a:lumMod val="90000"/>
                                      <a:lumOff val="10000"/>
                                    </a:schemeClr>
                                  </a:solidFill>
                                  <a:latin typeface="Cambria Math" panose="02040503050406030204" pitchFamily="18" charset="0"/>
                                </a:rPr>
                              </m:ctrlPr>
                            </m:accPr>
                            <m:e>
                              <m:r>
                                <a:rPr lang="it-IT" sz="1100" b="0" i="1" smtClean="0">
                                  <a:solidFill>
                                    <a:schemeClr val="tx2">
                                      <a:lumMod val="90000"/>
                                      <a:lumOff val="10000"/>
                                    </a:schemeClr>
                                  </a:solidFill>
                                  <a:latin typeface="Cambria Math" panose="02040503050406030204" pitchFamily="18" charset="0"/>
                                </a:rPr>
                                <m:t>𝜃</m:t>
                              </m:r>
                            </m:e>
                          </m:acc>
                        </m:e>
                      </m:d>
                      <m:r>
                        <a:rPr lang="it-IT" sz="1100" b="0" i="1" smtClean="0">
                          <a:solidFill>
                            <a:schemeClr val="tx2">
                              <a:lumMod val="90000"/>
                              <a:lumOff val="10000"/>
                            </a:schemeClr>
                          </a:solidFill>
                          <a:latin typeface="Cambria Math" panose="02040503050406030204" pitchFamily="18" charset="0"/>
                        </a:rPr>
                        <m:t>−</m:t>
                      </m:r>
                      <m:sSub>
                        <m:sSubPr>
                          <m:ctrlPr>
                            <a:rPr lang="it-IT" sz="1100" i="1" smtClean="0">
                              <a:solidFill>
                                <a:schemeClr val="tx2">
                                  <a:lumMod val="90000"/>
                                  <a:lumOff val="10000"/>
                                </a:schemeClr>
                              </a:solidFill>
                              <a:latin typeface="Cambria Math" panose="02040503050406030204" pitchFamily="18" charset="0"/>
                            </a:rPr>
                          </m:ctrlPr>
                        </m:sSubPr>
                        <m:e>
                          <m:r>
                            <a:rPr lang="it-IT" sz="1100" b="0" i="1" smtClean="0">
                              <a:solidFill>
                                <a:schemeClr val="tx2">
                                  <a:lumMod val="90000"/>
                                  <a:lumOff val="10000"/>
                                </a:schemeClr>
                              </a:solidFill>
                              <a:latin typeface="Cambria Math" panose="02040503050406030204" pitchFamily="18" charset="0"/>
                            </a:rPr>
                            <m:t>𝜏</m:t>
                          </m:r>
                        </m:e>
                        <m:sub>
                          <m:r>
                            <a:rPr lang="it-IT" sz="1100" b="0" i="1" smtClean="0">
                              <a:solidFill>
                                <a:schemeClr val="tx2">
                                  <a:lumMod val="90000"/>
                                  <a:lumOff val="10000"/>
                                </a:schemeClr>
                              </a:solidFill>
                              <a:latin typeface="Cambria Math" panose="02040503050406030204" pitchFamily="18" charset="0"/>
                            </a:rPr>
                            <m:t>𝑑𝑎𝑚𝑝</m:t>
                          </m:r>
                        </m:sub>
                      </m:sSub>
                      <m:d>
                        <m:dPr>
                          <m:ctrlPr>
                            <a:rPr lang="it-IT" sz="1100" i="1" smtClean="0">
                              <a:solidFill>
                                <a:schemeClr val="tx2">
                                  <a:lumMod val="90000"/>
                                  <a:lumOff val="10000"/>
                                </a:schemeClr>
                              </a:solidFill>
                              <a:latin typeface="Cambria Math" panose="02040503050406030204" pitchFamily="18" charset="0"/>
                            </a:rPr>
                          </m:ctrlPr>
                        </m:dPr>
                        <m:e>
                          <m:acc>
                            <m:accPr>
                              <m:chr m:val="̇"/>
                              <m:ctrlPr>
                                <a:rPr lang="it-IT" sz="1100" i="1" smtClean="0">
                                  <a:solidFill>
                                    <a:schemeClr val="tx2">
                                      <a:lumMod val="90000"/>
                                      <a:lumOff val="10000"/>
                                    </a:schemeClr>
                                  </a:solidFill>
                                  <a:latin typeface="Cambria Math" panose="02040503050406030204" pitchFamily="18" charset="0"/>
                                </a:rPr>
                              </m:ctrlPr>
                            </m:accPr>
                            <m:e>
                              <m:r>
                                <a:rPr lang="it-IT" sz="1100" b="0" i="1" smtClean="0">
                                  <a:solidFill>
                                    <a:schemeClr val="tx2">
                                      <a:lumMod val="90000"/>
                                      <a:lumOff val="10000"/>
                                    </a:schemeClr>
                                  </a:solidFill>
                                  <a:latin typeface="Cambria Math" panose="02040503050406030204" pitchFamily="18" charset="0"/>
                                </a:rPr>
                                <m:t>𝜃</m:t>
                              </m:r>
                            </m:e>
                          </m:acc>
                        </m:e>
                      </m:d>
                    </m:oMath>
                  </m:oMathPara>
                </a14:m>
                <a:endParaRPr lang="it-IT" sz="1200" i="1" dirty="0"/>
              </a:p>
            </p:txBody>
          </p:sp>
        </mc:Choice>
        <mc:Fallback xmlns="">
          <p:sp>
            <p:nvSpPr>
              <p:cNvPr id="25" name="Shape 14">
                <a:extLst>
                  <a:ext uri="{FF2B5EF4-FFF2-40B4-BE49-F238E27FC236}">
                    <a16:creationId xmlns:a16="http://schemas.microsoft.com/office/drawing/2014/main" id="{971D8127-9BB2-98FC-063A-3EBCF531470C}"/>
                  </a:ext>
                </a:extLst>
              </p:cNvPr>
              <p:cNvSpPr>
                <a:spLocks noRot="1" noChangeAspect="1" noMove="1" noResize="1" noEditPoints="1" noAdjustHandles="1" noChangeArrowheads="1" noChangeShapeType="1" noTextEdit="1"/>
              </p:cNvSpPr>
              <p:nvPr/>
            </p:nvSpPr>
            <p:spPr>
              <a:xfrm>
                <a:off x="6362547" y="3401568"/>
                <a:ext cx="5212080" cy="594360"/>
              </a:xfrm>
              <a:prstGeom prst="rect">
                <a:avLst/>
              </a:prstGeom>
              <a:blipFill>
                <a:blip r:embed="rId10"/>
                <a:stretch>
                  <a:fillRect/>
                </a:stretch>
              </a:blipFill>
              <a:ln w="12700">
                <a:solidFill>
                  <a:srgbClr val="E8EEF3"/>
                </a:solidFill>
                <a:prstDash val="solid"/>
              </a:ln>
            </p:spPr>
            <p:txBody>
              <a:bodyPr/>
              <a:lstStyle/>
              <a:p>
                <a:r>
                  <a:rPr lang="it-IT">
                    <a:noFill/>
                  </a:rPr>
                  <a:t> </a:t>
                </a:r>
              </a:p>
            </p:txBody>
          </p:sp>
        </mc:Fallback>
      </mc:AlternateContent>
      <p:sp>
        <p:nvSpPr>
          <p:cNvPr id="27" name="Text 16">
            <a:extLst>
              <a:ext uri="{FF2B5EF4-FFF2-40B4-BE49-F238E27FC236}">
                <a16:creationId xmlns:a16="http://schemas.microsoft.com/office/drawing/2014/main" id="{CCEBC70D-5B3E-3C9D-5415-3CBE3863F074}"/>
              </a:ext>
            </a:extLst>
          </p:cNvPr>
          <p:cNvSpPr/>
          <p:nvPr/>
        </p:nvSpPr>
        <p:spPr>
          <a:xfrm>
            <a:off x="6362547" y="4096512"/>
            <a:ext cx="5212080" cy="365760"/>
          </a:xfrm>
          <a:prstGeom prst="rect">
            <a:avLst/>
          </a:prstGeom>
          <a:noFill/>
          <a:ln/>
        </p:spPr>
        <p:txBody>
          <a:bodyPr wrap="square" lIns="0" tIns="0" rIns="0" bIns="0" rtlCol="0" anchor="ctr"/>
          <a:lstStyle/>
          <a:p>
            <a:pPr marL="0" indent="0">
              <a:buNone/>
            </a:pPr>
            <a:r>
              <a:rPr lang="en-US" sz="1100" i="1" dirty="0">
                <a:solidFill>
                  <a:srgbClr val="64748B"/>
                </a:solidFill>
                <a:latin typeface="Poppins "/>
                <a:ea typeface="Calibri" pitchFamily="34" charset="-122"/>
                <a:cs typeface="Calibri" pitchFamily="34" charset="-120"/>
              </a:rPr>
              <a:t>Inertial, Coriolis, friction, passive biomechanical and external contributions condensed into a scalar nonlinear ODE.</a:t>
            </a:r>
            <a:endParaRPr lang="en-US" sz="1100" dirty="0">
              <a:latin typeface="Poppins "/>
            </a:endParaRPr>
          </a:p>
        </p:txBody>
      </p:sp>
      <p:sp>
        <p:nvSpPr>
          <p:cNvPr id="28" name="TextBox 27">
            <a:extLst>
              <a:ext uri="{FF2B5EF4-FFF2-40B4-BE49-F238E27FC236}">
                <a16:creationId xmlns:a16="http://schemas.microsoft.com/office/drawing/2014/main" id="{78C026A7-8FA1-2667-7407-51DD1F879F20}"/>
              </a:ext>
            </a:extLst>
          </p:cNvPr>
          <p:cNvSpPr txBox="1"/>
          <p:nvPr/>
        </p:nvSpPr>
        <p:spPr>
          <a:xfrm>
            <a:off x="856132" y="5020477"/>
            <a:ext cx="11133742" cy="708143"/>
          </a:xfrm>
          <a:prstGeom prst="rect">
            <a:avLst/>
          </a:prstGeom>
          <a:noFill/>
        </p:spPr>
        <p:txBody>
          <a:bodyPr wrap="square" rtlCol="0">
            <a:spAutoFit/>
          </a:bodyPr>
          <a:lstStyle/>
          <a:p>
            <a:pPr>
              <a:lnSpc>
                <a:spcPct val="150000"/>
              </a:lnSpc>
            </a:pPr>
            <a:r>
              <a:rPr lang="it-IT" sz="1400" dirty="0">
                <a:solidFill>
                  <a:srgbClr val="193C6A"/>
                </a:solidFill>
                <a:latin typeface="Poppins "/>
              </a:rPr>
              <a:t>Closed Constrained Forward Kinematic and Reduced Dynamics are both solved in a ROS node at 200Hz </a:t>
            </a:r>
          </a:p>
          <a:p>
            <a:pPr>
              <a:lnSpc>
                <a:spcPct val="150000"/>
              </a:lnSpc>
            </a:pPr>
            <a:r>
              <a:rPr lang="it-IT" sz="1400">
                <a:solidFill>
                  <a:srgbClr val="193C6A"/>
                </a:solidFill>
                <a:latin typeface="Poppins "/>
              </a:rPr>
              <a:t>Later, </a:t>
            </a:r>
            <a:r>
              <a:rPr lang="it-IT" sz="1400" dirty="0">
                <a:solidFill>
                  <a:srgbClr val="193C6A"/>
                </a:solidFill>
                <a:latin typeface="Poppins "/>
              </a:rPr>
              <a:t>the </a:t>
            </a:r>
            <a:r>
              <a:rPr lang="it-IT" sz="1400" b="1" dirty="0">
                <a:solidFill>
                  <a:srgbClr val="193C6A"/>
                </a:solidFill>
                <a:latin typeface="Poppins "/>
              </a:rPr>
              <a:t>step()</a:t>
            </a:r>
            <a:r>
              <a:rPr lang="it-IT" sz="1400" dirty="0">
                <a:solidFill>
                  <a:srgbClr val="193C6A"/>
                </a:solidFill>
                <a:latin typeface="Poppins "/>
              </a:rPr>
              <a:t> function is presented and the main points are highlighted</a:t>
            </a:r>
          </a:p>
        </p:txBody>
      </p:sp>
    </p:spTree>
    <p:extLst>
      <p:ext uri="{BB962C8B-B14F-4D97-AF65-F5344CB8AC3E}">
        <p14:creationId xmlns:p14="http://schemas.microsoft.com/office/powerpoint/2010/main" val="3191317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F47A-3367-B8C9-1492-4C41D45B7853}"/>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81B3A9F3-97F5-73BC-5B4B-6696DAB00645}"/>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5C5DBCF4-93A3-6765-2917-F58531465422}"/>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98D92AF4-D2D5-E8D1-5039-838E047D08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D8979F3D-D589-002A-556F-C0219841CF23}"/>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D8979F3D-D589-002A-556F-C0219841CF23}"/>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CB9277C1-ECAA-1364-3EE1-BF2D49B339D5}"/>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CB9277C1-ECAA-1364-3EE1-BF2D49B339D5}"/>
                  </a:ext>
                </a:extLst>
              </p:cNvPr>
              <p:cNvPicPr/>
              <p:nvPr/>
            </p:nvPicPr>
            <p:blipFill>
              <a:blip r:embed="rId6"/>
              <a:stretch>
                <a:fillRect/>
              </a:stretch>
            </p:blipFill>
            <p:spPr>
              <a:xfrm>
                <a:off x="5259213" y="963076"/>
                <a:ext cx="1950120" cy="35156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5B5D4692-E491-7E18-E232-6AE1CA19967E}"/>
                  </a:ext>
                </a:extLst>
              </p14:cNvPr>
              <p14:cNvContentPartPr/>
              <p14:nvPr/>
            </p14:nvContentPartPr>
            <p14:xfrm>
              <a:off x="525933" y="2691537"/>
              <a:ext cx="360" cy="360"/>
            </p14:xfrm>
          </p:contentPart>
        </mc:Choice>
        <mc:Fallback xmlns="">
          <p:pic>
            <p:nvPicPr>
              <p:cNvPr id="13" name="Ink 12">
                <a:extLst>
                  <a:ext uri="{FF2B5EF4-FFF2-40B4-BE49-F238E27FC236}">
                    <a16:creationId xmlns:a16="http://schemas.microsoft.com/office/drawing/2014/main" id="{5B5D4692-E491-7E18-E232-6AE1CA19967E}"/>
                  </a:ext>
                </a:extLst>
              </p:cNvPr>
              <p:cNvPicPr/>
              <p:nvPr/>
            </p:nvPicPr>
            <p:blipFill>
              <a:blip r:embed="rId8"/>
              <a:stretch>
                <a:fillRect/>
              </a:stretch>
            </p:blipFill>
            <p:spPr>
              <a:xfrm>
                <a:off x="462933" y="2628537"/>
                <a:ext cx="126000" cy="126000"/>
              </a:xfrm>
              <a:prstGeom prst="rect">
                <a:avLst/>
              </a:prstGeom>
            </p:spPr>
          </p:pic>
        </mc:Fallback>
      </mc:AlternateContent>
      <p:sp>
        <p:nvSpPr>
          <p:cNvPr id="14" name="Google Shape;259;p29">
            <a:extLst>
              <a:ext uri="{FF2B5EF4-FFF2-40B4-BE49-F238E27FC236}">
                <a16:creationId xmlns:a16="http://schemas.microsoft.com/office/drawing/2014/main" id="{9BE3E0B1-EBC1-1545-776F-4DD2FA8D221D}"/>
              </a:ext>
            </a:extLst>
          </p:cNvPr>
          <p:cNvSpPr/>
          <p:nvPr/>
        </p:nvSpPr>
        <p:spPr>
          <a:xfrm>
            <a:off x="525932" y="1433398"/>
            <a:ext cx="7703641"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0F126D7B-EF5E-2408-CD6C-E699D450207E}"/>
              </a:ext>
            </a:extLst>
          </p:cNvPr>
          <p:cNvSpPr txBox="1">
            <a:spLocks/>
          </p:cNvSpPr>
          <p:nvPr/>
        </p:nvSpPr>
        <p:spPr>
          <a:xfrm>
            <a:off x="604929" y="1129380"/>
            <a:ext cx="7704000"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193C6A"/>
                </a:solidFill>
                <a:latin typeface="Poppins Black" panose="00000A00000000000000" pitchFamily="2" charset="0"/>
                <a:ea typeface="Cambria" pitchFamily="34" charset="-122"/>
                <a:cs typeface="Poppins Black" panose="00000A00000000000000" pitchFamily="2" charset="0"/>
              </a:rPr>
              <a:t>Kinematic and Dynamic Modeling</a:t>
            </a:r>
            <a:endParaRPr lang="en-US" sz="3200" dirty="0">
              <a:solidFill>
                <a:srgbClr val="193C6A"/>
              </a:solidFill>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A62608E0-64B9-EBE0-2E9B-F3C7C8F9EE6E}"/>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FD3C449A-FE07-0413-067E-8CFF62B7DEDC}"/>
              </a:ext>
            </a:extLst>
          </p:cNvPr>
          <p:cNvSpPr txBox="1"/>
          <p:nvPr/>
        </p:nvSpPr>
        <p:spPr>
          <a:xfrm>
            <a:off x="604929" y="1705798"/>
            <a:ext cx="6109138" cy="338554"/>
          </a:xfrm>
          <a:prstGeom prst="rect">
            <a:avLst/>
          </a:prstGeom>
          <a:noFill/>
        </p:spPr>
        <p:txBody>
          <a:bodyPr wrap="square">
            <a:spAutoFit/>
          </a:bodyPr>
          <a:lstStyle/>
          <a:p>
            <a:r>
              <a:rPr lang="it-IT" sz="1600" i="1" dirty="0">
                <a:solidFill>
                  <a:srgbClr val="64748B"/>
                </a:solidFill>
                <a:latin typeface="Poppins" panose="00000500000000000000" pitchFamily="2" charset="0"/>
                <a:cs typeface="Poppins" panose="00000500000000000000" pitchFamily="2" charset="0"/>
              </a:rPr>
              <a:t>Closed-chain kinematics </a:t>
            </a:r>
            <a:r>
              <a:rPr lang="en-US" sz="1600" i="1" dirty="0">
                <a:solidFill>
                  <a:srgbClr val="64748B"/>
                </a:solidFill>
                <a:latin typeface="Poppins" panose="00000500000000000000" pitchFamily="2" charset="0"/>
                <a:ea typeface="Calibri" pitchFamily="34" charset="-122"/>
                <a:cs typeface="Poppins" panose="00000500000000000000" pitchFamily="2" charset="0"/>
              </a:rPr>
              <a:t>– Rapid Overview (1/2)</a:t>
            </a:r>
            <a:endParaRPr lang="en-US" sz="1600" dirty="0">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20DC3CB5-AC6B-9C98-783B-61D1044330F7}"/>
              </a:ext>
            </a:extLst>
          </p:cNvPr>
          <p:cNvSpPr txBox="1"/>
          <p:nvPr/>
        </p:nvSpPr>
        <p:spPr>
          <a:xfrm>
            <a:off x="525932" y="2168317"/>
            <a:ext cx="10761746" cy="830997"/>
          </a:xfrm>
          <a:prstGeom prst="rect">
            <a:avLst/>
          </a:prstGeom>
          <a:noFill/>
        </p:spPr>
        <p:txBody>
          <a:bodyPr wrap="square" rtlCol="0">
            <a:spAutoFit/>
          </a:bodyPr>
          <a:lstStyle/>
          <a:p>
            <a:r>
              <a:rPr lang="en-US" sz="1600" dirty="0">
                <a:solidFill>
                  <a:schemeClr val="tx2">
                    <a:lumMod val="90000"/>
                    <a:lumOff val="10000"/>
                  </a:schemeClr>
                </a:solidFill>
                <a:latin typeface="Poppins" panose="00000500000000000000" pitchFamily="2" charset="0"/>
                <a:cs typeface="Poppins" panose="00000500000000000000" pitchFamily="2" charset="0"/>
              </a:rPr>
              <a:t>The exoskeleton has </a:t>
            </a:r>
            <a:r>
              <a:rPr lang="en-US" sz="1600" b="1" dirty="0">
                <a:solidFill>
                  <a:schemeClr val="tx2">
                    <a:lumMod val="90000"/>
                    <a:lumOff val="10000"/>
                  </a:schemeClr>
                </a:solidFill>
                <a:latin typeface="Poppins" panose="00000500000000000000" pitchFamily="2" charset="0"/>
                <a:cs typeface="Poppins" panose="00000500000000000000" pitchFamily="2" charset="0"/>
              </a:rPr>
              <a:t>multiple closed kinematic loops </a:t>
            </a:r>
            <a:r>
              <a:rPr lang="en-US" sz="1600" dirty="0">
                <a:solidFill>
                  <a:schemeClr val="tx2">
                    <a:lumMod val="90000"/>
                    <a:lumOff val="10000"/>
                  </a:schemeClr>
                </a:solidFill>
                <a:latin typeface="Poppins" panose="00000500000000000000" pitchFamily="2" charset="0"/>
                <a:cs typeface="Poppins" panose="00000500000000000000" pitchFamily="2" charset="0"/>
              </a:rPr>
              <a:t>but is modelled as an open-chain URDF. </a:t>
            </a:r>
            <a:r>
              <a:rPr lang="en-US" sz="1600" b="1" dirty="0">
                <a:solidFill>
                  <a:schemeClr val="tx2">
                    <a:lumMod val="90000"/>
                    <a:lumOff val="10000"/>
                  </a:schemeClr>
                </a:solidFill>
                <a:latin typeface="Poppins" panose="00000500000000000000" pitchFamily="2" charset="0"/>
                <a:cs typeface="Poppins" panose="00000500000000000000" pitchFamily="2" charset="0"/>
              </a:rPr>
              <a:t>For each opened joint</a:t>
            </a:r>
            <a:r>
              <a:rPr lang="en-US" sz="1600" dirty="0">
                <a:solidFill>
                  <a:schemeClr val="tx2">
                    <a:lumMod val="90000"/>
                    <a:lumOff val="10000"/>
                  </a:schemeClr>
                </a:solidFill>
                <a:latin typeface="Poppins" panose="00000500000000000000" pitchFamily="2" charset="0"/>
                <a:cs typeface="Poppins" panose="00000500000000000000" pitchFamily="2" charset="0"/>
              </a:rPr>
              <a:t>, a pair of auxiliary frames (A, B) is introduced. At runtime, their coincidence is enforced as a positional constraint:</a:t>
            </a:r>
            <a:endParaRPr lang="it-IT" sz="1600" dirty="0">
              <a:solidFill>
                <a:schemeClr val="tx2">
                  <a:lumMod val="90000"/>
                  <a:lumOff val="10000"/>
                </a:schemeClr>
              </a:solidFill>
              <a:latin typeface="Poppins" panose="00000500000000000000" pitchFamily="2" charset="0"/>
              <a:cs typeface="Poppins" panose="00000500000000000000" pitchFamily="2"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5BAAE90-4C39-91BC-FB17-1DEF5FB0ED1C}"/>
                  </a:ext>
                </a:extLst>
              </p:cNvPr>
              <p:cNvSpPr txBox="1"/>
              <p:nvPr/>
            </p:nvSpPr>
            <p:spPr>
              <a:xfrm>
                <a:off x="4386803" y="3040938"/>
                <a:ext cx="2888034" cy="30418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solidFill>
                                <a:schemeClr val="accent1">
                                  <a:lumMod val="50000"/>
                                </a:schemeClr>
                              </a:solidFill>
                              <a:latin typeface="Cambria Math" panose="02040503050406030204" pitchFamily="18" charset="0"/>
                            </a:rPr>
                          </m:ctrlPr>
                        </m:sSubPr>
                        <m:e>
                          <m:r>
                            <m:rPr>
                              <m:sty m:val="p"/>
                            </m:rPr>
                            <a:rPr lang="it-IT" b="0" i="0" smtClean="0">
                              <a:solidFill>
                                <a:schemeClr val="accent1">
                                  <a:lumMod val="50000"/>
                                </a:schemeClr>
                              </a:solidFill>
                              <a:latin typeface="Cambria Math" panose="02040503050406030204" pitchFamily="18" charset="0"/>
                            </a:rPr>
                            <m:t>Φ</m:t>
                          </m:r>
                        </m:e>
                        <m:sub>
                          <m:r>
                            <a:rPr lang="it-IT" b="0" i="1" smtClean="0">
                              <a:solidFill>
                                <a:schemeClr val="accent1">
                                  <a:lumMod val="50000"/>
                                </a:schemeClr>
                              </a:solidFill>
                              <a:latin typeface="Cambria Math" panose="02040503050406030204" pitchFamily="18" charset="0"/>
                            </a:rPr>
                            <m:t>𝑖</m:t>
                          </m:r>
                        </m:sub>
                      </m:sSub>
                      <m:r>
                        <a:rPr lang="it-IT" b="0" i="1" smtClean="0">
                          <a:solidFill>
                            <a:schemeClr val="accent1">
                              <a:lumMod val="50000"/>
                            </a:schemeClr>
                          </a:solidFill>
                          <a:latin typeface="Cambria Math" panose="02040503050406030204" pitchFamily="18" charset="0"/>
                        </a:rPr>
                        <m:t>(</m:t>
                      </m:r>
                      <m:r>
                        <a:rPr lang="it-IT" b="0" i="1" smtClean="0">
                          <a:solidFill>
                            <a:schemeClr val="accent1">
                              <a:lumMod val="50000"/>
                            </a:schemeClr>
                          </a:solidFill>
                          <a:latin typeface="Cambria Math" panose="02040503050406030204" pitchFamily="18" charset="0"/>
                        </a:rPr>
                        <m:t>𝑞</m:t>
                      </m:r>
                      <m:r>
                        <a:rPr lang="it-IT" b="0" i="1" smtClean="0">
                          <a:solidFill>
                            <a:schemeClr val="accent1">
                              <a:lumMod val="50000"/>
                            </a:schemeClr>
                          </a:solidFill>
                          <a:latin typeface="Cambria Math" panose="02040503050406030204" pitchFamily="18" charset="0"/>
                        </a:rPr>
                        <m:t>)= </m:t>
                      </m:r>
                      <m:sSub>
                        <m:sSubPr>
                          <m:ctrlPr>
                            <a:rPr lang="it-IT" b="0" i="1" smtClean="0">
                              <a:solidFill>
                                <a:schemeClr val="accent1">
                                  <a:lumMod val="50000"/>
                                </a:schemeClr>
                              </a:solidFill>
                              <a:latin typeface="Cambria Math" panose="02040503050406030204" pitchFamily="18" charset="0"/>
                            </a:rPr>
                          </m:ctrlPr>
                        </m:sSubPr>
                        <m:e>
                          <m:r>
                            <a:rPr lang="it-IT" b="0" i="1" smtClean="0">
                              <a:solidFill>
                                <a:schemeClr val="accent1">
                                  <a:lumMod val="50000"/>
                                </a:schemeClr>
                              </a:solidFill>
                              <a:latin typeface="Cambria Math" panose="02040503050406030204" pitchFamily="18" charset="0"/>
                            </a:rPr>
                            <m:t>𝑝</m:t>
                          </m:r>
                        </m:e>
                        <m:sub>
                          <m:sSub>
                            <m:sSubPr>
                              <m:ctrlPr>
                                <a:rPr lang="it-IT" b="0" i="1" smtClean="0">
                                  <a:solidFill>
                                    <a:schemeClr val="accent1">
                                      <a:lumMod val="50000"/>
                                    </a:schemeClr>
                                  </a:solidFill>
                                  <a:latin typeface="Cambria Math" panose="02040503050406030204" pitchFamily="18" charset="0"/>
                                </a:rPr>
                              </m:ctrlPr>
                            </m:sSubPr>
                            <m:e>
                              <m:r>
                                <a:rPr lang="it-IT" b="0" i="1" smtClean="0">
                                  <a:solidFill>
                                    <a:schemeClr val="accent1">
                                      <a:lumMod val="50000"/>
                                    </a:schemeClr>
                                  </a:solidFill>
                                  <a:latin typeface="Cambria Math" panose="02040503050406030204" pitchFamily="18" charset="0"/>
                                </a:rPr>
                                <m:t>𝐴</m:t>
                              </m:r>
                            </m:e>
                            <m:sub>
                              <m:r>
                                <a:rPr lang="it-IT" b="0" i="1" smtClean="0">
                                  <a:solidFill>
                                    <a:schemeClr val="accent1">
                                      <a:lumMod val="50000"/>
                                    </a:schemeClr>
                                  </a:solidFill>
                                  <a:latin typeface="Cambria Math" panose="02040503050406030204" pitchFamily="18" charset="0"/>
                                </a:rPr>
                                <m:t>𝑖</m:t>
                              </m:r>
                            </m:sub>
                          </m:sSub>
                        </m:sub>
                      </m:sSub>
                      <m:r>
                        <a:rPr lang="it-IT" b="0" i="1" smtClean="0">
                          <a:solidFill>
                            <a:schemeClr val="accent1">
                              <a:lumMod val="50000"/>
                            </a:schemeClr>
                          </a:solidFill>
                          <a:latin typeface="Cambria Math" panose="02040503050406030204" pitchFamily="18" charset="0"/>
                        </a:rPr>
                        <m:t>(</m:t>
                      </m:r>
                      <m:r>
                        <a:rPr lang="it-IT" b="0" i="1" smtClean="0">
                          <a:solidFill>
                            <a:schemeClr val="accent1">
                              <a:lumMod val="50000"/>
                            </a:schemeClr>
                          </a:solidFill>
                          <a:latin typeface="Cambria Math" panose="02040503050406030204" pitchFamily="18" charset="0"/>
                        </a:rPr>
                        <m:t>𝑞</m:t>
                      </m:r>
                      <m:r>
                        <a:rPr lang="it-IT" b="0" i="1" smtClean="0">
                          <a:solidFill>
                            <a:schemeClr val="accent1">
                              <a:lumMod val="50000"/>
                            </a:schemeClr>
                          </a:solidFill>
                          <a:latin typeface="Cambria Math" panose="02040503050406030204" pitchFamily="18" charset="0"/>
                        </a:rPr>
                        <m:t>) − </m:t>
                      </m:r>
                      <m:sSub>
                        <m:sSubPr>
                          <m:ctrlPr>
                            <a:rPr lang="it-IT" i="1">
                              <a:solidFill>
                                <a:schemeClr val="accent1">
                                  <a:lumMod val="50000"/>
                                </a:schemeClr>
                              </a:solidFill>
                              <a:latin typeface="Cambria Math" panose="02040503050406030204" pitchFamily="18" charset="0"/>
                            </a:rPr>
                          </m:ctrlPr>
                        </m:sSubPr>
                        <m:e>
                          <m:r>
                            <a:rPr lang="it-IT" i="1">
                              <a:solidFill>
                                <a:schemeClr val="accent1">
                                  <a:lumMod val="50000"/>
                                </a:schemeClr>
                              </a:solidFill>
                              <a:latin typeface="Cambria Math" panose="02040503050406030204" pitchFamily="18" charset="0"/>
                            </a:rPr>
                            <m:t>𝑝</m:t>
                          </m:r>
                        </m:e>
                        <m:sub>
                          <m:sSub>
                            <m:sSubPr>
                              <m:ctrlPr>
                                <a:rPr lang="it-IT" i="1">
                                  <a:solidFill>
                                    <a:schemeClr val="accent1">
                                      <a:lumMod val="50000"/>
                                    </a:schemeClr>
                                  </a:solidFill>
                                  <a:latin typeface="Cambria Math" panose="02040503050406030204" pitchFamily="18" charset="0"/>
                                </a:rPr>
                              </m:ctrlPr>
                            </m:sSubPr>
                            <m:e>
                              <m:r>
                                <a:rPr lang="it-IT" b="0" i="1" smtClean="0">
                                  <a:solidFill>
                                    <a:schemeClr val="accent1">
                                      <a:lumMod val="50000"/>
                                    </a:schemeClr>
                                  </a:solidFill>
                                  <a:latin typeface="Cambria Math" panose="02040503050406030204" pitchFamily="18" charset="0"/>
                                </a:rPr>
                                <m:t>𝐵</m:t>
                              </m:r>
                            </m:e>
                            <m:sub>
                              <m:r>
                                <a:rPr lang="it-IT" i="1">
                                  <a:solidFill>
                                    <a:schemeClr val="accent1">
                                      <a:lumMod val="50000"/>
                                    </a:schemeClr>
                                  </a:solidFill>
                                  <a:latin typeface="Cambria Math" panose="02040503050406030204" pitchFamily="18" charset="0"/>
                                </a:rPr>
                                <m:t>𝑖</m:t>
                              </m:r>
                            </m:sub>
                          </m:sSub>
                        </m:sub>
                      </m:sSub>
                      <m:r>
                        <a:rPr lang="it-IT" i="1">
                          <a:solidFill>
                            <a:schemeClr val="accent1">
                              <a:lumMod val="50000"/>
                            </a:schemeClr>
                          </a:solidFill>
                          <a:latin typeface="Cambria Math" panose="02040503050406030204" pitchFamily="18" charset="0"/>
                        </a:rPr>
                        <m:t>(</m:t>
                      </m:r>
                      <m:r>
                        <a:rPr lang="it-IT" i="1">
                          <a:solidFill>
                            <a:schemeClr val="accent1">
                              <a:lumMod val="50000"/>
                            </a:schemeClr>
                          </a:solidFill>
                          <a:latin typeface="Cambria Math" panose="02040503050406030204" pitchFamily="18" charset="0"/>
                        </a:rPr>
                        <m:t>𝑞</m:t>
                      </m:r>
                      <m:r>
                        <a:rPr lang="it-IT" i="1">
                          <a:solidFill>
                            <a:schemeClr val="accent1">
                              <a:lumMod val="50000"/>
                            </a:schemeClr>
                          </a:solidFill>
                          <a:latin typeface="Cambria Math" panose="02040503050406030204" pitchFamily="18" charset="0"/>
                        </a:rPr>
                        <m:t>)=</m:t>
                      </m:r>
                      <m:r>
                        <a:rPr lang="it-IT" b="0" i="1" smtClean="0">
                          <a:solidFill>
                            <a:schemeClr val="accent1">
                              <a:lumMod val="50000"/>
                            </a:schemeClr>
                          </a:solidFill>
                          <a:latin typeface="Cambria Math" panose="02040503050406030204" pitchFamily="18" charset="0"/>
                        </a:rPr>
                        <m:t>0</m:t>
                      </m:r>
                    </m:oMath>
                  </m:oMathPara>
                </a14:m>
                <a:endParaRPr lang="it-IT" i="1" dirty="0">
                  <a:solidFill>
                    <a:schemeClr val="accent1">
                      <a:lumMod val="50000"/>
                    </a:schemeClr>
                  </a:solidFill>
                </a:endParaRPr>
              </a:p>
            </p:txBody>
          </p:sp>
        </mc:Choice>
        <mc:Fallback xmlns="">
          <p:sp>
            <p:nvSpPr>
              <p:cNvPr id="7" name="TextBox 6">
                <a:extLst>
                  <a:ext uri="{FF2B5EF4-FFF2-40B4-BE49-F238E27FC236}">
                    <a16:creationId xmlns:a16="http://schemas.microsoft.com/office/drawing/2014/main" id="{C5BAAE90-4C39-91BC-FB17-1DEF5FB0ED1C}"/>
                  </a:ext>
                </a:extLst>
              </p:cNvPr>
              <p:cNvSpPr txBox="1">
                <a:spLocks noRot="1" noChangeAspect="1" noMove="1" noResize="1" noEditPoints="1" noAdjustHandles="1" noChangeArrowheads="1" noChangeShapeType="1" noTextEdit="1"/>
              </p:cNvSpPr>
              <p:nvPr/>
            </p:nvSpPr>
            <p:spPr>
              <a:xfrm>
                <a:off x="4386803" y="3040938"/>
                <a:ext cx="2888034" cy="304186"/>
              </a:xfrm>
              <a:prstGeom prst="rect">
                <a:avLst/>
              </a:prstGeom>
              <a:blipFill>
                <a:blip r:embed="rId9"/>
                <a:stretch>
                  <a:fillRect l="-846" r="-846" b="-24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96EC199-5A44-981D-9DD1-7AD3AFFFE74F}"/>
                  </a:ext>
                </a:extLst>
              </p:cNvPr>
              <p:cNvSpPr txBox="1"/>
              <p:nvPr/>
            </p:nvSpPr>
            <p:spPr>
              <a:xfrm>
                <a:off x="525932" y="3608616"/>
                <a:ext cx="10761746" cy="338554"/>
              </a:xfrm>
              <a:prstGeom prst="rect">
                <a:avLst/>
              </a:prstGeom>
              <a:noFill/>
            </p:spPr>
            <p:txBody>
              <a:bodyPr wrap="square">
                <a:spAutoFit/>
              </a:bodyPr>
              <a:lstStyle/>
              <a:p>
                <a:r>
                  <a:rPr lang="en-US" sz="1600" dirty="0">
                    <a:solidFill>
                      <a:schemeClr val="tx2">
                        <a:lumMod val="90000"/>
                        <a:lumOff val="10000"/>
                      </a:schemeClr>
                    </a:solidFill>
                    <a:latin typeface="Poppins" panose="00000500000000000000" pitchFamily="2" charset="0"/>
                    <a:cs typeface="Poppins" panose="00000500000000000000" pitchFamily="2" charset="0"/>
                  </a:rPr>
                  <a:t>Given the current crank angle </a:t>
                </a:r>
                <a14:m>
                  <m:oMath xmlns:m="http://schemas.openxmlformats.org/officeDocument/2006/math">
                    <m:r>
                      <a:rPr lang="it-IT" sz="1600" b="0" i="1" smtClean="0">
                        <a:solidFill>
                          <a:schemeClr val="tx2">
                            <a:lumMod val="90000"/>
                            <a:lumOff val="10000"/>
                          </a:schemeClr>
                        </a:solidFill>
                        <a:latin typeface="Cambria Math" panose="02040503050406030204" pitchFamily="18" charset="0"/>
                        <a:cs typeface="Poppins" panose="00000500000000000000" pitchFamily="2" charset="0"/>
                      </a:rPr>
                      <m:t>𝜃</m:t>
                    </m:r>
                  </m:oMath>
                </a14:m>
                <a:r>
                  <a:rPr lang="en-US" sz="1600" dirty="0">
                    <a:solidFill>
                      <a:schemeClr val="tx2">
                        <a:lumMod val="90000"/>
                        <a:lumOff val="10000"/>
                      </a:schemeClr>
                    </a:solidFill>
                    <a:latin typeface="Poppins" panose="00000500000000000000" pitchFamily="2" charset="0"/>
                    <a:cs typeface="Poppins" panose="00000500000000000000" pitchFamily="2" charset="0"/>
                  </a:rPr>
                  <a:t>, the full consistent configuration </a:t>
                </a:r>
                <a14:m>
                  <m:oMath xmlns:m="http://schemas.openxmlformats.org/officeDocument/2006/math">
                    <m:r>
                      <a:rPr lang="it-IT" sz="1600" b="0" i="1" smtClean="0">
                        <a:solidFill>
                          <a:schemeClr val="tx2">
                            <a:lumMod val="90000"/>
                            <a:lumOff val="10000"/>
                          </a:schemeClr>
                        </a:solidFill>
                        <a:latin typeface="Cambria Math" panose="02040503050406030204" pitchFamily="18" charset="0"/>
                        <a:cs typeface="Poppins" panose="00000500000000000000" pitchFamily="2" charset="0"/>
                      </a:rPr>
                      <m:t>𝑞</m:t>
                    </m:r>
                    <m:r>
                      <a:rPr lang="it-IT" sz="1600" b="0" i="1" smtClean="0">
                        <a:solidFill>
                          <a:schemeClr val="tx2">
                            <a:lumMod val="90000"/>
                            <a:lumOff val="10000"/>
                          </a:schemeClr>
                        </a:solidFill>
                        <a:latin typeface="Cambria Math" panose="02040503050406030204" pitchFamily="18" charset="0"/>
                        <a:cs typeface="Poppins" panose="00000500000000000000" pitchFamily="2" charset="0"/>
                      </a:rPr>
                      <m:t>(</m:t>
                    </m:r>
                    <m:r>
                      <a:rPr lang="it-IT" sz="1600" b="0" i="1" smtClean="0">
                        <a:solidFill>
                          <a:schemeClr val="tx2">
                            <a:lumMod val="90000"/>
                            <a:lumOff val="10000"/>
                          </a:schemeClr>
                        </a:solidFill>
                        <a:latin typeface="Cambria Math" panose="02040503050406030204" pitchFamily="18" charset="0"/>
                        <a:cs typeface="Poppins" panose="00000500000000000000" pitchFamily="2" charset="0"/>
                      </a:rPr>
                      <m:t>𝜃</m:t>
                    </m:r>
                    <m:r>
                      <a:rPr lang="it-IT" sz="1600" b="0" i="1" smtClean="0">
                        <a:solidFill>
                          <a:schemeClr val="tx2">
                            <a:lumMod val="90000"/>
                            <a:lumOff val="10000"/>
                          </a:schemeClr>
                        </a:solidFill>
                        <a:latin typeface="Cambria Math" panose="02040503050406030204" pitchFamily="18" charset="0"/>
                        <a:cs typeface="Poppins" panose="00000500000000000000" pitchFamily="2" charset="0"/>
                      </a:rPr>
                      <m:t>)</m:t>
                    </m:r>
                  </m:oMath>
                </a14:m>
                <a:r>
                  <a:rPr lang="en-US" sz="1600" dirty="0">
                    <a:solidFill>
                      <a:schemeClr val="tx2">
                        <a:lumMod val="90000"/>
                        <a:lumOff val="10000"/>
                      </a:schemeClr>
                    </a:solidFill>
                    <a:latin typeface="Poppins" panose="00000500000000000000" pitchFamily="2" charset="0"/>
                    <a:cs typeface="Poppins" panose="00000500000000000000" pitchFamily="2" charset="0"/>
                  </a:rPr>
                  <a:t> is recovered by solving:</a:t>
                </a:r>
                <a:endParaRPr lang="it-IT" sz="1600" dirty="0">
                  <a:solidFill>
                    <a:schemeClr val="tx2">
                      <a:lumMod val="90000"/>
                      <a:lumOff val="10000"/>
                    </a:schemeClr>
                  </a:solidFill>
                  <a:latin typeface="Poppins" panose="00000500000000000000" pitchFamily="2" charset="0"/>
                  <a:cs typeface="Poppins" panose="00000500000000000000" pitchFamily="2" charset="0"/>
                </a:endParaRPr>
              </a:p>
            </p:txBody>
          </p:sp>
        </mc:Choice>
        <mc:Fallback xmlns="">
          <p:sp>
            <p:nvSpPr>
              <p:cNvPr id="9" name="TextBox 8">
                <a:extLst>
                  <a:ext uri="{FF2B5EF4-FFF2-40B4-BE49-F238E27FC236}">
                    <a16:creationId xmlns:a16="http://schemas.microsoft.com/office/drawing/2014/main" id="{396EC199-5A44-981D-9DD1-7AD3AFFFE74F}"/>
                  </a:ext>
                </a:extLst>
              </p:cNvPr>
              <p:cNvSpPr txBox="1">
                <a:spLocks noRot="1" noChangeAspect="1" noMove="1" noResize="1" noEditPoints="1" noAdjustHandles="1" noChangeArrowheads="1" noChangeShapeType="1" noTextEdit="1"/>
              </p:cNvSpPr>
              <p:nvPr/>
            </p:nvSpPr>
            <p:spPr>
              <a:xfrm>
                <a:off x="525932" y="3608616"/>
                <a:ext cx="10761746" cy="338554"/>
              </a:xfrm>
              <a:prstGeom prst="rect">
                <a:avLst/>
              </a:prstGeom>
              <a:blipFill>
                <a:blip r:embed="rId10"/>
                <a:stretch>
                  <a:fillRect l="-283" t="-3571" b="-23214"/>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BC4A845-E549-1490-F7A0-212F6CF5A194}"/>
                  </a:ext>
                </a:extLst>
              </p:cNvPr>
              <p:cNvSpPr txBox="1"/>
              <p:nvPr/>
            </p:nvSpPr>
            <p:spPr>
              <a:xfrm>
                <a:off x="3044687" y="4175376"/>
                <a:ext cx="6102626" cy="4918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b="0" i="1" dirty="0" smtClean="0">
                          <a:solidFill>
                            <a:schemeClr val="accent1">
                              <a:lumMod val="50000"/>
                            </a:schemeClr>
                          </a:solidFill>
                          <a:effectLst/>
                          <a:latin typeface="Cambria Math" panose="02040503050406030204" pitchFamily="18" charset="0"/>
                        </a:rPr>
                        <m:t>𝑞</m:t>
                      </m:r>
                      <m:d>
                        <m:dPr>
                          <m:ctrlPr>
                            <a:rPr lang="it-IT" b="0" i="1" dirty="0" smtClean="0">
                              <a:solidFill>
                                <a:schemeClr val="accent1">
                                  <a:lumMod val="50000"/>
                                </a:schemeClr>
                              </a:solidFill>
                              <a:effectLst/>
                              <a:latin typeface="Cambria Math" panose="02040503050406030204" pitchFamily="18" charset="0"/>
                            </a:rPr>
                          </m:ctrlPr>
                        </m:dPr>
                        <m:e>
                          <m:r>
                            <a:rPr lang="it-IT" b="0" i="1" dirty="0" smtClean="0">
                              <a:solidFill>
                                <a:schemeClr val="accent1">
                                  <a:lumMod val="50000"/>
                                </a:schemeClr>
                              </a:solidFill>
                              <a:effectLst/>
                              <a:latin typeface="Cambria Math" panose="02040503050406030204" pitchFamily="18" charset="0"/>
                            </a:rPr>
                            <m:t>𝜃</m:t>
                          </m:r>
                        </m:e>
                      </m:d>
                      <m:r>
                        <a:rPr lang="it-IT" b="0" i="1" dirty="0" smtClean="0">
                          <a:solidFill>
                            <a:schemeClr val="accent1">
                              <a:lumMod val="50000"/>
                            </a:schemeClr>
                          </a:solidFill>
                          <a:effectLst/>
                          <a:latin typeface="Cambria Math" panose="02040503050406030204" pitchFamily="18" charset="0"/>
                        </a:rPr>
                        <m:t>=</m:t>
                      </m:r>
                      <m:func>
                        <m:funcPr>
                          <m:ctrlPr>
                            <a:rPr lang="it-IT" b="0" i="1" dirty="0" smtClean="0">
                              <a:solidFill>
                                <a:schemeClr val="accent1">
                                  <a:lumMod val="50000"/>
                                </a:schemeClr>
                              </a:solidFill>
                              <a:effectLst/>
                              <a:latin typeface="Cambria Math" panose="02040503050406030204" pitchFamily="18" charset="0"/>
                            </a:rPr>
                          </m:ctrlPr>
                        </m:funcPr>
                        <m:fName>
                          <m:r>
                            <m:rPr>
                              <m:sty m:val="p"/>
                            </m:rPr>
                            <a:rPr lang="it-IT" b="0" i="0" dirty="0" smtClean="0">
                              <a:solidFill>
                                <a:schemeClr val="accent1">
                                  <a:lumMod val="50000"/>
                                </a:schemeClr>
                              </a:solidFill>
                              <a:effectLst/>
                              <a:latin typeface="Cambria Math" panose="02040503050406030204" pitchFamily="18" charset="0"/>
                            </a:rPr>
                            <m:t>arg</m:t>
                          </m:r>
                        </m:fName>
                        <m:e>
                          <m:func>
                            <m:funcPr>
                              <m:ctrlPr>
                                <a:rPr lang="it-IT" b="0" i="1" dirty="0" smtClean="0">
                                  <a:solidFill>
                                    <a:schemeClr val="accent1">
                                      <a:lumMod val="50000"/>
                                    </a:schemeClr>
                                  </a:solidFill>
                                  <a:effectLst/>
                                  <a:latin typeface="Cambria Math" panose="02040503050406030204" pitchFamily="18" charset="0"/>
                                </a:rPr>
                              </m:ctrlPr>
                            </m:funcPr>
                            <m:fName>
                              <m:limLow>
                                <m:limLowPr>
                                  <m:ctrlPr>
                                    <a:rPr lang="it-IT" b="0" i="1" dirty="0" smtClean="0">
                                      <a:solidFill>
                                        <a:schemeClr val="accent1">
                                          <a:lumMod val="50000"/>
                                        </a:schemeClr>
                                      </a:solidFill>
                                      <a:effectLst/>
                                      <a:latin typeface="Cambria Math" panose="02040503050406030204" pitchFamily="18" charset="0"/>
                                    </a:rPr>
                                  </m:ctrlPr>
                                </m:limLowPr>
                                <m:e>
                                  <m:r>
                                    <m:rPr>
                                      <m:sty m:val="p"/>
                                    </m:rPr>
                                    <a:rPr lang="it-IT" b="0" i="0" dirty="0" smtClean="0">
                                      <a:solidFill>
                                        <a:schemeClr val="accent1">
                                          <a:lumMod val="50000"/>
                                        </a:schemeClr>
                                      </a:solidFill>
                                      <a:effectLst/>
                                      <a:latin typeface="Cambria Math" panose="02040503050406030204" pitchFamily="18" charset="0"/>
                                    </a:rPr>
                                    <m:t>min</m:t>
                                  </m:r>
                                </m:e>
                                <m:lim>
                                  <m:r>
                                    <a:rPr lang="it-IT" b="0" i="1" dirty="0" smtClean="0">
                                      <a:solidFill>
                                        <a:schemeClr val="accent1">
                                          <a:lumMod val="50000"/>
                                        </a:schemeClr>
                                      </a:solidFill>
                                      <a:effectLst/>
                                      <a:latin typeface="Cambria Math" panose="02040503050406030204" pitchFamily="18" charset="0"/>
                                    </a:rPr>
                                    <m:t>𝑥</m:t>
                                  </m:r>
                                </m:lim>
                              </m:limLow>
                            </m:fName>
                            <m:e>
                              <m:r>
                                <m:rPr>
                                  <m:lit/>
                                </m:rPr>
                                <a:rPr lang="it-IT" b="0" i="1" dirty="0">
                                  <a:solidFill>
                                    <a:schemeClr val="accent1">
                                      <a:lumMod val="50000"/>
                                    </a:schemeClr>
                                  </a:solidFill>
                                  <a:effectLst/>
                                  <a:latin typeface="Cambria Math" panose="02040503050406030204" pitchFamily="18" charset="0"/>
                                </a:rPr>
                                <m:t>|</m:t>
                              </m:r>
                            </m:e>
                          </m:func>
                          <m:r>
                            <m:rPr>
                              <m:sty m:val="p"/>
                            </m:rPr>
                            <a:rPr lang="it-IT" b="0" i="0" dirty="0">
                              <a:solidFill>
                                <a:schemeClr val="accent1">
                                  <a:lumMod val="50000"/>
                                </a:schemeClr>
                              </a:solidFill>
                              <a:effectLst/>
                              <a:latin typeface="Cambria Math" panose="02040503050406030204" pitchFamily="18" charset="0"/>
                            </a:rPr>
                            <m:t>Φ</m:t>
                          </m:r>
                          <m:d>
                            <m:dPr>
                              <m:ctrlPr>
                                <a:rPr lang="it-IT" b="0" i="1" dirty="0">
                                  <a:solidFill>
                                    <a:schemeClr val="accent1">
                                      <a:lumMod val="50000"/>
                                    </a:schemeClr>
                                  </a:solidFill>
                                  <a:effectLst/>
                                  <a:latin typeface="Cambria Math" panose="02040503050406030204" pitchFamily="18" charset="0"/>
                                </a:rPr>
                              </m:ctrlPr>
                            </m:dPr>
                            <m:e>
                              <m:r>
                                <a:rPr lang="it-IT" i="1" dirty="0">
                                  <a:solidFill>
                                    <a:schemeClr val="accent1">
                                      <a:lumMod val="50000"/>
                                    </a:schemeClr>
                                  </a:solidFill>
                                  <a:latin typeface="Cambria Math" panose="02040503050406030204" pitchFamily="18" charset="0"/>
                                </a:rPr>
                                <m:t>𝑞</m:t>
                              </m:r>
                              <m:d>
                                <m:dPr>
                                  <m:ctrlPr>
                                    <a:rPr lang="it-IT" i="1" dirty="0">
                                      <a:solidFill>
                                        <a:schemeClr val="accent1">
                                          <a:lumMod val="50000"/>
                                        </a:schemeClr>
                                      </a:solidFill>
                                      <a:latin typeface="Cambria Math" panose="02040503050406030204" pitchFamily="18" charset="0"/>
                                    </a:rPr>
                                  </m:ctrlPr>
                                </m:dPr>
                                <m:e>
                                  <m:r>
                                    <a:rPr lang="it-IT" i="1" dirty="0">
                                      <a:solidFill>
                                        <a:schemeClr val="accent1">
                                          <a:lumMod val="50000"/>
                                        </a:schemeClr>
                                      </a:solidFill>
                                      <a:latin typeface="Cambria Math" panose="02040503050406030204" pitchFamily="18" charset="0"/>
                                    </a:rPr>
                                    <m:t>𝑥</m:t>
                                  </m:r>
                                </m:e>
                              </m:d>
                            </m:e>
                          </m:d>
                        </m:e>
                      </m:func>
                      <m:sSup>
                        <m:sSupPr>
                          <m:ctrlPr>
                            <a:rPr lang="it-IT" b="0" i="1" dirty="0">
                              <a:solidFill>
                                <a:schemeClr val="accent1">
                                  <a:lumMod val="50000"/>
                                </a:schemeClr>
                              </a:solidFill>
                              <a:effectLst/>
                              <a:latin typeface="Cambria Math" panose="02040503050406030204" pitchFamily="18" charset="0"/>
                            </a:rPr>
                          </m:ctrlPr>
                        </m:sSupPr>
                        <m:e>
                          <m:r>
                            <m:rPr>
                              <m:lit/>
                            </m:rPr>
                            <a:rPr lang="it-IT" b="0" i="1" dirty="0">
                              <a:solidFill>
                                <a:schemeClr val="accent1">
                                  <a:lumMod val="50000"/>
                                </a:schemeClr>
                              </a:solidFill>
                              <a:effectLst/>
                              <a:latin typeface="Cambria Math" panose="02040503050406030204" pitchFamily="18" charset="0"/>
                            </a:rPr>
                            <m:t>|</m:t>
                          </m:r>
                        </m:e>
                        <m:sup>
                          <m:r>
                            <a:rPr lang="it-IT" b="0" i="1" dirty="0">
                              <a:solidFill>
                                <a:schemeClr val="accent1">
                                  <a:lumMod val="50000"/>
                                </a:schemeClr>
                              </a:solidFill>
                              <a:effectLst/>
                              <a:latin typeface="Cambria Math" panose="02040503050406030204" pitchFamily="18" charset="0"/>
                            </a:rPr>
                            <m:t>2</m:t>
                          </m:r>
                        </m:sup>
                      </m:sSup>
                      <m:r>
                        <a:rPr lang="it-IT" b="0" i="1" dirty="0">
                          <a:solidFill>
                            <a:schemeClr val="accent1">
                              <a:lumMod val="50000"/>
                            </a:schemeClr>
                          </a:solidFill>
                          <a:effectLst/>
                          <a:latin typeface="Cambria Math" panose="02040503050406030204" pitchFamily="18" charset="0"/>
                        </a:rPr>
                        <m:t>+</m:t>
                      </m:r>
                      <m:r>
                        <a:rPr lang="it-IT" b="0" i="1" dirty="0">
                          <a:solidFill>
                            <a:schemeClr val="accent1">
                              <a:lumMod val="50000"/>
                            </a:schemeClr>
                          </a:solidFill>
                          <a:effectLst/>
                          <a:latin typeface="Cambria Math" panose="02040503050406030204" pitchFamily="18" charset="0"/>
                        </a:rPr>
                        <m:t>𝑃</m:t>
                      </m:r>
                      <m:d>
                        <m:dPr>
                          <m:ctrlPr>
                            <a:rPr lang="it-IT" b="0" i="1" dirty="0">
                              <a:solidFill>
                                <a:schemeClr val="accent1">
                                  <a:lumMod val="50000"/>
                                </a:schemeClr>
                              </a:solidFill>
                              <a:effectLst/>
                              <a:latin typeface="Cambria Math" panose="02040503050406030204" pitchFamily="18" charset="0"/>
                            </a:rPr>
                          </m:ctrlPr>
                        </m:dPr>
                        <m:e>
                          <m:r>
                            <a:rPr lang="it-IT" b="0" i="1" dirty="0">
                              <a:solidFill>
                                <a:schemeClr val="accent1">
                                  <a:lumMod val="50000"/>
                                </a:schemeClr>
                              </a:solidFill>
                              <a:effectLst/>
                              <a:latin typeface="Cambria Math" panose="02040503050406030204" pitchFamily="18" charset="0"/>
                            </a:rPr>
                            <m:t>𝑥</m:t>
                          </m:r>
                        </m:e>
                      </m:d>
                      <m:r>
                        <a:rPr lang="it-IT" b="0" i="1" dirty="0">
                          <a:solidFill>
                            <a:schemeClr val="accent1">
                              <a:lumMod val="50000"/>
                            </a:schemeClr>
                          </a:solidFill>
                          <a:effectLst/>
                          <a:latin typeface="Cambria Math" panose="02040503050406030204" pitchFamily="18" charset="0"/>
                        </a:rPr>
                        <m:t> </m:t>
                      </m:r>
                      <m:r>
                        <m:rPr>
                          <m:nor/>
                        </m:rPr>
                        <a:rPr lang="it-IT" b="0" i="0" dirty="0">
                          <a:solidFill>
                            <a:schemeClr val="accent1">
                              <a:lumMod val="50000"/>
                            </a:schemeClr>
                          </a:solidFill>
                          <a:effectLst/>
                          <a:latin typeface="Cambria Math" panose="02040503050406030204" pitchFamily="18" charset="0"/>
                        </a:rPr>
                        <m:t>s</m:t>
                      </m:r>
                      <m:r>
                        <m:rPr>
                          <m:nor/>
                        </m:rPr>
                        <a:rPr lang="it-IT" b="0" i="0" dirty="0">
                          <a:solidFill>
                            <a:schemeClr val="accent1">
                              <a:lumMod val="50000"/>
                            </a:schemeClr>
                          </a:solidFill>
                          <a:effectLst/>
                          <a:latin typeface="Cambria Math" panose="02040503050406030204" pitchFamily="18" charset="0"/>
                        </a:rPr>
                        <m:t>.</m:t>
                      </m:r>
                      <m:r>
                        <m:rPr>
                          <m:nor/>
                        </m:rPr>
                        <a:rPr lang="it-IT" b="0" i="0" dirty="0">
                          <a:solidFill>
                            <a:schemeClr val="accent1">
                              <a:lumMod val="50000"/>
                            </a:schemeClr>
                          </a:solidFill>
                          <a:effectLst/>
                          <a:latin typeface="Cambria Math" panose="02040503050406030204" pitchFamily="18" charset="0"/>
                        </a:rPr>
                        <m:t>t</m:t>
                      </m:r>
                      <m:r>
                        <m:rPr>
                          <m:nor/>
                        </m:rPr>
                        <a:rPr lang="it-IT" b="0" i="0" dirty="0">
                          <a:solidFill>
                            <a:schemeClr val="accent1">
                              <a:lumMod val="50000"/>
                            </a:schemeClr>
                          </a:solidFill>
                          <a:effectLst/>
                          <a:latin typeface="Cambria Math" panose="02040503050406030204" pitchFamily="18" charset="0"/>
                        </a:rPr>
                        <m:t>.</m:t>
                      </m:r>
                      <m:r>
                        <a:rPr lang="it-IT" b="0" i="1" dirty="0">
                          <a:solidFill>
                            <a:schemeClr val="accent1">
                              <a:lumMod val="50000"/>
                            </a:schemeClr>
                          </a:solidFill>
                          <a:effectLst/>
                          <a:latin typeface="Cambria Math" panose="02040503050406030204" pitchFamily="18" charset="0"/>
                        </a:rPr>
                        <m:t> </m:t>
                      </m:r>
                      <m:sSub>
                        <m:sSubPr>
                          <m:ctrlPr>
                            <a:rPr lang="it-IT" b="0" i="1" dirty="0">
                              <a:solidFill>
                                <a:schemeClr val="accent1">
                                  <a:lumMod val="50000"/>
                                </a:schemeClr>
                              </a:solidFill>
                              <a:effectLst/>
                              <a:latin typeface="Cambria Math" panose="02040503050406030204" pitchFamily="18" charset="0"/>
                            </a:rPr>
                          </m:ctrlPr>
                        </m:sSubPr>
                        <m:e>
                          <m:r>
                            <a:rPr lang="it-IT" b="0" i="1" dirty="0">
                              <a:solidFill>
                                <a:schemeClr val="accent1">
                                  <a:lumMod val="50000"/>
                                </a:schemeClr>
                              </a:solidFill>
                              <a:effectLst/>
                              <a:latin typeface="Cambria Math" panose="02040503050406030204" pitchFamily="18" charset="0"/>
                            </a:rPr>
                            <m:t>𝑞</m:t>
                          </m:r>
                        </m:e>
                        <m:sub>
                          <m:r>
                            <a:rPr lang="it-IT" b="0" i="1" dirty="0">
                              <a:solidFill>
                                <a:schemeClr val="accent1">
                                  <a:lumMod val="50000"/>
                                </a:schemeClr>
                              </a:solidFill>
                              <a:effectLst/>
                              <a:latin typeface="Cambria Math" panose="02040503050406030204" pitchFamily="18" charset="0"/>
                            </a:rPr>
                            <m:t>𝜃</m:t>
                          </m:r>
                        </m:sub>
                      </m:sSub>
                      <m:r>
                        <a:rPr lang="it-IT" b="0" i="1" dirty="0">
                          <a:solidFill>
                            <a:schemeClr val="accent1">
                              <a:lumMod val="50000"/>
                            </a:schemeClr>
                          </a:solidFill>
                          <a:effectLst/>
                          <a:latin typeface="Cambria Math" panose="02040503050406030204" pitchFamily="18" charset="0"/>
                        </a:rPr>
                        <m:t>=</m:t>
                      </m:r>
                      <m:r>
                        <a:rPr lang="it-IT" b="0" i="1" dirty="0">
                          <a:solidFill>
                            <a:schemeClr val="accent1">
                              <a:lumMod val="50000"/>
                            </a:schemeClr>
                          </a:solidFill>
                          <a:effectLst/>
                          <a:latin typeface="Cambria Math" panose="02040503050406030204" pitchFamily="18" charset="0"/>
                        </a:rPr>
                        <m:t>𝜃</m:t>
                      </m:r>
                    </m:oMath>
                  </m:oMathPara>
                </a14:m>
                <a:endParaRPr/>
              </a:p>
            </p:txBody>
          </p:sp>
        </mc:Choice>
        <mc:Fallback xmlns="">
          <p:sp>
            <p:nvSpPr>
              <p:cNvPr id="17" name="TextBox 16">
                <a:extLst>
                  <a:ext uri="{FF2B5EF4-FFF2-40B4-BE49-F238E27FC236}">
                    <a16:creationId xmlns:a16="http://schemas.microsoft.com/office/drawing/2014/main" id="{7BC4A845-E549-1490-F7A0-212F6CF5A194}"/>
                  </a:ext>
                </a:extLst>
              </p:cNvPr>
              <p:cNvSpPr txBox="1">
                <a:spLocks noRot="1" noChangeAspect="1" noMove="1" noResize="1" noEditPoints="1" noAdjustHandles="1" noChangeArrowheads="1" noChangeShapeType="1" noTextEdit="1"/>
              </p:cNvSpPr>
              <p:nvPr/>
            </p:nvSpPr>
            <p:spPr>
              <a:xfrm>
                <a:off x="3044687" y="4175376"/>
                <a:ext cx="6102626" cy="491866"/>
              </a:xfrm>
              <a:prstGeom prst="rect">
                <a:avLst/>
              </a:prstGeom>
              <a:blipFill>
                <a:blip r:embed="rId11"/>
                <a:stretch>
                  <a:fillRect t="-123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C04A506-37DA-566A-6372-67EF2D190697}"/>
                  </a:ext>
                </a:extLst>
              </p:cNvPr>
              <p:cNvSpPr txBox="1"/>
              <p:nvPr/>
            </p:nvSpPr>
            <p:spPr>
              <a:xfrm>
                <a:off x="525932" y="4902132"/>
                <a:ext cx="10761746" cy="584775"/>
              </a:xfrm>
              <a:prstGeom prst="rect">
                <a:avLst/>
              </a:prstGeom>
              <a:noFill/>
            </p:spPr>
            <p:txBody>
              <a:bodyPr wrap="square">
                <a:spAutoFit/>
              </a:bodyPr>
              <a:lstStyle/>
              <a:p>
                <a:r>
                  <a:rPr lang="en-US" sz="1600" dirty="0">
                    <a:solidFill>
                      <a:schemeClr val="tx2">
                        <a:lumMod val="90000"/>
                        <a:lumOff val="10000"/>
                      </a:schemeClr>
                    </a:solidFill>
                    <a:latin typeface="Poppins" panose="00000500000000000000" pitchFamily="2" charset="0"/>
                    <a:cs typeface="Poppins" panose="00000500000000000000" pitchFamily="2" charset="0"/>
                  </a:rPr>
                  <a:t>where </a:t>
                </a:r>
                <a14:m>
                  <m:oMath xmlns:m="http://schemas.openxmlformats.org/officeDocument/2006/math">
                    <m:r>
                      <a:rPr lang="en-US" sz="1600" b="1" i="1" dirty="0" smtClean="0">
                        <a:solidFill>
                          <a:schemeClr val="tx2">
                            <a:lumMod val="90000"/>
                            <a:lumOff val="10000"/>
                          </a:schemeClr>
                        </a:solidFill>
                        <a:latin typeface="Cambria Math" panose="02040503050406030204" pitchFamily="18" charset="0"/>
                        <a:cs typeface="Poppins" panose="00000500000000000000" pitchFamily="2" charset="0"/>
                      </a:rPr>
                      <m:t>𝒙</m:t>
                    </m:r>
                    <m:r>
                      <a:rPr lang="en-US" sz="1600" i="1" dirty="0" smtClean="0">
                        <a:solidFill>
                          <a:schemeClr val="tx2">
                            <a:lumMod val="90000"/>
                            <a:lumOff val="10000"/>
                          </a:schemeClr>
                        </a:solidFill>
                        <a:latin typeface="Cambria Math" panose="02040503050406030204" pitchFamily="18" charset="0"/>
                        <a:cs typeface="Poppins" panose="00000500000000000000" pitchFamily="2" charset="0"/>
                      </a:rPr>
                      <m:t> </m:t>
                    </m:r>
                  </m:oMath>
                </a14:m>
                <a:r>
                  <a:rPr lang="en-US" sz="1600" dirty="0">
                    <a:solidFill>
                      <a:schemeClr val="tx2">
                        <a:lumMod val="90000"/>
                        <a:lumOff val="10000"/>
                      </a:schemeClr>
                    </a:solidFill>
                    <a:latin typeface="Poppins" panose="00000500000000000000" pitchFamily="2" charset="0"/>
                    <a:cs typeface="Poppins" panose="00000500000000000000" pitchFamily="2" charset="0"/>
                  </a:rPr>
                  <a:t>are the free joints and </a:t>
                </a:r>
                <a14:m>
                  <m:oMath xmlns:m="http://schemas.openxmlformats.org/officeDocument/2006/math">
                    <m:r>
                      <a:rPr lang="en-US" sz="1600" b="1" i="1" dirty="0" smtClean="0">
                        <a:solidFill>
                          <a:schemeClr val="tx2">
                            <a:lumMod val="90000"/>
                            <a:lumOff val="10000"/>
                          </a:schemeClr>
                        </a:solidFill>
                        <a:latin typeface="Cambria Math" panose="02040503050406030204" pitchFamily="18" charset="0"/>
                        <a:cs typeface="Poppins" panose="00000500000000000000" pitchFamily="2" charset="0"/>
                      </a:rPr>
                      <m:t>𝑷</m:t>
                    </m:r>
                    <m:r>
                      <a:rPr lang="en-US" sz="1600" b="1" i="1" dirty="0" smtClean="0">
                        <a:solidFill>
                          <a:schemeClr val="tx2">
                            <a:lumMod val="90000"/>
                            <a:lumOff val="10000"/>
                          </a:schemeClr>
                        </a:solidFill>
                        <a:latin typeface="Cambria Math" panose="02040503050406030204" pitchFamily="18" charset="0"/>
                        <a:cs typeface="Poppins" panose="00000500000000000000" pitchFamily="2" charset="0"/>
                      </a:rPr>
                      <m:t>(</m:t>
                    </m:r>
                    <m:r>
                      <a:rPr lang="en-US" sz="1600" b="1" i="1" dirty="0" smtClean="0">
                        <a:solidFill>
                          <a:schemeClr val="tx2">
                            <a:lumMod val="90000"/>
                            <a:lumOff val="10000"/>
                          </a:schemeClr>
                        </a:solidFill>
                        <a:latin typeface="Cambria Math" panose="02040503050406030204" pitchFamily="18" charset="0"/>
                        <a:cs typeface="Poppins" panose="00000500000000000000" pitchFamily="2" charset="0"/>
                      </a:rPr>
                      <m:t>𝒙</m:t>
                    </m:r>
                    <m:r>
                      <a:rPr lang="en-US" sz="1600" b="1" i="1" dirty="0" smtClean="0">
                        <a:solidFill>
                          <a:schemeClr val="tx2">
                            <a:lumMod val="90000"/>
                            <a:lumOff val="10000"/>
                          </a:schemeClr>
                        </a:solidFill>
                        <a:latin typeface="Cambria Math" panose="02040503050406030204" pitchFamily="18" charset="0"/>
                        <a:cs typeface="Poppins" panose="00000500000000000000" pitchFamily="2" charset="0"/>
                      </a:rPr>
                      <m:t>)</m:t>
                    </m:r>
                  </m:oMath>
                </a14:m>
                <a:r>
                  <a:rPr lang="en-US" sz="1600" dirty="0">
                    <a:solidFill>
                      <a:schemeClr val="tx2">
                        <a:lumMod val="90000"/>
                        <a:lumOff val="10000"/>
                      </a:schemeClr>
                    </a:solidFill>
                    <a:latin typeface="Poppins" panose="00000500000000000000" pitchFamily="2" charset="0"/>
                    <a:cs typeface="Poppins" panose="00000500000000000000" pitchFamily="2" charset="0"/>
                  </a:rPr>
                  <a:t> is a soft joint-limit penalty. The solver is warm-started from the previous configuration (Trust-Region Reflective, Pinocchio forward kinematics at each iteration).</a:t>
                </a:r>
                <a:endParaRPr lang="it-IT" sz="1600" dirty="0">
                  <a:solidFill>
                    <a:schemeClr val="tx2">
                      <a:lumMod val="90000"/>
                      <a:lumOff val="10000"/>
                    </a:schemeClr>
                  </a:solidFill>
                  <a:latin typeface="Poppins" panose="00000500000000000000" pitchFamily="2" charset="0"/>
                  <a:cs typeface="Poppins" panose="00000500000000000000" pitchFamily="2" charset="0"/>
                </a:endParaRPr>
              </a:p>
            </p:txBody>
          </p:sp>
        </mc:Choice>
        <mc:Fallback xmlns="">
          <p:sp>
            <p:nvSpPr>
              <p:cNvPr id="19" name="TextBox 18">
                <a:extLst>
                  <a:ext uri="{FF2B5EF4-FFF2-40B4-BE49-F238E27FC236}">
                    <a16:creationId xmlns:a16="http://schemas.microsoft.com/office/drawing/2014/main" id="{0C04A506-37DA-566A-6372-67EF2D190697}"/>
                  </a:ext>
                </a:extLst>
              </p:cNvPr>
              <p:cNvSpPr txBox="1">
                <a:spLocks noRot="1" noChangeAspect="1" noMove="1" noResize="1" noEditPoints="1" noAdjustHandles="1" noChangeArrowheads="1" noChangeShapeType="1" noTextEdit="1"/>
              </p:cNvSpPr>
              <p:nvPr/>
            </p:nvSpPr>
            <p:spPr>
              <a:xfrm>
                <a:off x="525932" y="4902132"/>
                <a:ext cx="10761746" cy="584775"/>
              </a:xfrm>
              <a:prstGeom prst="rect">
                <a:avLst/>
              </a:prstGeom>
              <a:blipFill>
                <a:blip r:embed="rId12"/>
                <a:stretch>
                  <a:fillRect l="-283" t="-2083" b="-1354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96B0E04-C967-7805-BE26-B887758F5EE1}"/>
                  </a:ext>
                </a:extLst>
              </p:cNvPr>
              <p:cNvSpPr txBox="1"/>
              <p:nvPr/>
            </p:nvSpPr>
            <p:spPr>
              <a:xfrm>
                <a:off x="525932" y="5635824"/>
                <a:ext cx="10761746" cy="584775"/>
              </a:xfrm>
              <a:prstGeom prst="rect">
                <a:avLst/>
              </a:prstGeom>
              <a:noFill/>
            </p:spPr>
            <p:txBody>
              <a:bodyPr wrap="square">
                <a:spAutoFit/>
              </a:bodyPr>
              <a:lstStyle/>
              <a:p>
                <a:r>
                  <a:rPr lang="en-US" sz="1600" b="1" dirty="0">
                    <a:solidFill>
                      <a:schemeClr val="accent1">
                        <a:lumMod val="50000"/>
                      </a:schemeClr>
                    </a:solidFill>
                    <a:latin typeface="Poppins" panose="00000500000000000000" pitchFamily="2" charset="0"/>
                    <a:cs typeface="Poppins" panose="00000500000000000000" pitchFamily="2" charset="0"/>
                  </a:rPr>
                  <a:t>Key output</a:t>
                </a:r>
                <a:r>
                  <a:rPr lang="en-US" sz="1600" b="1" dirty="0">
                    <a:solidFill>
                      <a:schemeClr val="tx2">
                        <a:lumMod val="90000"/>
                        <a:lumOff val="10000"/>
                      </a:schemeClr>
                    </a:solidFill>
                    <a:latin typeface="Poppins" panose="00000500000000000000" pitchFamily="2" charset="0"/>
                    <a:cs typeface="Poppins" panose="00000500000000000000" pitchFamily="2" charset="0"/>
                  </a:rPr>
                  <a:t>:</a:t>
                </a:r>
                <a:r>
                  <a:rPr lang="en-US" sz="1600" dirty="0">
                    <a:solidFill>
                      <a:schemeClr val="tx2">
                        <a:lumMod val="90000"/>
                        <a:lumOff val="10000"/>
                      </a:schemeClr>
                    </a:solidFill>
                    <a:latin typeface="Poppins" panose="00000500000000000000" pitchFamily="2" charset="0"/>
                    <a:cs typeface="Poppins" panose="00000500000000000000" pitchFamily="2" charset="0"/>
                  </a:rPr>
                  <a:t> the implicit map </a:t>
                </a:r>
                <a14:m>
                  <m:oMath xmlns:m="http://schemas.openxmlformats.org/officeDocument/2006/math">
                    <m:r>
                      <a:rPr lang="en-US" sz="1600" b="1" i="1" dirty="0" smtClean="0">
                        <a:solidFill>
                          <a:schemeClr val="tx2">
                            <a:lumMod val="90000"/>
                            <a:lumOff val="10000"/>
                          </a:schemeClr>
                        </a:solidFill>
                        <a:latin typeface="Cambria Math" panose="02040503050406030204" pitchFamily="18" charset="0"/>
                        <a:cs typeface="Poppins" panose="00000500000000000000" pitchFamily="2" charset="0"/>
                      </a:rPr>
                      <m:t>𝒒</m:t>
                    </m:r>
                    <m:r>
                      <a:rPr lang="en-US" sz="1600" b="1" i="1" dirty="0" smtClean="0">
                        <a:solidFill>
                          <a:schemeClr val="tx2">
                            <a:lumMod val="90000"/>
                            <a:lumOff val="10000"/>
                          </a:schemeClr>
                        </a:solidFill>
                        <a:latin typeface="Cambria Math" panose="02040503050406030204" pitchFamily="18" charset="0"/>
                        <a:cs typeface="Poppins" panose="00000500000000000000" pitchFamily="2" charset="0"/>
                      </a:rPr>
                      <m:t>=</m:t>
                    </m:r>
                    <m:r>
                      <a:rPr lang="en-US" sz="1600" b="1" i="1" dirty="0" smtClean="0">
                        <a:solidFill>
                          <a:schemeClr val="tx2">
                            <a:lumMod val="90000"/>
                            <a:lumOff val="10000"/>
                          </a:schemeClr>
                        </a:solidFill>
                        <a:latin typeface="Cambria Math" panose="02040503050406030204" pitchFamily="18" charset="0"/>
                        <a:cs typeface="Poppins" panose="00000500000000000000" pitchFamily="2" charset="0"/>
                      </a:rPr>
                      <m:t>𝒒</m:t>
                    </m:r>
                    <m:d>
                      <m:dPr>
                        <m:ctrlPr>
                          <a:rPr lang="en-US" sz="1600" b="1" i="1" dirty="0" smtClean="0">
                            <a:solidFill>
                              <a:schemeClr val="tx2">
                                <a:lumMod val="90000"/>
                                <a:lumOff val="10000"/>
                              </a:schemeClr>
                            </a:solidFill>
                            <a:latin typeface="Cambria Math" panose="02040503050406030204" pitchFamily="18" charset="0"/>
                            <a:cs typeface="Poppins" panose="00000500000000000000" pitchFamily="2" charset="0"/>
                          </a:rPr>
                        </m:ctrlPr>
                      </m:dPr>
                      <m:e>
                        <m:r>
                          <a:rPr lang="en-US" sz="1600" b="1" i="1" dirty="0" smtClean="0">
                            <a:solidFill>
                              <a:schemeClr val="tx2">
                                <a:lumMod val="90000"/>
                                <a:lumOff val="10000"/>
                              </a:schemeClr>
                            </a:solidFill>
                            <a:latin typeface="Cambria Math" panose="02040503050406030204" pitchFamily="18" charset="0"/>
                            <a:cs typeface="Poppins" panose="00000500000000000000" pitchFamily="2" charset="0"/>
                          </a:rPr>
                          <m:t>𝜽</m:t>
                        </m:r>
                      </m:e>
                    </m:d>
                  </m:oMath>
                </a14:m>
                <a:r>
                  <a:rPr lang="en-US" sz="1600" dirty="0">
                    <a:solidFill>
                      <a:schemeClr val="tx2">
                        <a:lumMod val="90000"/>
                        <a:lumOff val="10000"/>
                      </a:schemeClr>
                    </a:solidFill>
                    <a:latin typeface="Poppins" panose="00000500000000000000" pitchFamily="2" charset="0"/>
                    <a:cs typeface="Poppins" panose="00000500000000000000" pitchFamily="2" charset="0"/>
                  </a:rPr>
                  <a:t> — every crank angle </a:t>
                </a:r>
                <a:r>
                  <a:rPr lang="en-US" sz="1600" b="1" dirty="0">
                    <a:solidFill>
                      <a:schemeClr val="tx2">
                        <a:lumMod val="90000"/>
                        <a:lumOff val="10000"/>
                      </a:schemeClr>
                    </a:solidFill>
                    <a:latin typeface="Poppins" panose="00000500000000000000" pitchFamily="2" charset="0"/>
                    <a:cs typeface="Poppins" panose="00000500000000000000" pitchFamily="2" charset="0"/>
                  </a:rPr>
                  <a:t>uniquely</a:t>
                </a:r>
                <a:r>
                  <a:rPr lang="en-US" sz="1600" dirty="0">
                    <a:solidFill>
                      <a:schemeClr val="tx2">
                        <a:lumMod val="90000"/>
                        <a:lumOff val="10000"/>
                      </a:schemeClr>
                    </a:solidFill>
                    <a:latin typeface="Poppins" panose="00000500000000000000" pitchFamily="2" charset="0"/>
                    <a:cs typeface="Poppins" panose="00000500000000000000" pitchFamily="2" charset="0"/>
                  </a:rPr>
                  <a:t> determines a kinematically admissible full configuration.</a:t>
                </a:r>
                <a:endParaRPr lang="it-IT" sz="1600" dirty="0">
                  <a:solidFill>
                    <a:schemeClr val="tx2">
                      <a:lumMod val="90000"/>
                      <a:lumOff val="10000"/>
                    </a:schemeClr>
                  </a:solidFill>
                  <a:latin typeface="Poppins" panose="00000500000000000000" pitchFamily="2" charset="0"/>
                  <a:cs typeface="Poppins" panose="00000500000000000000" pitchFamily="2" charset="0"/>
                </a:endParaRPr>
              </a:p>
            </p:txBody>
          </p:sp>
        </mc:Choice>
        <mc:Fallback xmlns="">
          <p:sp>
            <p:nvSpPr>
              <p:cNvPr id="21" name="TextBox 20">
                <a:extLst>
                  <a:ext uri="{FF2B5EF4-FFF2-40B4-BE49-F238E27FC236}">
                    <a16:creationId xmlns:a16="http://schemas.microsoft.com/office/drawing/2014/main" id="{C96B0E04-C967-7805-BE26-B887758F5EE1}"/>
                  </a:ext>
                </a:extLst>
              </p:cNvPr>
              <p:cNvSpPr txBox="1">
                <a:spLocks noRot="1" noChangeAspect="1" noMove="1" noResize="1" noEditPoints="1" noAdjustHandles="1" noChangeArrowheads="1" noChangeShapeType="1" noTextEdit="1"/>
              </p:cNvSpPr>
              <p:nvPr/>
            </p:nvSpPr>
            <p:spPr>
              <a:xfrm>
                <a:off x="525932" y="5635824"/>
                <a:ext cx="10761746" cy="584775"/>
              </a:xfrm>
              <a:prstGeom prst="rect">
                <a:avLst/>
              </a:prstGeom>
              <a:blipFill>
                <a:blip r:embed="rId13"/>
                <a:stretch>
                  <a:fillRect l="-283" t="-2105" b="-14737"/>
                </a:stretch>
              </a:blipFill>
            </p:spPr>
            <p:txBody>
              <a:bodyPr/>
              <a:lstStyle/>
              <a:p>
                <a:r>
                  <a:rPr lang="it-IT">
                    <a:noFill/>
                  </a:rPr>
                  <a:t> </a:t>
                </a:r>
              </a:p>
            </p:txBody>
          </p:sp>
        </mc:Fallback>
      </mc:AlternateContent>
    </p:spTree>
    <p:extLst>
      <p:ext uri="{BB962C8B-B14F-4D97-AF65-F5344CB8AC3E}">
        <p14:creationId xmlns:p14="http://schemas.microsoft.com/office/powerpoint/2010/main" val="2267048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DEE08-A81E-19EF-F674-9045F8CAD993}"/>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67F33016-1DC4-DFDB-4D1F-4D6A844C54C5}"/>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3510DC9D-4475-B472-732D-C13CDFF4DE66}"/>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25261E64-E8CE-1760-2014-EB9FCF36E9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C8DB8745-8C46-6AA8-7F68-E138A958588B}"/>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C8DB8745-8C46-6AA8-7F68-E138A958588B}"/>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15D02464-FFF1-6F08-0A1B-F1EA99628AA9}"/>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15D02464-FFF1-6F08-0A1B-F1EA99628AA9}"/>
                  </a:ext>
                </a:extLst>
              </p:cNvPr>
              <p:cNvPicPr/>
              <p:nvPr/>
            </p:nvPicPr>
            <p:blipFill>
              <a:blip r:embed="rId6"/>
              <a:stretch>
                <a:fillRect/>
              </a:stretch>
            </p:blipFill>
            <p:spPr>
              <a:xfrm>
                <a:off x="5259213" y="963076"/>
                <a:ext cx="1950120" cy="35156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BAE2844A-F02B-8363-D497-39D5CCFFD72E}"/>
                  </a:ext>
                </a:extLst>
              </p14:cNvPr>
              <p14:cNvContentPartPr/>
              <p14:nvPr/>
            </p14:nvContentPartPr>
            <p14:xfrm>
              <a:off x="525933" y="2484774"/>
              <a:ext cx="360" cy="360"/>
            </p14:xfrm>
          </p:contentPart>
        </mc:Choice>
        <mc:Fallback xmlns="">
          <p:pic>
            <p:nvPicPr>
              <p:cNvPr id="13" name="Ink 12">
                <a:extLst>
                  <a:ext uri="{FF2B5EF4-FFF2-40B4-BE49-F238E27FC236}">
                    <a16:creationId xmlns:a16="http://schemas.microsoft.com/office/drawing/2014/main" id="{BAE2844A-F02B-8363-D497-39D5CCFFD72E}"/>
                  </a:ext>
                </a:extLst>
              </p:cNvPr>
              <p:cNvPicPr/>
              <p:nvPr/>
            </p:nvPicPr>
            <p:blipFill>
              <a:blip r:embed="rId8"/>
              <a:stretch>
                <a:fillRect/>
              </a:stretch>
            </p:blipFill>
            <p:spPr>
              <a:xfrm>
                <a:off x="462933" y="2421774"/>
                <a:ext cx="126000" cy="126000"/>
              </a:xfrm>
              <a:prstGeom prst="rect">
                <a:avLst/>
              </a:prstGeom>
            </p:spPr>
          </p:pic>
        </mc:Fallback>
      </mc:AlternateContent>
      <p:sp>
        <p:nvSpPr>
          <p:cNvPr id="14" name="Google Shape;259;p29">
            <a:extLst>
              <a:ext uri="{FF2B5EF4-FFF2-40B4-BE49-F238E27FC236}">
                <a16:creationId xmlns:a16="http://schemas.microsoft.com/office/drawing/2014/main" id="{5B45501B-BC1D-2348-9192-334D3A6FD849}"/>
              </a:ext>
            </a:extLst>
          </p:cNvPr>
          <p:cNvSpPr/>
          <p:nvPr/>
        </p:nvSpPr>
        <p:spPr>
          <a:xfrm>
            <a:off x="525932" y="1433398"/>
            <a:ext cx="7703641"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D83F9803-BAAE-B8C9-ED34-594D89217066}"/>
              </a:ext>
            </a:extLst>
          </p:cNvPr>
          <p:cNvSpPr txBox="1">
            <a:spLocks/>
          </p:cNvSpPr>
          <p:nvPr/>
        </p:nvSpPr>
        <p:spPr>
          <a:xfrm>
            <a:off x="604929" y="1129380"/>
            <a:ext cx="7704000"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193C6A"/>
                </a:solidFill>
                <a:latin typeface="Poppins Black" panose="00000A00000000000000" pitchFamily="2" charset="0"/>
                <a:ea typeface="Cambria" pitchFamily="34" charset="-122"/>
                <a:cs typeface="Poppins Black" panose="00000A00000000000000" pitchFamily="2" charset="0"/>
              </a:rPr>
              <a:t>Kinematic and Dynamic Modeling</a:t>
            </a:r>
            <a:endParaRPr lang="en-US" sz="3200" dirty="0">
              <a:solidFill>
                <a:srgbClr val="193C6A"/>
              </a:solidFill>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E83C345A-D8D7-0853-357A-41FBDA3316F5}"/>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51486FE9-0547-9DEA-D125-360BB52AFDBB}"/>
              </a:ext>
            </a:extLst>
          </p:cNvPr>
          <p:cNvSpPr txBox="1"/>
          <p:nvPr/>
        </p:nvSpPr>
        <p:spPr>
          <a:xfrm>
            <a:off x="604928" y="1705798"/>
            <a:ext cx="6718897" cy="338554"/>
          </a:xfrm>
          <a:prstGeom prst="rect">
            <a:avLst/>
          </a:prstGeom>
          <a:noFill/>
        </p:spPr>
        <p:txBody>
          <a:bodyPr wrap="square">
            <a:spAutoFit/>
          </a:bodyPr>
          <a:lstStyle/>
          <a:p>
            <a:r>
              <a:rPr lang="en-US" sz="1600" i="1" dirty="0">
                <a:solidFill>
                  <a:srgbClr val="64748B"/>
                </a:solidFill>
                <a:latin typeface="Poppins" panose="00000500000000000000" pitchFamily="2" charset="0"/>
                <a:cs typeface="Poppins" panose="00000500000000000000" pitchFamily="2" charset="0"/>
              </a:rPr>
              <a:t>Reduction to 1-DOF scalar dynamics </a:t>
            </a:r>
            <a:r>
              <a:rPr lang="en-US" sz="1600" i="1" dirty="0">
                <a:solidFill>
                  <a:srgbClr val="64748B"/>
                </a:solidFill>
                <a:latin typeface="Poppins" panose="00000500000000000000" pitchFamily="2" charset="0"/>
                <a:ea typeface="Calibri" pitchFamily="34" charset="-122"/>
                <a:cs typeface="Poppins" panose="00000500000000000000" pitchFamily="2" charset="0"/>
              </a:rPr>
              <a:t>– Rapid Overview (2/2)</a:t>
            </a:r>
            <a:endParaRPr lang="en-US" sz="1600" dirty="0">
              <a:latin typeface="Poppins" panose="00000500000000000000" pitchFamily="2" charset="0"/>
              <a:cs typeface="Poppins" panose="00000500000000000000" pitchFamily="2"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49F74AD-6B08-A9A9-B0C4-96AC0B402A6C}"/>
                  </a:ext>
                </a:extLst>
              </p:cNvPr>
              <p:cNvSpPr txBox="1"/>
              <p:nvPr/>
            </p:nvSpPr>
            <p:spPr>
              <a:xfrm>
                <a:off x="558481" y="2109989"/>
                <a:ext cx="4849921" cy="1006045"/>
              </a:xfrm>
              <a:prstGeom prst="rect">
                <a:avLst/>
              </a:prstGeom>
              <a:noFill/>
            </p:spPr>
            <p:txBody>
              <a:bodyPr wrap="square">
                <a:spAutoFit/>
              </a:bodyPr>
              <a:lstStyle/>
              <a:p>
                <a:r>
                  <a:rPr lang="it-IT" sz="1400" b="1" dirty="0">
                    <a:solidFill>
                      <a:schemeClr val="accent1">
                        <a:lumMod val="50000"/>
                      </a:schemeClr>
                    </a:solidFill>
                    <a:latin typeface="Poppins" panose="00000500000000000000" pitchFamily="2" charset="0"/>
                    <a:cs typeface="Poppins" panose="00000500000000000000" pitchFamily="2" charset="0"/>
                  </a:rPr>
                  <a:t>Step 1 — Admissible direction </a:t>
                </a:r>
                <a14:m>
                  <m:oMath xmlns:m="http://schemas.openxmlformats.org/officeDocument/2006/math">
                    <m:r>
                      <a:rPr lang="it-IT" sz="1600" b="1" i="1" dirty="0" smtClean="0">
                        <a:solidFill>
                          <a:schemeClr val="accent1">
                            <a:lumMod val="50000"/>
                          </a:schemeClr>
                        </a:solidFill>
                        <a:latin typeface="Cambria Math" panose="02040503050406030204" pitchFamily="18" charset="0"/>
                        <a:cs typeface="Poppins" panose="00000500000000000000" pitchFamily="2" charset="0"/>
                      </a:rPr>
                      <m:t>𝑩</m:t>
                    </m:r>
                    <m:r>
                      <a:rPr lang="it-IT" sz="1600" b="1" i="1" dirty="0" smtClean="0">
                        <a:solidFill>
                          <a:schemeClr val="accent1">
                            <a:lumMod val="50000"/>
                          </a:schemeClr>
                        </a:solidFill>
                        <a:latin typeface="Cambria Math" panose="02040503050406030204" pitchFamily="18" charset="0"/>
                        <a:cs typeface="Poppins" panose="00000500000000000000" pitchFamily="2" charset="0"/>
                      </a:rPr>
                      <m:t>(</m:t>
                    </m:r>
                    <m:r>
                      <a:rPr lang="it-IT" sz="1600" b="1" i="1" dirty="0" smtClean="0">
                        <a:solidFill>
                          <a:schemeClr val="accent1">
                            <a:lumMod val="50000"/>
                          </a:schemeClr>
                        </a:solidFill>
                        <a:latin typeface="Cambria Math" panose="02040503050406030204" pitchFamily="18" charset="0"/>
                        <a:cs typeface="Poppins" panose="00000500000000000000" pitchFamily="2" charset="0"/>
                      </a:rPr>
                      <m:t>𝒒</m:t>
                    </m:r>
                    <m:r>
                      <a:rPr lang="it-IT" sz="1600" b="1" i="1" dirty="0" smtClean="0">
                        <a:solidFill>
                          <a:schemeClr val="accent1">
                            <a:lumMod val="50000"/>
                          </a:schemeClr>
                        </a:solidFill>
                        <a:latin typeface="Cambria Math" panose="02040503050406030204" pitchFamily="18" charset="0"/>
                        <a:cs typeface="Poppins" panose="00000500000000000000" pitchFamily="2" charset="0"/>
                      </a:rPr>
                      <m:t>)=</m:t>
                    </m:r>
                    <m:f>
                      <m:fPr>
                        <m:ctrlPr>
                          <a:rPr lang="it-IT" sz="1600" b="1" i="1" dirty="0" smtClean="0">
                            <a:solidFill>
                              <a:schemeClr val="accent1">
                                <a:lumMod val="50000"/>
                              </a:schemeClr>
                            </a:solidFill>
                            <a:latin typeface="Cambria Math" panose="02040503050406030204" pitchFamily="18" charset="0"/>
                            <a:cs typeface="Poppins" panose="00000500000000000000" pitchFamily="2" charset="0"/>
                          </a:rPr>
                        </m:ctrlPr>
                      </m:fPr>
                      <m:num>
                        <m:r>
                          <a:rPr lang="it-IT" sz="1600" b="1" i="1" dirty="0">
                            <a:solidFill>
                              <a:schemeClr val="accent1">
                                <a:lumMod val="50000"/>
                              </a:schemeClr>
                            </a:solidFill>
                            <a:latin typeface="Cambria Math" panose="02040503050406030204" pitchFamily="18" charset="0"/>
                            <a:cs typeface="Poppins" panose="00000500000000000000" pitchFamily="2" charset="0"/>
                          </a:rPr>
                          <m:t>𝝏</m:t>
                        </m:r>
                        <m:r>
                          <a:rPr lang="it-IT" sz="1600" b="1" i="1" dirty="0">
                            <a:solidFill>
                              <a:schemeClr val="accent1">
                                <a:lumMod val="50000"/>
                              </a:schemeClr>
                            </a:solidFill>
                            <a:latin typeface="Cambria Math" panose="02040503050406030204" pitchFamily="18" charset="0"/>
                            <a:cs typeface="Poppins" panose="00000500000000000000" pitchFamily="2" charset="0"/>
                          </a:rPr>
                          <m:t>𝒒</m:t>
                        </m:r>
                      </m:num>
                      <m:den>
                        <m:r>
                          <a:rPr lang="it-IT" sz="1600" b="1" i="1" dirty="0">
                            <a:solidFill>
                              <a:schemeClr val="accent1">
                                <a:lumMod val="50000"/>
                              </a:schemeClr>
                            </a:solidFill>
                            <a:latin typeface="Cambria Math" panose="02040503050406030204" pitchFamily="18" charset="0"/>
                            <a:cs typeface="Poppins" panose="00000500000000000000" pitchFamily="2" charset="0"/>
                          </a:rPr>
                          <m:t>𝝏𝜽</m:t>
                        </m:r>
                      </m:den>
                    </m:f>
                  </m:oMath>
                </a14:m>
                <a:endParaRPr lang="it-IT" sz="1400" b="1" dirty="0">
                  <a:solidFill>
                    <a:schemeClr val="accent1">
                      <a:lumMod val="50000"/>
                    </a:schemeClr>
                  </a:solidFill>
                  <a:latin typeface="Poppins" panose="00000500000000000000" pitchFamily="2" charset="0"/>
                  <a:cs typeface="Poppins" panose="00000500000000000000" pitchFamily="2" charset="0"/>
                </a:endParaRPr>
              </a:p>
              <a:p>
                <a:endParaRPr lang="en-US" sz="1200" dirty="0">
                  <a:solidFill>
                    <a:schemeClr val="tx2">
                      <a:lumMod val="90000"/>
                      <a:lumOff val="10000"/>
                    </a:schemeClr>
                  </a:solidFill>
                  <a:latin typeface="Poppins" panose="00000500000000000000" pitchFamily="2" charset="0"/>
                  <a:cs typeface="Poppins" panose="00000500000000000000" pitchFamily="2" charset="0"/>
                </a:endParaRPr>
              </a:p>
              <a:p>
                <a:r>
                  <a:rPr lang="en-US" sz="1200" dirty="0">
                    <a:solidFill>
                      <a:schemeClr val="tx2">
                        <a:lumMod val="90000"/>
                        <a:lumOff val="10000"/>
                      </a:schemeClr>
                    </a:solidFill>
                    <a:latin typeface="Poppins" panose="00000500000000000000" pitchFamily="2" charset="0"/>
                    <a:cs typeface="Poppins" panose="00000500000000000000" pitchFamily="2" charset="0"/>
                  </a:rPr>
                  <a:t>Differentiating the closure constraints gives the velocity-level condition:</a:t>
                </a:r>
              </a:p>
            </p:txBody>
          </p:sp>
        </mc:Choice>
        <mc:Fallback xmlns="">
          <p:sp>
            <p:nvSpPr>
              <p:cNvPr id="7" name="TextBox 6">
                <a:extLst>
                  <a:ext uri="{FF2B5EF4-FFF2-40B4-BE49-F238E27FC236}">
                    <a16:creationId xmlns:a16="http://schemas.microsoft.com/office/drawing/2014/main" id="{A49F74AD-6B08-A9A9-B0C4-96AC0B402A6C}"/>
                  </a:ext>
                </a:extLst>
              </p:cNvPr>
              <p:cNvSpPr txBox="1">
                <a:spLocks noRot="1" noChangeAspect="1" noMove="1" noResize="1" noEditPoints="1" noAdjustHandles="1" noChangeArrowheads="1" noChangeShapeType="1" noTextEdit="1"/>
              </p:cNvSpPr>
              <p:nvPr/>
            </p:nvSpPr>
            <p:spPr>
              <a:xfrm>
                <a:off x="558481" y="2109989"/>
                <a:ext cx="4849921" cy="1006045"/>
              </a:xfrm>
              <a:prstGeom prst="rect">
                <a:avLst/>
              </a:prstGeom>
              <a:blipFill>
                <a:blip r:embed="rId9"/>
                <a:stretch>
                  <a:fillRect l="-377" r="-755" b="-363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B6965ED-DFB5-F352-11DF-725B1C15BDC0}"/>
                  </a:ext>
                </a:extLst>
              </p:cNvPr>
              <p:cNvSpPr txBox="1"/>
              <p:nvPr/>
            </p:nvSpPr>
            <p:spPr>
              <a:xfrm>
                <a:off x="1125069" y="3024984"/>
                <a:ext cx="3470407" cy="3686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sz="1600" b="1" i="1" dirty="0" smtClean="0">
                          <a:solidFill>
                            <a:schemeClr val="tx2">
                              <a:lumMod val="90000"/>
                              <a:lumOff val="10000"/>
                            </a:schemeClr>
                          </a:solidFill>
                          <a:effectLst/>
                          <a:latin typeface="Cambria Math" panose="02040503050406030204" pitchFamily="18" charset="0"/>
                        </a:rPr>
                        <m:t>𝑨</m:t>
                      </m:r>
                      <m:d>
                        <m:dPr>
                          <m:ctrlPr>
                            <a:rPr lang="it-IT" sz="1600" b="1" i="1" dirty="0" smtClean="0">
                              <a:solidFill>
                                <a:schemeClr val="tx2">
                                  <a:lumMod val="90000"/>
                                  <a:lumOff val="10000"/>
                                </a:schemeClr>
                              </a:solidFill>
                              <a:effectLst/>
                              <a:latin typeface="Cambria Math" panose="02040503050406030204" pitchFamily="18" charset="0"/>
                            </a:rPr>
                          </m:ctrlPr>
                        </m:dPr>
                        <m:e>
                          <m:r>
                            <a:rPr lang="it-IT" sz="1600" b="1" i="1" dirty="0" smtClean="0">
                              <a:solidFill>
                                <a:schemeClr val="tx2">
                                  <a:lumMod val="90000"/>
                                  <a:lumOff val="10000"/>
                                </a:schemeClr>
                              </a:solidFill>
                              <a:effectLst/>
                              <a:latin typeface="Cambria Math" panose="02040503050406030204" pitchFamily="18" charset="0"/>
                            </a:rPr>
                            <m:t>𝒒</m:t>
                          </m:r>
                        </m:e>
                      </m:d>
                      <m:acc>
                        <m:accPr>
                          <m:chr m:val="̇"/>
                          <m:ctrlPr>
                            <a:rPr lang="it-IT" sz="1600" b="1" i="1" dirty="0">
                              <a:solidFill>
                                <a:schemeClr val="tx2">
                                  <a:lumMod val="90000"/>
                                  <a:lumOff val="10000"/>
                                </a:schemeClr>
                              </a:solidFill>
                              <a:effectLst/>
                              <a:latin typeface="Cambria Math" panose="02040503050406030204" pitchFamily="18" charset="0"/>
                            </a:rPr>
                          </m:ctrlPr>
                        </m:accPr>
                        <m:e>
                          <m:r>
                            <a:rPr lang="it-IT" sz="1600" b="1" i="1" dirty="0">
                              <a:solidFill>
                                <a:schemeClr val="tx2">
                                  <a:lumMod val="90000"/>
                                  <a:lumOff val="10000"/>
                                </a:schemeClr>
                              </a:solidFill>
                              <a:effectLst/>
                              <a:latin typeface="Cambria Math" panose="02040503050406030204" pitchFamily="18" charset="0"/>
                            </a:rPr>
                            <m:t>𝒒</m:t>
                          </m:r>
                        </m:e>
                      </m:acc>
                      <m:r>
                        <a:rPr lang="it-IT" sz="1600" b="1" i="1" dirty="0">
                          <a:solidFill>
                            <a:schemeClr val="tx2">
                              <a:lumMod val="90000"/>
                              <a:lumOff val="10000"/>
                            </a:schemeClr>
                          </a:solidFill>
                          <a:effectLst/>
                          <a:latin typeface="Cambria Math" panose="02040503050406030204" pitchFamily="18" charset="0"/>
                        </a:rPr>
                        <m:t>=</m:t>
                      </m:r>
                      <m:r>
                        <a:rPr lang="it-IT" sz="1600" b="1" i="1" dirty="0">
                          <a:solidFill>
                            <a:schemeClr val="tx2">
                              <a:lumMod val="90000"/>
                              <a:lumOff val="10000"/>
                            </a:schemeClr>
                          </a:solidFill>
                          <a:effectLst/>
                          <a:latin typeface="Cambria Math" panose="02040503050406030204" pitchFamily="18" charset="0"/>
                        </a:rPr>
                        <m:t>𝟎</m:t>
                      </m:r>
                      <m:r>
                        <a:rPr lang="it-IT" sz="1600" b="1" i="1" dirty="0">
                          <a:solidFill>
                            <a:schemeClr val="tx2">
                              <a:lumMod val="90000"/>
                              <a:lumOff val="10000"/>
                            </a:schemeClr>
                          </a:solidFill>
                          <a:effectLst/>
                          <a:latin typeface="Cambria Math" panose="02040503050406030204" pitchFamily="18" charset="0"/>
                        </a:rPr>
                        <m:t>  </m:t>
                      </m:r>
                      <m:r>
                        <a:rPr lang="it-IT" sz="1600" b="1" i="1" dirty="0">
                          <a:solidFill>
                            <a:schemeClr val="tx2">
                              <a:lumMod val="90000"/>
                              <a:lumOff val="10000"/>
                            </a:schemeClr>
                          </a:solidFill>
                          <a:effectLst/>
                          <a:latin typeface="Cambria Math" panose="02040503050406030204" pitchFamily="18" charset="0"/>
                        </a:rPr>
                        <m:t>𝑨</m:t>
                      </m:r>
                      <m:d>
                        <m:dPr>
                          <m:ctrlPr>
                            <a:rPr lang="it-IT" sz="1600" b="1" i="1" dirty="0">
                              <a:solidFill>
                                <a:schemeClr val="tx2">
                                  <a:lumMod val="90000"/>
                                  <a:lumOff val="10000"/>
                                </a:schemeClr>
                              </a:solidFill>
                              <a:effectLst/>
                              <a:latin typeface="Cambria Math" panose="02040503050406030204" pitchFamily="18" charset="0"/>
                            </a:rPr>
                          </m:ctrlPr>
                        </m:dPr>
                        <m:e>
                          <m:r>
                            <a:rPr lang="it-IT" sz="1600" b="1" i="1" dirty="0">
                              <a:solidFill>
                                <a:schemeClr val="tx2">
                                  <a:lumMod val="90000"/>
                                  <a:lumOff val="10000"/>
                                </a:schemeClr>
                              </a:solidFill>
                              <a:effectLst/>
                              <a:latin typeface="Cambria Math" panose="02040503050406030204" pitchFamily="18" charset="0"/>
                            </a:rPr>
                            <m:t>𝒒</m:t>
                          </m:r>
                        </m:e>
                      </m:d>
                      <m:r>
                        <a:rPr lang="it-IT" sz="1600" b="1" i="1" dirty="0">
                          <a:solidFill>
                            <a:schemeClr val="tx2">
                              <a:lumMod val="90000"/>
                              <a:lumOff val="10000"/>
                            </a:schemeClr>
                          </a:solidFill>
                          <a:effectLst/>
                          <a:latin typeface="Cambria Math" panose="02040503050406030204" pitchFamily="18" charset="0"/>
                        </a:rPr>
                        <m:t>=</m:t>
                      </m:r>
                      <m:sSub>
                        <m:sSubPr>
                          <m:ctrlPr>
                            <a:rPr lang="it-IT" sz="1600" b="1" i="1" dirty="0">
                              <a:solidFill>
                                <a:schemeClr val="tx2">
                                  <a:lumMod val="90000"/>
                                  <a:lumOff val="10000"/>
                                </a:schemeClr>
                              </a:solidFill>
                              <a:effectLst/>
                              <a:latin typeface="Cambria Math" panose="02040503050406030204" pitchFamily="18" charset="0"/>
                            </a:rPr>
                          </m:ctrlPr>
                        </m:sSubPr>
                        <m:e>
                          <m:r>
                            <a:rPr lang="it-IT" sz="1600" b="1" i="1" dirty="0">
                              <a:solidFill>
                                <a:schemeClr val="tx2">
                                  <a:lumMod val="90000"/>
                                  <a:lumOff val="10000"/>
                                </a:schemeClr>
                              </a:solidFill>
                              <a:effectLst/>
                              <a:latin typeface="Cambria Math" panose="02040503050406030204" pitchFamily="18" charset="0"/>
                            </a:rPr>
                            <m:t>𝑱</m:t>
                          </m:r>
                        </m:e>
                        <m:sub>
                          <m:r>
                            <a:rPr lang="it-IT" sz="1600" b="1" i="1" dirty="0">
                              <a:solidFill>
                                <a:schemeClr val="tx2">
                                  <a:lumMod val="90000"/>
                                  <a:lumOff val="10000"/>
                                </a:schemeClr>
                              </a:solidFill>
                              <a:effectLst/>
                              <a:latin typeface="Cambria Math" panose="02040503050406030204" pitchFamily="18" charset="0"/>
                            </a:rPr>
                            <m:t>𝑨</m:t>
                          </m:r>
                        </m:sub>
                      </m:sSub>
                      <m:d>
                        <m:dPr>
                          <m:ctrlPr>
                            <a:rPr lang="it-IT" sz="1600" b="1" i="1" dirty="0">
                              <a:solidFill>
                                <a:schemeClr val="tx2">
                                  <a:lumMod val="90000"/>
                                  <a:lumOff val="10000"/>
                                </a:schemeClr>
                              </a:solidFill>
                              <a:effectLst/>
                              <a:latin typeface="Cambria Math" panose="02040503050406030204" pitchFamily="18" charset="0"/>
                            </a:rPr>
                          </m:ctrlPr>
                        </m:dPr>
                        <m:e>
                          <m:r>
                            <a:rPr lang="it-IT" sz="1600" b="1" i="1" dirty="0">
                              <a:solidFill>
                                <a:schemeClr val="tx2">
                                  <a:lumMod val="90000"/>
                                  <a:lumOff val="10000"/>
                                </a:schemeClr>
                              </a:solidFill>
                              <a:effectLst/>
                              <a:latin typeface="Cambria Math" panose="02040503050406030204" pitchFamily="18" charset="0"/>
                            </a:rPr>
                            <m:t>𝒒</m:t>
                          </m:r>
                        </m:e>
                      </m:d>
                      <m:r>
                        <a:rPr lang="it-IT" sz="1600" b="1" i="1" dirty="0">
                          <a:solidFill>
                            <a:schemeClr val="tx2">
                              <a:lumMod val="90000"/>
                              <a:lumOff val="10000"/>
                            </a:schemeClr>
                          </a:solidFill>
                          <a:effectLst/>
                          <a:latin typeface="Cambria Math" panose="02040503050406030204" pitchFamily="18" charset="0"/>
                        </a:rPr>
                        <m:t>−</m:t>
                      </m:r>
                      <m:sSub>
                        <m:sSubPr>
                          <m:ctrlPr>
                            <a:rPr lang="it-IT" sz="1600" b="1" i="1" dirty="0">
                              <a:solidFill>
                                <a:schemeClr val="tx2">
                                  <a:lumMod val="90000"/>
                                  <a:lumOff val="10000"/>
                                </a:schemeClr>
                              </a:solidFill>
                              <a:effectLst/>
                              <a:latin typeface="Cambria Math" panose="02040503050406030204" pitchFamily="18" charset="0"/>
                            </a:rPr>
                          </m:ctrlPr>
                        </m:sSubPr>
                        <m:e>
                          <m:r>
                            <a:rPr lang="it-IT" sz="1600" b="1" i="1" dirty="0">
                              <a:solidFill>
                                <a:schemeClr val="tx2">
                                  <a:lumMod val="90000"/>
                                  <a:lumOff val="10000"/>
                                </a:schemeClr>
                              </a:solidFill>
                              <a:effectLst/>
                              <a:latin typeface="Cambria Math" panose="02040503050406030204" pitchFamily="18" charset="0"/>
                            </a:rPr>
                            <m:t>𝑱</m:t>
                          </m:r>
                        </m:e>
                        <m:sub>
                          <m:r>
                            <a:rPr lang="it-IT" sz="1600" b="1" i="1" dirty="0">
                              <a:solidFill>
                                <a:schemeClr val="tx2">
                                  <a:lumMod val="90000"/>
                                  <a:lumOff val="10000"/>
                                </a:schemeClr>
                              </a:solidFill>
                              <a:effectLst/>
                              <a:latin typeface="Cambria Math" panose="02040503050406030204" pitchFamily="18" charset="0"/>
                            </a:rPr>
                            <m:t>𝑩</m:t>
                          </m:r>
                        </m:sub>
                      </m:sSub>
                      <m:d>
                        <m:dPr>
                          <m:ctrlPr>
                            <a:rPr lang="it-IT" sz="1600" b="1" i="1" dirty="0">
                              <a:solidFill>
                                <a:schemeClr val="tx2">
                                  <a:lumMod val="90000"/>
                                  <a:lumOff val="10000"/>
                                </a:schemeClr>
                              </a:solidFill>
                              <a:effectLst/>
                              <a:latin typeface="Cambria Math" panose="02040503050406030204" pitchFamily="18" charset="0"/>
                            </a:rPr>
                          </m:ctrlPr>
                        </m:dPr>
                        <m:e>
                          <m:r>
                            <a:rPr lang="it-IT" sz="1600" b="1" i="1" dirty="0">
                              <a:solidFill>
                                <a:schemeClr val="tx2">
                                  <a:lumMod val="90000"/>
                                  <a:lumOff val="10000"/>
                                </a:schemeClr>
                              </a:solidFill>
                              <a:effectLst/>
                              <a:latin typeface="Cambria Math" panose="02040503050406030204" pitchFamily="18" charset="0"/>
                            </a:rPr>
                            <m:t>𝒒</m:t>
                          </m:r>
                        </m:e>
                      </m:d>
                    </m:oMath>
                  </m:oMathPara>
                </a14:m>
                <a:endParaRPr/>
              </a:p>
            </p:txBody>
          </p:sp>
        </mc:Choice>
        <mc:Fallback xmlns="">
          <p:sp>
            <p:nvSpPr>
              <p:cNvPr id="9" name="TextBox 8">
                <a:extLst>
                  <a:ext uri="{FF2B5EF4-FFF2-40B4-BE49-F238E27FC236}">
                    <a16:creationId xmlns:a16="http://schemas.microsoft.com/office/drawing/2014/main" id="{BB6965ED-DFB5-F352-11DF-725B1C15BDC0}"/>
                  </a:ext>
                </a:extLst>
              </p:cNvPr>
              <p:cNvSpPr txBox="1">
                <a:spLocks noRot="1" noChangeAspect="1" noMove="1" noResize="1" noEditPoints="1" noAdjustHandles="1" noChangeArrowheads="1" noChangeShapeType="1" noTextEdit="1"/>
              </p:cNvSpPr>
              <p:nvPr/>
            </p:nvSpPr>
            <p:spPr>
              <a:xfrm>
                <a:off x="1125069" y="3024984"/>
                <a:ext cx="3470407" cy="368627"/>
              </a:xfrm>
              <a:prstGeom prst="rect">
                <a:avLst/>
              </a:prstGeom>
              <a:blipFill>
                <a:blip r:embed="rId10"/>
                <a:stretch>
                  <a:fillRect r="-1757" b="-18033"/>
                </a:stretch>
              </a:blipFill>
            </p:spPr>
            <p:txBody>
              <a:bodyPr/>
              <a:lstStyle/>
              <a:p>
                <a:r>
                  <a:rPr lang="it-IT">
                    <a:noFill/>
                  </a:rPr>
                  <a:t> </a:t>
                </a:r>
              </a:p>
            </p:txBody>
          </p:sp>
        </mc:Fallback>
      </mc:AlternateContent>
      <p:sp>
        <p:nvSpPr>
          <p:cNvPr id="17" name="TextBox 16">
            <a:extLst>
              <a:ext uri="{FF2B5EF4-FFF2-40B4-BE49-F238E27FC236}">
                <a16:creationId xmlns:a16="http://schemas.microsoft.com/office/drawing/2014/main" id="{B7AB6948-B34B-C86A-1C1E-AC6970AB6B2B}"/>
              </a:ext>
            </a:extLst>
          </p:cNvPr>
          <p:cNvSpPr txBox="1"/>
          <p:nvPr/>
        </p:nvSpPr>
        <p:spPr>
          <a:xfrm>
            <a:off x="558481" y="3449772"/>
            <a:ext cx="4036995" cy="276999"/>
          </a:xfrm>
          <a:prstGeom prst="rect">
            <a:avLst/>
          </a:prstGeom>
          <a:noFill/>
        </p:spPr>
        <p:txBody>
          <a:bodyPr wrap="square">
            <a:spAutoFit/>
          </a:bodyPr>
          <a:lstStyle/>
          <a:p>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The null space is one-dimensional (1 DOF), so:</a:t>
            </a:r>
            <a:endParaRPr lang="it-IT" sz="1200" dirty="0">
              <a:solidFill>
                <a:schemeClr val="tx2">
                  <a:lumMod val="90000"/>
                  <a:lumOff val="10000"/>
                </a:schemeClr>
              </a:solidFill>
              <a:latin typeface="Poppins" panose="00000500000000000000" pitchFamily="2" charset="0"/>
              <a:cs typeface="Poppins" panose="00000500000000000000" pitchFamily="2"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3B74657-F770-78B3-500A-BD7323DA7131}"/>
                  </a:ext>
                </a:extLst>
              </p:cNvPr>
              <p:cNvSpPr txBox="1"/>
              <p:nvPr/>
            </p:nvSpPr>
            <p:spPr>
              <a:xfrm>
                <a:off x="1007455" y="3715900"/>
                <a:ext cx="3588021" cy="3686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it-IT" sz="1600" b="1" i="1" dirty="0" smtClean="0">
                              <a:solidFill>
                                <a:schemeClr val="tx2">
                                  <a:lumMod val="90000"/>
                                  <a:lumOff val="10000"/>
                                </a:schemeClr>
                              </a:solidFill>
                              <a:effectLst/>
                              <a:latin typeface="Cambria Math" panose="02040503050406030204" pitchFamily="18" charset="0"/>
                            </a:rPr>
                          </m:ctrlPr>
                        </m:accPr>
                        <m:e>
                          <m:r>
                            <a:rPr lang="it-IT" sz="1600" b="1" i="1" dirty="0" smtClean="0">
                              <a:solidFill>
                                <a:schemeClr val="tx2">
                                  <a:lumMod val="90000"/>
                                  <a:lumOff val="10000"/>
                                </a:schemeClr>
                              </a:solidFill>
                              <a:effectLst/>
                              <a:latin typeface="Cambria Math" panose="02040503050406030204" pitchFamily="18" charset="0"/>
                            </a:rPr>
                            <m:t>𝒒</m:t>
                          </m:r>
                        </m:e>
                      </m:acc>
                      <m:r>
                        <a:rPr lang="it-IT" sz="1600" b="1" i="1" dirty="0" smtClean="0">
                          <a:solidFill>
                            <a:schemeClr val="tx2">
                              <a:lumMod val="90000"/>
                              <a:lumOff val="10000"/>
                            </a:schemeClr>
                          </a:solidFill>
                          <a:effectLst/>
                          <a:latin typeface="Cambria Math" panose="02040503050406030204" pitchFamily="18" charset="0"/>
                        </a:rPr>
                        <m:t>=</m:t>
                      </m:r>
                      <m:r>
                        <a:rPr lang="it-IT" sz="1600" b="1" i="1" dirty="0" smtClean="0">
                          <a:solidFill>
                            <a:schemeClr val="tx2">
                              <a:lumMod val="90000"/>
                              <a:lumOff val="10000"/>
                            </a:schemeClr>
                          </a:solidFill>
                          <a:effectLst/>
                          <a:latin typeface="Cambria Math" panose="02040503050406030204" pitchFamily="18" charset="0"/>
                        </a:rPr>
                        <m:t>𝑩</m:t>
                      </m:r>
                      <m:d>
                        <m:dPr>
                          <m:ctrlPr>
                            <a:rPr lang="it-IT" sz="1600" b="1" i="1" dirty="0" smtClean="0">
                              <a:solidFill>
                                <a:schemeClr val="tx2">
                                  <a:lumMod val="90000"/>
                                  <a:lumOff val="10000"/>
                                </a:schemeClr>
                              </a:solidFill>
                              <a:effectLst/>
                              <a:latin typeface="Cambria Math" panose="02040503050406030204" pitchFamily="18" charset="0"/>
                            </a:rPr>
                          </m:ctrlPr>
                        </m:dPr>
                        <m:e>
                          <m:r>
                            <a:rPr lang="it-IT" sz="1600" b="1" i="1" dirty="0" smtClean="0">
                              <a:solidFill>
                                <a:schemeClr val="tx2">
                                  <a:lumMod val="90000"/>
                                  <a:lumOff val="10000"/>
                                </a:schemeClr>
                              </a:solidFill>
                              <a:effectLst/>
                              <a:latin typeface="Cambria Math" panose="02040503050406030204" pitchFamily="18" charset="0"/>
                            </a:rPr>
                            <m:t>𝒒</m:t>
                          </m:r>
                        </m:e>
                      </m:d>
                      <m:acc>
                        <m:accPr>
                          <m:chr m:val="̇"/>
                          <m:ctrlPr>
                            <a:rPr lang="it-IT" sz="1600" b="1" i="1" dirty="0">
                              <a:solidFill>
                                <a:schemeClr val="tx2">
                                  <a:lumMod val="90000"/>
                                  <a:lumOff val="10000"/>
                                </a:schemeClr>
                              </a:solidFill>
                              <a:effectLst/>
                              <a:latin typeface="Cambria Math" panose="02040503050406030204" pitchFamily="18" charset="0"/>
                            </a:rPr>
                          </m:ctrlPr>
                        </m:accPr>
                        <m:e>
                          <m:r>
                            <a:rPr lang="it-IT" sz="1600" b="1" i="1" dirty="0">
                              <a:solidFill>
                                <a:schemeClr val="tx2">
                                  <a:lumMod val="90000"/>
                                  <a:lumOff val="10000"/>
                                </a:schemeClr>
                              </a:solidFill>
                              <a:effectLst/>
                              <a:latin typeface="Cambria Math" panose="02040503050406030204" pitchFamily="18" charset="0"/>
                            </a:rPr>
                            <m:t>𝜽</m:t>
                          </m:r>
                        </m:e>
                      </m:acc>
                      <m:r>
                        <a:rPr lang="it-IT" sz="1600" b="1" i="1" dirty="0">
                          <a:solidFill>
                            <a:schemeClr val="tx2">
                              <a:lumMod val="90000"/>
                              <a:lumOff val="10000"/>
                            </a:schemeClr>
                          </a:solidFill>
                          <a:effectLst/>
                          <a:latin typeface="Cambria Math" panose="02040503050406030204" pitchFamily="18" charset="0"/>
                        </a:rPr>
                        <m:t>,  </m:t>
                      </m:r>
                      <m:acc>
                        <m:accPr>
                          <m:chr m:val="̈"/>
                          <m:ctrlPr>
                            <a:rPr lang="it-IT" sz="1600" b="1" i="1" dirty="0">
                              <a:solidFill>
                                <a:schemeClr val="tx2">
                                  <a:lumMod val="90000"/>
                                  <a:lumOff val="10000"/>
                                </a:schemeClr>
                              </a:solidFill>
                              <a:effectLst/>
                              <a:latin typeface="Cambria Math" panose="02040503050406030204" pitchFamily="18" charset="0"/>
                            </a:rPr>
                          </m:ctrlPr>
                        </m:accPr>
                        <m:e>
                          <m:r>
                            <a:rPr lang="it-IT" sz="1600" b="1" i="1" dirty="0">
                              <a:solidFill>
                                <a:schemeClr val="tx2">
                                  <a:lumMod val="90000"/>
                                  <a:lumOff val="10000"/>
                                </a:schemeClr>
                              </a:solidFill>
                              <a:effectLst/>
                              <a:latin typeface="Cambria Math" panose="02040503050406030204" pitchFamily="18" charset="0"/>
                            </a:rPr>
                            <m:t>𝒒</m:t>
                          </m:r>
                        </m:e>
                      </m:acc>
                      <m:r>
                        <a:rPr lang="it-IT" sz="1600" b="1" i="1" dirty="0">
                          <a:solidFill>
                            <a:schemeClr val="tx2">
                              <a:lumMod val="90000"/>
                              <a:lumOff val="10000"/>
                            </a:schemeClr>
                          </a:solidFill>
                          <a:effectLst/>
                          <a:latin typeface="Cambria Math" panose="02040503050406030204" pitchFamily="18" charset="0"/>
                        </a:rPr>
                        <m:t>=</m:t>
                      </m:r>
                      <m:r>
                        <a:rPr lang="it-IT" sz="1600" b="1" i="1" dirty="0">
                          <a:solidFill>
                            <a:schemeClr val="tx2">
                              <a:lumMod val="90000"/>
                              <a:lumOff val="10000"/>
                            </a:schemeClr>
                          </a:solidFill>
                          <a:effectLst/>
                          <a:latin typeface="Cambria Math" panose="02040503050406030204" pitchFamily="18" charset="0"/>
                        </a:rPr>
                        <m:t>𝑩</m:t>
                      </m:r>
                      <m:d>
                        <m:dPr>
                          <m:ctrlPr>
                            <a:rPr lang="it-IT" sz="1600" b="1" i="1" dirty="0">
                              <a:solidFill>
                                <a:schemeClr val="tx2">
                                  <a:lumMod val="90000"/>
                                  <a:lumOff val="10000"/>
                                </a:schemeClr>
                              </a:solidFill>
                              <a:effectLst/>
                              <a:latin typeface="Cambria Math" panose="02040503050406030204" pitchFamily="18" charset="0"/>
                            </a:rPr>
                          </m:ctrlPr>
                        </m:dPr>
                        <m:e>
                          <m:r>
                            <a:rPr lang="it-IT" sz="1600" b="1" i="1" dirty="0">
                              <a:solidFill>
                                <a:schemeClr val="tx2">
                                  <a:lumMod val="90000"/>
                                  <a:lumOff val="10000"/>
                                </a:schemeClr>
                              </a:solidFill>
                              <a:effectLst/>
                              <a:latin typeface="Cambria Math" panose="02040503050406030204" pitchFamily="18" charset="0"/>
                            </a:rPr>
                            <m:t>𝒒</m:t>
                          </m:r>
                        </m:e>
                      </m:d>
                      <m:acc>
                        <m:accPr>
                          <m:chr m:val="̈"/>
                          <m:ctrlPr>
                            <a:rPr lang="it-IT" sz="1600" b="1" i="1" dirty="0">
                              <a:solidFill>
                                <a:schemeClr val="tx2">
                                  <a:lumMod val="90000"/>
                                  <a:lumOff val="10000"/>
                                </a:schemeClr>
                              </a:solidFill>
                              <a:effectLst/>
                              <a:latin typeface="Cambria Math" panose="02040503050406030204" pitchFamily="18" charset="0"/>
                            </a:rPr>
                          </m:ctrlPr>
                        </m:accPr>
                        <m:e>
                          <m:r>
                            <a:rPr lang="it-IT" sz="1600" b="1" i="1" dirty="0">
                              <a:solidFill>
                                <a:schemeClr val="tx2">
                                  <a:lumMod val="90000"/>
                                  <a:lumOff val="10000"/>
                                </a:schemeClr>
                              </a:solidFill>
                              <a:effectLst/>
                              <a:latin typeface="Cambria Math" panose="02040503050406030204" pitchFamily="18" charset="0"/>
                            </a:rPr>
                            <m:t>𝜽</m:t>
                          </m:r>
                        </m:e>
                      </m:acc>
                      <m:r>
                        <a:rPr lang="it-IT" sz="1600" b="1" i="1" dirty="0">
                          <a:solidFill>
                            <a:schemeClr val="tx2">
                              <a:lumMod val="90000"/>
                              <a:lumOff val="10000"/>
                            </a:schemeClr>
                          </a:solidFill>
                          <a:effectLst/>
                          <a:latin typeface="Cambria Math" panose="02040503050406030204" pitchFamily="18" charset="0"/>
                        </a:rPr>
                        <m:t>+</m:t>
                      </m:r>
                      <m:acc>
                        <m:accPr>
                          <m:chr m:val="̇"/>
                          <m:ctrlPr>
                            <a:rPr lang="it-IT" sz="1600" b="1" i="1" dirty="0">
                              <a:solidFill>
                                <a:schemeClr val="tx2">
                                  <a:lumMod val="90000"/>
                                  <a:lumOff val="10000"/>
                                </a:schemeClr>
                              </a:solidFill>
                              <a:effectLst/>
                              <a:latin typeface="Cambria Math" panose="02040503050406030204" pitchFamily="18" charset="0"/>
                            </a:rPr>
                          </m:ctrlPr>
                        </m:accPr>
                        <m:e>
                          <m:r>
                            <a:rPr lang="it-IT" sz="1600" b="1" i="1" dirty="0">
                              <a:solidFill>
                                <a:schemeClr val="tx2">
                                  <a:lumMod val="90000"/>
                                  <a:lumOff val="10000"/>
                                </a:schemeClr>
                              </a:solidFill>
                              <a:effectLst/>
                              <a:latin typeface="Cambria Math" panose="02040503050406030204" pitchFamily="18" charset="0"/>
                            </a:rPr>
                            <m:t>𝑩</m:t>
                          </m:r>
                        </m:e>
                      </m:acc>
                      <m:d>
                        <m:dPr>
                          <m:ctrlPr>
                            <a:rPr lang="it-IT" sz="1600" b="1" i="1" dirty="0">
                              <a:solidFill>
                                <a:schemeClr val="tx2">
                                  <a:lumMod val="90000"/>
                                  <a:lumOff val="10000"/>
                                </a:schemeClr>
                              </a:solidFill>
                              <a:effectLst/>
                              <a:latin typeface="Cambria Math" panose="02040503050406030204" pitchFamily="18" charset="0"/>
                            </a:rPr>
                          </m:ctrlPr>
                        </m:dPr>
                        <m:e>
                          <m:r>
                            <a:rPr lang="it-IT" sz="1600" b="1" i="1" dirty="0">
                              <a:solidFill>
                                <a:schemeClr val="tx2">
                                  <a:lumMod val="90000"/>
                                  <a:lumOff val="10000"/>
                                </a:schemeClr>
                              </a:solidFill>
                              <a:effectLst/>
                              <a:latin typeface="Cambria Math" panose="02040503050406030204" pitchFamily="18" charset="0"/>
                            </a:rPr>
                            <m:t>𝒒</m:t>
                          </m:r>
                        </m:e>
                      </m:d>
                      <m:acc>
                        <m:accPr>
                          <m:chr m:val="̇"/>
                          <m:ctrlPr>
                            <a:rPr lang="it-IT" sz="1600" b="1" i="1" dirty="0">
                              <a:solidFill>
                                <a:schemeClr val="tx2">
                                  <a:lumMod val="90000"/>
                                  <a:lumOff val="10000"/>
                                </a:schemeClr>
                              </a:solidFill>
                              <a:effectLst/>
                              <a:latin typeface="Cambria Math" panose="02040503050406030204" pitchFamily="18" charset="0"/>
                            </a:rPr>
                          </m:ctrlPr>
                        </m:accPr>
                        <m:e>
                          <m:r>
                            <a:rPr lang="it-IT" sz="1600" b="1" i="1" dirty="0">
                              <a:solidFill>
                                <a:schemeClr val="tx2">
                                  <a:lumMod val="90000"/>
                                  <a:lumOff val="10000"/>
                                </a:schemeClr>
                              </a:solidFill>
                              <a:effectLst/>
                              <a:latin typeface="Cambria Math" panose="02040503050406030204" pitchFamily="18" charset="0"/>
                            </a:rPr>
                            <m:t>𝜽</m:t>
                          </m:r>
                        </m:e>
                      </m:acc>
                    </m:oMath>
                  </m:oMathPara>
                </a14:m>
                <a:endParaRPr/>
              </a:p>
            </p:txBody>
          </p:sp>
        </mc:Choice>
        <mc:Fallback xmlns="">
          <p:sp>
            <p:nvSpPr>
              <p:cNvPr id="19" name="TextBox 18">
                <a:extLst>
                  <a:ext uri="{FF2B5EF4-FFF2-40B4-BE49-F238E27FC236}">
                    <a16:creationId xmlns:a16="http://schemas.microsoft.com/office/drawing/2014/main" id="{E3B74657-F770-78B3-500A-BD7323DA7131}"/>
                  </a:ext>
                </a:extLst>
              </p:cNvPr>
              <p:cNvSpPr txBox="1">
                <a:spLocks noRot="1" noChangeAspect="1" noMove="1" noResize="1" noEditPoints="1" noAdjustHandles="1" noChangeArrowheads="1" noChangeShapeType="1" noTextEdit="1"/>
              </p:cNvSpPr>
              <p:nvPr/>
            </p:nvSpPr>
            <p:spPr>
              <a:xfrm>
                <a:off x="1007455" y="3715900"/>
                <a:ext cx="3588021" cy="368627"/>
              </a:xfrm>
              <a:prstGeom prst="rect">
                <a:avLst/>
              </a:prstGeom>
              <a:blipFill>
                <a:blip r:embed="rId11"/>
                <a:stretch>
                  <a:fillRect b="-20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27FF420-5BD1-663E-3A85-909BA08AFAC2}"/>
                  </a:ext>
                </a:extLst>
              </p:cNvPr>
              <p:cNvSpPr txBox="1"/>
              <p:nvPr/>
            </p:nvSpPr>
            <p:spPr>
              <a:xfrm>
                <a:off x="558481" y="4145545"/>
                <a:ext cx="4795921" cy="474874"/>
              </a:xfrm>
              <a:prstGeom prst="rect">
                <a:avLst/>
              </a:prstGeom>
              <a:noFill/>
            </p:spPr>
            <p:txBody>
              <a:bodyPr wrap="square">
                <a:spAutoFit/>
              </a:bodyPr>
              <a:lstStyle/>
              <a:p>
                <a14:m>
                  <m:oMath xmlns:m="http://schemas.openxmlformats.org/officeDocument/2006/math">
                    <m: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t>𝑩</m:t>
                    </m:r>
                    <m: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t>(</m:t>
                    </m:r>
                    <m: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t>𝒒</m:t>
                    </m:r>
                    <m: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t>) </m:t>
                    </m:r>
                  </m:oMath>
                </a14:m>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is computed numerically by fixing </a:t>
                </a:r>
                <a14:m>
                  <m:oMath xmlns:m="http://schemas.openxmlformats.org/officeDocument/2006/math">
                    <m:sSub>
                      <m:sSubPr>
                        <m:ctrlP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ctrlPr>
                      </m:sSubPr>
                      <m:e>
                        <m: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t>𝑩</m:t>
                        </m:r>
                      </m:e>
                      <m:sub>
                        <m: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t>𝜽</m:t>
                        </m:r>
                      </m:sub>
                    </m:sSub>
                    <m: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t>=</m:t>
                    </m:r>
                    <m: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t>𝟏</m:t>
                    </m:r>
                  </m:oMath>
                </a14:m>
                <a:r>
                  <a:rPr lang="en-US" sz="1200" b="1" i="0" dirty="0">
                    <a:solidFill>
                      <a:schemeClr val="accent1">
                        <a:lumMod val="50000"/>
                      </a:schemeClr>
                    </a:solidFill>
                    <a:effectLst/>
                    <a:latin typeface="Poppins" panose="00000500000000000000" pitchFamily="2" charset="0"/>
                    <a:cs typeface="Poppins" panose="00000500000000000000" pitchFamily="2" charset="0"/>
                  </a:rPr>
                  <a:t> </a:t>
                </a:r>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and solving </a:t>
                </a:r>
                <a14:m>
                  <m:oMath xmlns:m="http://schemas.openxmlformats.org/officeDocument/2006/math">
                    <m:sSub>
                      <m:sSubPr>
                        <m:ctrlP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ctrlPr>
                      </m:sSubPr>
                      <m:e>
                        <m: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t>𝑨</m:t>
                        </m:r>
                      </m:e>
                      <m:sub>
                        <m:r>
                          <a:rPr lang="en-US" sz="1200" b="1" i="1" dirty="0" smtClean="0">
                            <a:solidFill>
                              <a:schemeClr val="accent1">
                                <a:lumMod val="50000"/>
                              </a:schemeClr>
                            </a:solidFill>
                            <a:effectLst/>
                            <a:latin typeface="Cambria Math" panose="02040503050406030204" pitchFamily="18" charset="0"/>
                            <a:cs typeface="Poppins" panose="00000500000000000000" pitchFamily="2" charset="0"/>
                          </a:rPr>
                          <m:t>𝒓𝒆𝒅</m:t>
                        </m:r>
                      </m:sub>
                    </m:sSub>
                    <m:sSub>
                      <m:sSubPr>
                        <m:ctrlPr>
                          <a:rPr lang="it-IT" sz="1200" b="1" i="1" dirty="0" smtClean="0">
                            <a:solidFill>
                              <a:schemeClr val="accent1">
                                <a:lumMod val="50000"/>
                              </a:schemeClr>
                            </a:solidFill>
                            <a:effectLst/>
                            <a:latin typeface="Cambria Math" panose="02040503050406030204" pitchFamily="18" charset="0"/>
                            <a:cs typeface="Poppins" panose="00000500000000000000" pitchFamily="2" charset="0"/>
                          </a:rPr>
                        </m:ctrlPr>
                      </m:sSubPr>
                      <m:e>
                        <m:r>
                          <a:rPr lang="it-IT" sz="1200" b="1" i="1" dirty="0" smtClean="0">
                            <a:solidFill>
                              <a:schemeClr val="accent1">
                                <a:lumMod val="50000"/>
                              </a:schemeClr>
                            </a:solidFill>
                            <a:effectLst/>
                            <a:latin typeface="Cambria Math" panose="02040503050406030204" pitchFamily="18" charset="0"/>
                            <a:cs typeface="Poppins" panose="00000500000000000000" pitchFamily="2" charset="0"/>
                          </a:rPr>
                          <m:t>𝒙</m:t>
                        </m:r>
                      </m:e>
                      <m:sub>
                        <m:r>
                          <a:rPr lang="it-IT" sz="1200" b="1" i="1" dirty="0" smtClean="0">
                            <a:solidFill>
                              <a:schemeClr val="accent1">
                                <a:lumMod val="50000"/>
                              </a:schemeClr>
                            </a:solidFill>
                            <a:effectLst/>
                            <a:latin typeface="Cambria Math" panose="02040503050406030204" pitchFamily="18" charset="0"/>
                            <a:cs typeface="Poppins" panose="00000500000000000000" pitchFamily="2" charset="0"/>
                          </a:rPr>
                          <m:t>𝒓𝒆𝒅</m:t>
                        </m:r>
                      </m:sub>
                    </m:sSub>
                    <m:r>
                      <a:rPr lang="en-US" sz="1200" b="1" i="1" dirty="0">
                        <a:solidFill>
                          <a:schemeClr val="accent1">
                            <a:lumMod val="50000"/>
                          </a:schemeClr>
                        </a:solidFill>
                        <a:effectLst/>
                        <a:latin typeface="Cambria Math" panose="02040503050406030204" pitchFamily="18" charset="0"/>
                        <a:cs typeface="Poppins" panose="00000500000000000000" pitchFamily="2" charset="0"/>
                      </a:rPr>
                      <m:t>=−</m:t>
                    </m:r>
                    <m:r>
                      <a:rPr lang="en-US" sz="1200" b="1" i="1" dirty="0">
                        <a:solidFill>
                          <a:schemeClr val="accent1">
                            <a:lumMod val="50000"/>
                          </a:schemeClr>
                        </a:solidFill>
                        <a:effectLst/>
                        <a:latin typeface="Cambria Math" panose="02040503050406030204" pitchFamily="18" charset="0"/>
                        <a:cs typeface="Poppins" panose="00000500000000000000" pitchFamily="2" charset="0"/>
                      </a:rPr>
                      <m:t>𝑨</m:t>
                    </m:r>
                    <m:r>
                      <a:rPr lang="it-IT" sz="1200" b="1" i="1" dirty="0" smtClean="0">
                        <a:solidFill>
                          <a:schemeClr val="accent1">
                            <a:lumMod val="50000"/>
                          </a:schemeClr>
                        </a:solidFill>
                        <a:effectLst/>
                        <a:latin typeface="Cambria Math" panose="02040503050406030204" pitchFamily="18" charset="0"/>
                        <a:cs typeface="Poppins" panose="00000500000000000000" pitchFamily="2" charset="0"/>
                      </a:rPr>
                      <m:t> </m:t>
                    </m:r>
                    <m:sSub>
                      <m:sSubPr>
                        <m:ctrlPr>
                          <a:rPr lang="en-US" sz="1200" b="1" i="1" dirty="0">
                            <a:solidFill>
                              <a:schemeClr val="accent1">
                                <a:lumMod val="50000"/>
                              </a:schemeClr>
                            </a:solidFill>
                            <a:effectLst/>
                            <a:latin typeface="Cambria Math" panose="02040503050406030204" pitchFamily="18" charset="0"/>
                            <a:cs typeface="Poppins" panose="00000500000000000000" pitchFamily="2" charset="0"/>
                          </a:rPr>
                        </m:ctrlPr>
                      </m:sSubPr>
                      <m:e>
                        <m:r>
                          <a:rPr lang="en-US" sz="1200" b="1" i="1" dirty="0">
                            <a:solidFill>
                              <a:schemeClr val="accent1">
                                <a:lumMod val="50000"/>
                              </a:schemeClr>
                            </a:solidFill>
                            <a:effectLst/>
                            <a:latin typeface="Cambria Math" panose="02040503050406030204" pitchFamily="18" charset="0"/>
                            <a:cs typeface="Poppins" panose="00000500000000000000" pitchFamily="2" charset="0"/>
                          </a:rPr>
                          <m:t>𝒆</m:t>
                        </m:r>
                      </m:e>
                      <m:sub>
                        <m:r>
                          <a:rPr lang="en-US" sz="1200" b="1" i="1" dirty="0">
                            <a:solidFill>
                              <a:schemeClr val="accent1">
                                <a:lumMod val="50000"/>
                              </a:schemeClr>
                            </a:solidFill>
                            <a:effectLst/>
                            <a:latin typeface="Cambria Math" panose="02040503050406030204" pitchFamily="18" charset="0"/>
                            <a:cs typeface="Poppins" panose="00000500000000000000" pitchFamily="2" charset="0"/>
                          </a:rPr>
                          <m:t>𝜽</m:t>
                        </m:r>
                      </m:sub>
                    </m:sSub>
                  </m:oMath>
                </a14:m>
                <a:r>
                  <a:rPr lang="en-US" sz="1200" b="1" i="0" dirty="0">
                    <a:solidFill>
                      <a:schemeClr val="accent1">
                        <a:lumMod val="50000"/>
                      </a:schemeClr>
                    </a:solidFill>
                    <a:effectLst/>
                    <a:latin typeface="Poppins" panose="00000500000000000000" pitchFamily="2" charset="0"/>
                    <a:cs typeface="Poppins" panose="00000500000000000000" pitchFamily="2" charset="0"/>
                  </a:rPr>
                  <a:t> </a:t>
                </a:r>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in the least-squares sense.</a:t>
                </a:r>
                <a:endParaRPr lang="it-IT" sz="1200" dirty="0">
                  <a:solidFill>
                    <a:schemeClr val="tx2">
                      <a:lumMod val="90000"/>
                      <a:lumOff val="10000"/>
                    </a:schemeClr>
                  </a:solidFill>
                  <a:latin typeface="Poppins" panose="00000500000000000000" pitchFamily="2" charset="0"/>
                  <a:cs typeface="Poppins" panose="00000500000000000000" pitchFamily="2" charset="0"/>
                </a:endParaRPr>
              </a:p>
            </p:txBody>
          </p:sp>
        </mc:Choice>
        <mc:Fallback xmlns="">
          <p:sp>
            <p:nvSpPr>
              <p:cNvPr id="23" name="TextBox 22">
                <a:extLst>
                  <a:ext uri="{FF2B5EF4-FFF2-40B4-BE49-F238E27FC236}">
                    <a16:creationId xmlns:a16="http://schemas.microsoft.com/office/drawing/2014/main" id="{C27FF420-5BD1-663E-3A85-909BA08AFAC2}"/>
                  </a:ext>
                </a:extLst>
              </p:cNvPr>
              <p:cNvSpPr txBox="1">
                <a:spLocks noRot="1" noChangeAspect="1" noMove="1" noResize="1" noEditPoints="1" noAdjustHandles="1" noChangeArrowheads="1" noChangeShapeType="1" noTextEdit="1"/>
              </p:cNvSpPr>
              <p:nvPr/>
            </p:nvSpPr>
            <p:spPr>
              <a:xfrm>
                <a:off x="558481" y="4145545"/>
                <a:ext cx="4795921" cy="474874"/>
              </a:xfrm>
              <a:prstGeom prst="rect">
                <a:avLst/>
              </a:prstGeom>
              <a:blipFill>
                <a:blip r:embed="rId12"/>
                <a:stretch>
                  <a:fillRect b="-6410"/>
                </a:stretch>
              </a:blipFill>
            </p:spPr>
            <p:txBody>
              <a:bodyPr/>
              <a:lstStyle/>
              <a:p>
                <a:r>
                  <a:rPr lang="it-IT">
                    <a:noFill/>
                  </a:rPr>
                  <a:t> </a:t>
                </a:r>
              </a:p>
            </p:txBody>
          </p:sp>
        </mc:Fallback>
      </mc:AlternateContent>
      <p:sp>
        <p:nvSpPr>
          <p:cNvPr id="25" name="TextBox 24">
            <a:extLst>
              <a:ext uri="{FF2B5EF4-FFF2-40B4-BE49-F238E27FC236}">
                <a16:creationId xmlns:a16="http://schemas.microsoft.com/office/drawing/2014/main" id="{C112224E-56A4-B87A-93E0-C96D49AEB959}"/>
              </a:ext>
            </a:extLst>
          </p:cNvPr>
          <p:cNvSpPr txBox="1"/>
          <p:nvPr/>
        </p:nvSpPr>
        <p:spPr>
          <a:xfrm>
            <a:off x="558481" y="4975115"/>
            <a:ext cx="4849921" cy="707886"/>
          </a:xfrm>
          <a:prstGeom prst="rect">
            <a:avLst/>
          </a:prstGeom>
          <a:noFill/>
        </p:spPr>
        <p:txBody>
          <a:bodyPr wrap="square">
            <a:spAutoFit/>
          </a:bodyPr>
          <a:lstStyle/>
          <a:p>
            <a:r>
              <a:rPr lang="it-IT" sz="1400" b="1" dirty="0">
                <a:solidFill>
                  <a:srgbClr val="0B3041"/>
                </a:solidFill>
                <a:latin typeface="Poppins" panose="00000500000000000000" pitchFamily="2" charset="0"/>
                <a:cs typeface="Poppins" panose="00000500000000000000" pitchFamily="2" charset="0"/>
              </a:rPr>
              <a:t>Step 2 — Projection (eliminate constraint forces)</a:t>
            </a:r>
          </a:p>
          <a:p>
            <a:endParaRPr lang="en-US" sz="1400" dirty="0">
              <a:solidFill>
                <a:schemeClr val="accent1">
                  <a:lumMod val="50000"/>
                </a:schemeClr>
              </a:solidFill>
              <a:latin typeface="Poppins" panose="00000500000000000000" pitchFamily="2" charset="0"/>
              <a:cs typeface="Poppins" panose="00000500000000000000" pitchFamily="2" charset="0"/>
            </a:endParaRPr>
          </a:p>
          <a:p>
            <a:r>
              <a:rPr lang="en-US" sz="1200" dirty="0">
                <a:solidFill>
                  <a:schemeClr val="tx2">
                    <a:lumMod val="90000"/>
                    <a:lumOff val="10000"/>
                  </a:schemeClr>
                </a:solidFill>
                <a:latin typeface="Poppins" panose="00000500000000000000" pitchFamily="2" charset="0"/>
                <a:cs typeface="Poppins" panose="00000500000000000000" pitchFamily="2" charset="0"/>
              </a:rPr>
              <a:t>Starting from the full constrained dynamics: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9F8BA30-28F4-7B04-56B5-5C115045B1F3}"/>
                  </a:ext>
                </a:extLst>
              </p:cNvPr>
              <p:cNvSpPr txBox="1"/>
              <p:nvPr/>
            </p:nvSpPr>
            <p:spPr>
              <a:xfrm>
                <a:off x="1389316" y="5708076"/>
                <a:ext cx="2988436" cy="34297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sz="1600" b="1" i="1" dirty="0" smtClean="0">
                          <a:solidFill>
                            <a:schemeClr val="tx2">
                              <a:lumMod val="90000"/>
                              <a:lumOff val="10000"/>
                            </a:schemeClr>
                          </a:solidFill>
                          <a:effectLst/>
                          <a:latin typeface="Cambria Math" panose="02040503050406030204" pitchFamily="18" charset="0"/>
                        </a:rPr>
                        <m:t>𝑴</m:t>
                      </m:r>
                      <m:d>
                        <m:dPr>
                          <m:ctrlPr>
                            <a:rPr lang="it-IT" sz="1600" b="1" i="1" dirty="0" smtClean="0">
                              <a:solidFill>
                                <a:schemeClr val="tx2">
                                  <a:lumMod val="90000"/>
                                  <a:lumOff val="10000"/>
                                </a:schemeClr>
                              </a:solidFill>
                              <a:effectLst/>
                              <a:latin typeface="Cambria Math" panose="02040503050406030204" pitchFamily="18" charset="0"/>
                            </a:rPr>
                          </m:ctrlPr>
                        </m:dPr>
                        <m:e>
                          <m:r>
                            <a:rPr lang="it-IT" sz="1600" b="1" i="1" dirty="0" smtClean="0">
                              <a:solidFill>
                                <a:schemeClr val="tx2">
                                  <a:lumMod val="90000"/>
                                  <a:lumOff val="10000"/>
                                </a:schemeClr>
                              </a:solidFill>
                              <a:effectLst/>
                              <a:latin typeface="Cambria Math" panose="02040503050406030204" pitchFamily="18" charset="0"/>
                            </a:rPr>
                            <m:t>𝒒</m:t>
                          </m:r>
                        </m:e>
                      </m:d>
                      <m:acc>
                        <m:accPr>
                          <m:chr m:val="̈"/>
                          <m:ctrlPr>
                            <a:rPr lang="it-IT" sz="1600" b="1" i="1" dirty="0" smtClean="0">
                              <a:solidFill>
                                <a:schemeClr val="tx2">
                                  <a:lumMod val="90000"/>
                                  <a:lumOff val="10000"/>
                                </a:schemeClr>
                              </a:solidFill>
                              <a:effectLst/>
                              <a:latin typeface="Cambria Math" panose="02040503050406030204" pitchFamily="18" charset="0"/>
                            </a:rPr>
                          </m:ctrlPr>
                        </m:accPr>
                        <m:e>
                          <m:r>
                            <a:rPr lang="it-IT" sz="1600" b="1" i="1" dirty="0" smtClean="0">
                              <a:solidFill>
                                <a:schemeClr val="tx2">
                                  <a:lumMod val="90000"/>
                                  <a:lumOff val="10000"/>
                                </a:schemeClr>
                              </a:solidFill>
                              <a:effectLst/>
                              <a:latin typeface="Cambria Math" panose="02040503050406030204" pitchFamily="18" charset="0"/>
                            </a:rPr>
                            <m:t>𝒒</m:t>
                          </m:r>
                        </m:e>
                      </m:acc>
                      <m:r>
                        <a:rPr lang="it-IT" sz="1600" b="1" i="1" dirty="0" smtClean="0">
                          <a:solidFill>
                            <a:schemeClr val="tx2">
                              <a:lumMod val="90000"/>
                              <a:lumOff val="10000"/>
                            </a:schemeClr>
                          </a:solidFill>
                          <a:effectLst/>
                          <a:latin typeface="Cambria Math" panose="02040503050406030204" pitchFamily="18" charset="0"/>
                        </a:rPr>
                        <m:t>+</m:t>
                      </m:r>
                      <m:r>
                        <a:rPr lang="it-IT" sz="1600" b="1" i="1" dirty="0" smtClean="0">
                          <a:solidFill>
                            <a:schemeClr val="tx2">
                              <a:lumMod val="90000"/>
                              <a:lumOff val="10000"/>
                            </a:schemeClr>
                          </a:solidFill>
                          <a:effectLst/>
                          <a:latin typeface="Cambria Math" panose="02040503050406030204" pitchFamily="18" charset="0"/>
                        </a:rPr>
                        <m:t>𝒉</m:t>
                      </m:r>
                      <m:d>
                        <m:dPr>
                          <m:ctrlPr>
                            <a:rPr lang="it-IT" sz="1600" b="1" i="1" dirty="0" smtClean="0">
                              <a:solidFill>
                                <a:schemeClr val="tx2">
                                  <a:lumMod val="90000"/>
                                  <a:lumOff val="10000"/>
                                </a:schemeClr>
                              </a:solidFill>
                              <a:effectLst/>
                              <a:latin typeface="Cambria Math" panose="02040503050406030204" pitchFamily="18" charset="0"/>
                            </a:rPr>
                          </m:ctrlPr>
                        </m:dPr>
                        <m:e>
                          <m:r>
                            <a:rPr lang="it-IT" sz="1600" b="1" i="1" dirty="0" smtClean="0">
                              <a:solidFill>
                                <a:schemeClr val="tx2">
                                  <a:lumMod val="90000"/>
                                  <a:lumOff val="10000"/>
                                </a:schemeClr>
                              </a:solidFill>
                              <a:effectLst/>
                              <a:latin typeface="Cambria Math" panose="02040503050406030204" pitchFamily="18" charset="0"/>
                            </a:rPr>
                            <m:t>𝒒</m:t>
                          </m:r>
                          <m:r>
                            <a:rPr lang="it-IT" sz="1600" b="1" i="1" dirty="0" smtClean="0">
                              <a:solidFill>
                                <a:schemeClr val="tx2">
                                  <a:lumMod val="90000"/>
                                  <a:lumOff val="10000"/>
                                </a:schemeClr>
                              </a:solidFill>
                              <a:effectLst/>
                              <a:latin typeface="Cambria Math" panose="02040503050406030204" pitchFamily="18" charset="0"/>
                            </a:rPr>
                            <m:t>,</m:t>
                          </m:r>
                          <m:acc>
                            <m:accPr>
                              <m:chr m:val="̇"/>
                              <m:ctrlPr>
                                <a:rPr lang="it-IT" sz="1600" b="1" i="1" dirty="0" smtClean="0">
                                  <a:solidFill>
                                    <a:schemeClr val="tx2">
                                      <a:lumMod val="90000"/>
                                      <a:lumOff val="10000"/>
                                    </a:schemeClr>
                                  </a:solidFill>
                                  <a:effectLst/>
                                  <a:latin typeface="Cambria Math" panose="02040503050406030204" pitchFamily="18" charset="0"/>
                                </a:rPr>
                              </m:ctrlPr>
                            </m:accPr>
                            <m:e>
                              <m:r>
                                <a:rPr lang="it-IT" sz="1600" b="1" i="1" dirty="0" smtClean="0">
                                  <a:solidFill>
                                    <a:schemeClr val="tx2">
                                      <a:lumMod val="90000"/>
                                      <a:lumOff val="10000"/>
                                    </a:schemeClr>
                                  </a:solidFill>
                                  <a:effectLst/>
                                  <a:latin typeface="Cambria Math" panose="02040503050406030204" pitchFamily="18" charset="0"/>
                                </a:rPr>
                                <m:t>𝒒</m:t>
                              </m:r>
                            </m:e>
                          </m:acc>
                        </m:e>
                      </m:d>
                      <m:r>
                        <a:rPr lang="it-IT" sz="1600" b="1" i="1" dirty="0" smtClean="0">
                          <a:solidFill>
                            <a:schemeClr val="tx2">
                              <a:lumMod val="90000"/>
                              <a:lumOff val="10000"/>
                            </a:schemeClr>
                          </a:solidFill>
                          <a:effectLst/>
                          <a:latin typeface="Cambria Math" panose="02040503050406030204" pitchFamily="18" charset="0"/>
                        </a:rPr>
                        <m:t>=</m:t>
                      </m:r>
                      <m:r>
                        <a:rPr lang="it-IT" sz="1600" b="1" i="1" dirty="0" smtClean="0">
                          <a:solidFill>
                            <a:schemeClr val="tx2">
                              <a:lumMod val="90000"/>
                              <a:lumOff val="10000"/>
                            </a:schemeClr>
                          </a:solidFill>
                          <a:effectLst/>
                          <a:latin typeface="Cambria Math" panose="02040503050406030204" pitchFamily="18" charset="0"/>
                        </a:rPr>
                        <m:t>𝝉</m:t>
                      </m:r>
                      <m:r>
                        <a:rPr lang="it-IT" sz="1600" b="1" i="1" dirty="0" smtClean="0">
                          <a:solidFill>
                            <a:schemeClr val="tx2">
                              <a:lumMod val="90000"/>
                              <a:lumOff val="10000"/>
                            </a:schemeClr>
                          </a:solidFill>
                          <a:effectLst/>
                          <a:latin typeface="Cambria Math" panose="02040503050406030204" pitchFamily="18" charset="0"/>
                        </a:rPr>
                        <m:t>+</m:t>
                      </m:r>
                      <m:sSup>
                        <m:sSupPr>
                          <m:ctrlPr>
                            <a:rPr lang="it-IT" sz="1600" b="1" i="1" dirty="0" smtClean="0">
                              <a:solidFill>
                                <a:schemeClr val="tx2">
                                  <a:lumMod val="90000"/>
                                  <a:lumOff val="10000"/>
                                </a:schemeClr>
                              </a:solidFill>
                              <a:effectLst/>
                              <a:latin typeface="Cambria Math" panose="02040503050406030204" pitchFamily="18" charset="0"/>
                            </a:rPr>
                          </m:ctrlPr>
                        </m:sSupPr>
                        <m:e>
                          <m:r>
                            <a:rPr lang="it-IT" sz="1600" b="1" i="1" dirty="0" smtClean="0">
                              <a:solidFill>
                                <a:schemeClr val="tx2">
                                  <a:lumMod val="90000"/>
                                  <a:lumOff val="10000"/>
                                </a:schemeClr>
                              </a:solidFill>
                              <a:effectLst/>
                              <a:latin typeface="Cambria Math" panose="02040503050406030204" pitchFamily="18" charset="0"/>
                            </a:rPr>
                            <m:t>𝑱</m:t>
                          </m:r>
                        </m:e>
                        <m:sup>
                          <m:r>
                            <a:rPr lang="it-IT" sz="1600" b="1" i="1" dirty="0" smtClean="0">
                              <a:solidFill>
                                <a:schemeClr val="tx2">
                                  <a:lumMod val="90000"/>
                                  <a:lumOff val="10000"/>
                                </a:schemeClr>
                              </a:solidFill>
                              <a:effectLst/>
                              <a:latin typeface="Cambria Math" panose="02040503050406030204" pitchFamily="18" charset="0"/>
                            </a:rPr>
                            <m:t>𝑻</m:t>
                          </m:r>
                        </m:sup>
                      </m:sSup>
                      <m:d>
                        <m:dPr>
                          <m:ctrlPr>
                            <a:rPr lang="it-IT" sz="1600" b="1" i="1" dirty="0" smtClean="0">
                              <a:solidFill>
                                <a:schemeClr val="tx2">
                                  <a:lumMod val="90000"/>
                                  <a:lumOff val="10000"/>
                                </a:schemeClr>
                              </a:solidFill>
                              <a:effectLst/>
                              <a:latin typeface="Cambria Math" panose="02040503050406030204" pitchFamily="18" charset="0"/>
                            </a:rPr>
                          </m:ctrlPr>
                        </m:dPr>
                        <m:e>
                          <m:r>
                            <a:rPr lang="it-IT" sz="1600" b="1" i="1" dirty="0" smtClean="0">
                              <a:solidFill>
                                <a:schemeClr val="tx2">
                                  <a:lumMod val="90000"/>
                                  <a:lumOff val="10000"/>
                                </a:schemeClr>
                              </a:solidFill>
                              <a:effectLst/>
                              <a:latin typeface="Cambria Math" panose="02040503050406030204" pitchFamily="18" charset="0"/>
                            </a:rPr>
                            <m:t>𝒒</m:t>
                          </m:r>
                        </m:e>
                      </m:d>
                      <m:r>
                        <a:rPr lang="it-IT" sz="1600" b="1" i="1" dirty="0" smtClean="0">
                          <a:solidFill>
                            <a:schemeClr val="tx2">
                              <a:lumMod val="90000"/>
                              <a:lumOff val="10000"/>
                            </a:schemeClr>
                          </a:solidFill>
                          <a:effectLst/>
                          <a:latin typeface="Cambria Math" panose="02040503050406030204" pitchFamily="18" charset="0"/>
                        </a:rPr>
                        <m:t>𝝀</m:t>
                      </m:r>
                    </m:oMath>
                  </m:oMathPara>
                </a14:m>
                <a:endParaRPr/>
              </a:p>
            </p:txBody>
          </p:sp>
        </mc:Choice>
        <mc:Fallback xmlns="">
          <p:sp>
            <p:nvSpPr>
              <p:cNvPr id="27" name="TextBox 26">
                <a:extLst>
                  <a:ext uri="{FF2B5EF4-FFF2-40B4-BE49-F238E27FC236}">
                    <a16:creationId xmlns:a16="http://schemas.microsoft.com/office/drawing/2014/main" id="{69F8BA30-28F4-7B04-56B5-5C115045B1F3}"/>
                  </a:ext>
                </a:extLst>
              </p:cNvPr>
              <p:cNvSpPr txBox="1">
                <a:spLocks noRot="1" noChangeAspect="1" noMove="1" noResize="1" noEditPoints="1" noAdjustHandles="1" noChangeArrowheads="1" noChangeShapeType="1" noTextEdit="1"/>
              </p:cNvSpPr>
              <p:nvPr/>
            </p:nvSpPr>
            <p:spPr>
              <a:xfrm>
                <a:off x="1389316" y="5708076"/>
                <a:ext cx="2988436" cy="342979"/>
              </a:xfrm>
              <a:prstGeom prst="rect">
                <a:avLst/>
              </a:prstGeom>
              <a:blipFill>
                <a:blip r:embed="rId13"/>
                <a:stretch>
                  <a:fillRect t="-5263" r="-204" b="-19298"/>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8E42CBD-24F8-76DB-DD43-12EFAE038949}"/>
                  </a:ext>
                </a:extLst>
              </p:cNvPr>
              <p:cNvSpPr txBox="1"/>
              <p:nvPr/>
            </p:nvSpPr>
            <p:spPr>
              <a:xfrm>
                <a:off x="6234453" y="2453236"/>
                <a:ext cx="5399057" cy="276999"/>
              </a:xfrm>
              <a:prstGeom prst="rect">
                <a:avLst/>
              </a:prstGeom>
              <a:noFill/>
            </p:spPr>
            <p:txBody>
              <a:bodyPr wrap="square">
                <a:spAutoFit/>
              </a:bodyPr>
              <a:lstStyle/>
              <a:p>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Pre-multiplying by </a:t>
                </a:r>
                <a14:m>
                  <m:oMath xmlns:m="http://schemas.openxmlformats.org/officeDocument/2006/math">
                    <m:sSup>
                      <m:sSupPr>
                        <m:ctrlP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ctrlPr>
                      </m:sSupPr>
                      <m:e>
                        <m: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t>𝐵</m:t>
                        </m:r>
                      </m:e>
                      <m:sup>
                        <m: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t>𝑇</m:t>
                        </m:r>
                      </m:sup>
                    </m:sSup>
                  </m:oMath>
                </a14:m>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 eliminates λ (since </a:t>
                </a:r>
                <a14:m>
                  <m:oMath xmlns:m="http://schemas.openxmlformats.org/officeDocument/2006/math">
                    <m:sSup>
                      <m:sSupPr>
                        <m:ctrlP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ctrlPr>
                      </m:sSupPr>
                      <m:e>
                        <m: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t>𝐵</m:t>
                        </m:r>
                      </m:e>
                      <m:sup>
                        <m: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t>𝑇</m:t>
                        </m:r>
                      </m:sup>
                    </m:sSup>
                    <m:sSup>
                      <m:sSupPr>
                        <m:ctrlP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ctrlPr>
                      </m:sSupPr>
                      <m:e>
                        <m: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t>𝐽</m:t>
                        </m:r>
                      </m:e>
                      <m:sup>
                        <m: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t>𝑇</m:t>
                        </m:r>
                      </m:sup>
                    </m:sSup>
                    <m: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t>𝜆</m:t>
                    </m:r>
                    <m: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t>=</m:t>
                    </m:r>
                    <m:r>
                      <a:rPr lang="en-US" sz="1200" b="0" i="1" dirty="0" smtClean="0">
                        <a:solidFill>
                          <a:schemeClr val="tx2">
                            <a:lumMod val="90000"/>
                            <a:lumOff val="10000"/>
                          </a:schemeClr>
                        </a:solidFill>
                        <a:effectLst/>
                        <a:latin typeface="Cambria Math" panose="02040503050406030204" pitchFamily="18" charset="0"/>
                        <a:cs typeface="Poppins" panose="00000500000000000000" pitchFamily="2" charset="0"/>
                      </a:rPr>
                      <m:t>0</m:t>
                    </m:r>
                  </m:oMath>
                </a14:m>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 by construction):</a:t>
                </a:r>
                <a:endParaRPr lang="it-IT" sz="1200" dirty="0">
                  <a:solidFill>
                    <a:schemeClr val="tx2">
                      <a:lumMod val="90000"/>
                      <a:lumOff val="10000"/>
                    </a:schemeClr>
                  </a:solidFill>
                  <a:latin typeface="Poppins" panose="00000500000000000000" pitchFamily="2" charset="0"/>
                  <a:cs typeface="Poppins" panose="00000500000000000000" pitchFamily="2" charset="0"/>
                </a:endParaRPr>
              </a:p>
            </p:txBody>
          </p:sp>
        </mc:Choice>
        <mc:Fallback xmlns="">
          <p:sp>
            <p:nvSpPr>
              <p:cNvPr id="29" name="TextBox 28">
                <a:extLst>
                  <a:ext uri="{FF2B5EF4-FFF2-40B4-BE49-F238E27FC236}">
                    <a16:creationId xmlns:a16="http://schemas.microsoft.com/office/drawing/2014/main" id="{38E42CBD-24F8-76DB-DD43-12EFAE038949}"/>
                  </a:ext>
                </a:extLst>
              </p:cNvPr>
              <p:cNvSpPr txBox="1">
                <a:spLocks noRot="1" noChangeAspect="1" noMove="1" noResize="1" noEditPoints="1" noAdjustHandles="1" noChangeArrowheads="1" noChangeShapeType="1" noTextEdit="1"/>
              </p:cNvSpPr>
              <p:nvPr/>
            </p:nvSpPr>
            <p:spPr>
              <a:xfrm>
                <a:off x="6234453" y="2453236"/>
                <a:ext cx="5399057" cy="276999"/>
              </a:xfrm>
              <a:prstGeom prst="rect">
                <a:avLst/>
              </a:prstGeom>
              <a:blipFill>
                <a:blip r:embed="rId14"/>
                <a:stretch>
                  <a:fillRect l="-113" t="-2174" b="-1521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71A8A79-182A-D87F-BA18-3928A58D7FC9}"/>
                  </a:ext>
                </a:extLst>
              </p:cNvPr>
              <p:cNvSpPr txBox="1"/>
              <p:nvPr/>
            </p:nvSpPr>
            <p:spPr>
              <a:xfrm>
                <a:off x="7240775" y="2858174"/>
                <a:ext cx="3636208" cy="6419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limLow>
                        <m:limLowPr>
                          <m:ctrlPr>
                            <a:rPr lang="it-IT" sz="1600" b="1" i="1" dirty="0" smtClean="0">
                              <a:solidFill>
                                <a:schemeClr val="tx2">
                                  <a:lumMod val="90000"/>
                                  <a:lumOff val="10000"/>
                                </a:schemeClr>
                              </a:solidFill>
                              <a:effectLst/>
                              <a:latin typeface="Cambria Math" panose="02040503050406030204" pitchFamily="18" charset="0"/>
                            </a:rPr>
                          </m:ctrlPr>
                        </m:limLowPr>
                        <m:e>
                          <m:groupChr>
                            <m:groupChrPr>
                              <m:chr m:val="⏟"/>
                              <m:ctrlPr>
                                <a:rPr lang="it-IT" sz="1600" b="1" i="1" dirty="0" smtClean="0">
                                  <a:solidFill>
                                    <a:schemeClr val="tx2">
                                      <a:lumMod val="90000"/>
                                      <a:lumOff val="10000"/>
                                    </a:schemeClr>
                                  </a:solidFill>
                                  <a:effectLst/>
                                  <a:latin typeface="Cambria Math" panose="02040503050406030204" pitchFamily="18" charset="0"/>
                                </a:rPr>
                              </m:ctrlPr>
                            </m:groupChrPr>
                            <m:e>
                              <m:sSup>
                                <m:sSupPr>
                                  <m:ctrlPr>
                                    <a:rPr lang="it-IT" sz="1600" b="1" i="1" dirty="0" smtClean="0">
                                      <a:solidFill>
                                        <a:schemeClr val="tx2">
                                          <a:lumMod val="90000"/>
                                          <a:lumOff val="10000"/>
                                        </a:schemeClr>
                                      </a:solidFill>
                                      <a:effectLst/>
                                      <a:latin typeface="Cambria Math" panose="02040503050406030204" pitchFamily="18" charset="0"/>
                                    </a:rPr>
                                  </m:ctrlPr>
                                </m:sSupPr>
                                <m:e>
                                  <m:r>
                                    <a:rPr lang="it-IT" sz="1600" b="1" i="1" dirty="0" smtClean="0">
                                      <a:solidFill>
                                        <a:schemeClr val="tx2">
                                          <a:lumMod val="90000"/>
                                          <a:lumOff val="10000"/>
                                        </a:schemeClr>
                                      </a:solidFill>
                                      <a:effectLst/>
                                      <a:latin typeface="Cambria Math" panose="02040503050406030204" pitchFamily="18" charset="0"/>
                                    </a:rPr>
                                    <m:t>𝑩</m:t>
                                  </m:r>
                                </m:e>
                                <m:sup>
                                  <m:r>
                                    <a:rPr lang="it-IT" sz="1600" b="1" i="1" dirty="0" smtClean="0">
                                      <a:solidFill>
                                        <a:schemeClr val="tx2">
                                          <a:lumMod val="90000"/>
                                          <a:lumOff val="10000"/>
                                        </a:schemeClr>
                                      </a:solidFill>
                                      <a:effectLst/>
                                      <a:latin typeface="Cambria Math" panose="02040503050406030204" pitchFamily="18" charset="0"/>
                                    </a:rPr>
                                    <m:t>𝑻</m:t>
                                  </m:r>
                                </m:sup>
                              </m:sSup>
                              <m:r>
                                <a:rPr lang="it-IT" sz="1600" b="1" i="1" dirty="0" smtClean="0">
                                  <a:solidFill>
                                    <a:schemeClr val="tx2">
                                      <a:lumMod val="90000"/>
                                      <a:lumOff val="10000"/>
                                    </a:schemeClr>
                                  </a:solidFill>
                                  <a:effectLst/>
                                  <a:latin typeface="Cambria Math" panose="02040503050406030204" pitchFamily="18" charset="0"/>
                                </a:rPr>
                                <m:t>𝑴𝑩</m:t>
                              </m:r>
                            </m:e>
                          </m:groupChr>
                        </m:e>
                        <m:lim>
                          <m:sSub>
                            <m:sSubPr>
                              <m:ctrlPr>
                                <a:rPr lang="it-IT" sz="1600" b="1" i="1" dirty="0" smtClean="0">
                                  <a:solidFill>
                                    <a:schemeClr val="tx2">
                                      <a:lumMod val="90000"/>
                                      <a:lumOff val="10000"/>
                                    </a:schemeClr>
                                  </a:solidFill>
                                  <a:effectLst/>
                                  <a:latin typeface="Cambria Math" panose="02040503050406030204" pitchFamily="18" charset="0"/>
                                </a:rPr>
                              </m:ctrlPr>
                            </m:sSubPr>
                            <m:e>
                              <m:r>
                                <a:rPr lang="it-IT" sz="1600" b="1" i="1" dirty="0" smtClean="0">
                                  <a:solidFill>
                                    <a:schemeClr val="tx2">
                                      <a:lumMod val="90000"/>
                                      <a:lumOff val="10000"/>
                                    </a:schemeClr>
                                  </a:solidFill>
                                  <a:effectLst/>
                                  <a:latin typeface="Cambria Math" panose="02040503050406030204" pitchFamily="18" charset="0"/>
                                </a:rPr>
                                <m:t>𝑰</m:t>
                              </m:r>
                            </m:e>
                            <m:sub>
                              <m:r>
                                <a:rPr lang="it-IT" sz="1600" b="1" i="1" dirty="0" smtClean="0">
                                  <a:solidFill>
                                    <a:schemeClr val="tx2">
                                      <a:lumMod val="90000"/>
                                      <a:lumOff val="10000"/>
                                    </a:schemeClr>
                                  </a:solidFill>
                                  <a:effectLst/>
                                  <a:latin typeface="Cambria Math" panose="02040503050406030204" pitchFamily="18" charset="0"/>
                                </a:rPr>
                                <m:t>𝒆𝒇𝒇</m:t>
                              </m:r>
                            </m:sub>
                          </m:sSub>
                          <m:d>
                            <m:dPr>
                              <m:ctrlPr>
                                <a:rPr lang="it-IT" sz="1600" b="1" i="1" dirty="0" smtClean="0">
                                  <a:solidFill>
                                    <a:schemeClr val="tx2">
                                      <a:lumMod val="90000"/>
                                      <a:lumOff val="10000"/>
                                    </a:schemeClr>
                                  </a:solidFill>
                                  <a:effectLst/>
                                  <a:latin typeface="Cambria Math" panose="02040503050406030204" pitchFamily="18" charset="0"/>
                                </a:rPr>
                              </m:ctrlPr>
                            </m:dPr>
                            <m:e>
                              <m:r>
                                <a:rPr lang="it-IT" sz="1600" b="1" i="1" dirty="0" smtClean="0">
                                  <a:solidFill>
                                    <a:schemeClr val="tx2">
                                      <a:lumMod val="90000"/>
                                      <a:lumOff val="10000"/>
                                    </a:schemeClr>
                                  </a:solidFill>
                                  <a:effectLst/>
                                  <a:latin typeface="Cambria Math" panose="02040503050406030204" pitchFamily="18" charset="0"/>
                                </a:rPr>
                                <m:t>𝜽</m:t>
                              </m:r>
                            </m:e>
                          </m:d>
                        </m:lim>
                      </m:limLow>
                      <m:acc>
                        <m:accPr>
                          <m:chr m:val="̈"/>
                          <m:ctrlPr>
                            <a:rPr lang="it-IT" sz="1600" b="1" i="1" dirty="0">
                              <a:solidFill>
                                <a:schemeClr val="tx2">
                                  <a:lumMod val="90000"/>
                                  <a:lumOff val="10000"/>
                                </a:schemeClr>
                              </a:solidFill>
                              <a:effectLst/>
                              <a:latin typeface="Cambria Math" panose="02040503050406030204" pitchFamily="18" charset="0"/>
                            </a:rPr>
                          </m:ctrlPr>
                        </m:accPr>
                        <m:e>
                          <m:r>
                            <a:rPr lang="it-IT" sz="1600" b="1" i="1" dirty="0">
                              <a:solidFill>
                                <a:schemeClr val="tx2">
                                  <a:lumMod val="90000"/>
                                  <a:lumOff val="10000"/>
                                </a:schemeClr>
                              </a:solidFill>
                              <a:effectLst/>
                              <a:latin typeface="Cambria Math" panose="02040503050406030204" pitchFamily="18" charset="0"/>
                            </a:rPr>
                            <m:t>𝜽</m:t>
                          </m:r>
                        </m:e>
                      </m:acc>
                      <m:r>
                        <a:rPr lang="it-IT" sz="1600" b="1" i="1" dirty="0">
                          <a:solidFill>
                            <a:schemeClr val="tx2">
                              <a:lumMod val="90000"/>
                              <a:lumOff val="10000"/>
                            </a:schemeClr>
                          </a:solidFill>
                          <a:effectLst/>
                          <a:latin typeface="Cambria Math" panose="02040503050406030204" pitchFamily="18" charset="0"/>
                        </a:rPr>
                        <m:t>+</m:t>
                      </m:r>
                      <m:limLow>
                        <m:limLowPr>
                          <m:ctrlPr>
                            <a:rPr lang="it-IT" sz="1600" b="1" i="1" dirty="0">
                              <a:solidFill>
                                <a:schemeClr val="tx2">
                                  <a:lumMod val="90000"/>
                                  <a:lumOff val="10000"/>
                                </a:schemeClr>
                              </a:solidFill>
                              <a:effectLst/>
                              <a:latin typeface="Cambria Math" panose="02040503050406030204" pitchFamily="18" charset="0"/>
                            </a:rPr>
                          </m:ctrlPr>
                        </m:limLowPr>
                        <m:e>
                          <m:groupChr>
                            <m:groupChrPr>
                              <m:chr m:val="⏟"/>
                              <m:ctrlPr>
                                <a:rPr lang="it-IT" sz="1600" b="1" i="1" dirty="0">
                                  <a:solidFill>
                                    <a:schemeClr val="tx2">
                                      <a:lumMod val="90000"/>
                                      <a:lumOff val="10000"/>
                                    </a:schemeClr>
                                  </a:solidFill>
                                  <a:effectLst/>
                                  <a:latin typeface="Cambria Math" panose="02040503050406030204" pitchFamily="18" charset="0"/>
                                </a:rPr>
                              </m:ctrlPr>
                            </m:groupChrPr>
                            <m:e>
                              <m:sSup>
                                <m:sSupPr>
                                  <m:ctrlPr>
                                    <a:rPr lang="it-IT" sz="1600" b="1" i="1" dirty="0">
                                      <a:solidFill>
                                        <a:schemeClr val="tx2">
                                          <a:lumMod val="90000"/>
                                          <a:lumOff val="10000"/>
                                        </a:schemeClr>
                                      </a:solidFill>
                                      <a:effectLst/>
                                      <a:latin typeface="Cambria Math" panose="02040503050406030204" pitchFamily="18" charset="0"/>
                                    </a:rPr>
                                  </m:ctrlPr>
                                </m:sSupPr>
                                <m:e>
                                  <m:r>
                                    <a:rPr lang="it-IT" sz="1600" b="1" i="1" dirty="0">
                                      <a:solidFill>
                                        <a:schemeClr val="tx2">
                                          <a:lumMod val="90000"/>
                                          <a:lumOff val="10000"/>
                                        </a:schemeClr>
                                      </a:solidFill>
                                      <a:effectLst/>
                                      <a:latin typeface="Cambria Math" panose="02040503050406030204" pitchFamily="18" charset="0"/>
                                    </a:rPr>
                                    <m:t>𝑩</m:t>
                                  </m:r>
                                </m:e>
                                <m:sup>
                                  <m:r>
                                    <a:rPr lang="it-IT" sz="1600" b="1" i="1" dirty="0">
                                      <a:solidFill>
                                        <a:schemeClr val="tx2">
                                          <a:lumMod val="90000"/>
                                          <a:lumOff val="10000"/>
                                        </a:schemeClr>
                                      </a:solidFill>
                                      <a:effectLst/>
                                      <a:latin typeface="Cambria Math" panose="02040503050406030204" pitchFamily="18" charset="0"/>
                                    </a:rPr>
                                    <m:t>𝑻</m:t>
                                  </m:r>
                                </m:sup>
                              </m:sSup>
                              <m:d>
                                <m:dPr>
                                  <m:ctrlPr>
                                    <a:rPr lang="it-IT" sz="1600" b="1" i="1" dirty="0">
                                      <a:solidFill>
                                        <a:schemeClr val="tx2">
                                          <a:lumMod val="90000"/>
                                          <a:lumOff val="10000"/>
                                        </a:schemeClr>
                                      </a:solidFill>
                                      <a:effectLst/>
                                      <a:latin typeface="Cambria Math" panose="02040503050406030204" pitchFamily="18" charset="0"/>
                                    </a:rPr>
                                  </m:ctrlPr>
                                </m:dPr>
                                <m:e>
                                  <m:r>
                                    <a:rPr lang="it-IT" sz="1600" b="1" i="1" dirty="0" smtClean="0">
                                      <a:solidFill>
                                        <a:schemeClr val="tx2">
                                          <a:lumMod val="90000"/>
                                          <a:lumOff val="10000"/>
                                        </a:schemeClr>
                                      </a:solidFill>
                                      <a:effectLst/>
                                      <a:latin typeface="Cambria Math" panose="02040503050406030204" pitchFamily="18" charset="0"/>
                                    </a:rPr>
                                    <m:t>𝑴</m:t>
                                  </m:r>
                                  <m:acc>
                                    <m:accPr>
                                      <m:chr m:val="̇"/>
                                      <m:ctrlPr>
                                        <a:rPr lang="it-IT" sz="1600" b="1" i="1" dirty="0" smtClean="0">
                                          <a:solidFill>
                                            <a:schemeClr val="tx2">
                                              <a:lumMod val="90000"/>
                                              <a:lumOff val="10000"/>
                                            </a:schemeClr>
                                          </a:solidFill>
                                          <a:effectLst/>
                                          <a:latin typeface="Cambria Math" panose="02040503050406030204" pitchFamily="18" charset="0"/>
                                        </a:rPr>
                                      </m:ctrlPr>
                                    </m:accPr>
                                    <m:e>
                                      <m:r>
                                        <a:rPr lang="it-IT" sz="1600" b="1" i="1" dirty="0" smtClean="0">
                                          <a:solidFill>
                                            <a:schemeClr val="tx2">
                                              <a:lumMod val="90000"/>
                                              <a:lumOff val="10000"/>
                                            </a:schemeClr>
                                          </a:solidFill>
                                          <a:effectLst/>
                                          <a:latin typeface="Cambria Math" panose="02040503050406030204" pitchFamily="18" charset="0"/>
                                        </a:rPr>
                                        <m:t>𝑩</m:t>
                                      </m:r>
                                    </m:e>
                                  </m:acc>
                                  <m:acc>
                                    <m:accPr>
                                      <m:chr m:val="̇"/>
                                      <m:ctrlPr>
                                        <a:rPr lang="it-IT" sz="1600" b="1" i="1" dirty="0" smtClean="0">
                                          <a:solidFill>
                                            <a:schemeClr val="tx2">
                                              <a:lumMod val="90000"/>
                                              <a:lumOff val="10000"/>
                                            </a:schemeClr>
                                          </a:solidFill>
                                          <a:effectLst/>
                                          <a:latin typeface="Cambria Math" panose="02040503050406030204" pitchFamily="18" charset="0"/>
                                        </a:rPr>
                                      </m:ctrlPr>
                                    </m:accPr>
                                    <m:e>
                                      <m:r>
                                        <a:rPr lang="it-IT" sz="1600" b="1" i="1" dirty="0" smtClean="0">
                                          <a:solidFill>
                                            <a:schemeClr val="tx2">
                                              <a:lumMod val="90000"/>
                                              <a:lumOff val="10000"/>
                                            </a:schemeClr>
                                          </a:solidFill>
                                          <a:effectLst/>
                                          <a:latin typeface="Cambria Math" panose="02040503050406030204" pitchFamily="18" charset="0"/>
                                        </a:rPr>
                                        <m:t>𝜽</m:t>
                                      </m:r>
                                    </m:e>
                                  </m:acc>
                                  <m:r>
                                    <a:rPr lang="it-IT" sz="1600" b="1" i="1" dirty="0">
                                      <a:solidFill>
                                        <a:schemeClr val="tx2">
                                          <a:lumMod val="90000"/>
                                          <a:lumOff val="10000"/>
                                        </a:schemeClr>
                                      </a:solidFill>
                                      <a:effectLst/>
                                      <a:latin typeface="Cambria Math" panose="02040503050406030204" pitchFamily="18" charset="0"/>
                                    </a:rPr>
                                    <m:t>+</m:t>
                                  </m:r>
                                  <m:r>
                                    <a:rPr lang="it-IT" sz="1600" b="1" i="1" dirty="0">
                                      <a:solidFill>
                                        <a:schemeClr val="tx2">
                                          <a:lumMod val="90000"/>
                                          <a:lumOff val="10000"/>
                                        </a:schemeClr>
                                      </a:solidFill>
                                      <a:effectLst/>
                                      <a:latin typeface="Cambria Math" panose="02040503050406030204" pitchFamily="18" charset="0"/>
                                    </a:rPr>
                                    <m:t>𝒉</m:t>
                                  </m:r>
                                </m:e>
                              </m:d>
                            </m:e>
                          </m:groupChr>
                        </m:e>
                        <m:lim>
                          <m:r>
                            <m:rPr>
                              <m:nor/>
                            </m:rPr>
                            <a:rPr lang="it-IT" sz="1600" b="1" i="0" dirty="0">
                              <a:solidFill>
                                <a:schemeClr val="tx2">
                                  <a:lumMod val="90000"/>
                                  <a:lumOff val="10000"/>
                                </a:schemeClr>
                              </a:solidFill>
                              <a:effectLst/>
                              <a:latin typeface="Cambria Math" panose="02040503050406030204" pitchFamily="18" charset="0"/>
                            </a:rPr>
                            <m:t>proj</m:t>
                          </m:r>
                          <m:r>
                            <a:rPr lang="it-IT" sz="1600" b="1" i="1" dirty="0" smtClean="0">
                              <a:solidFill>
                                <a:schemeClr val="tx2">
                                  <a:lumMod val="90000"/>
                                  <a:lumOff val="10000"/>
                                </a:schemeClr>
                              </a:solidFill>
                              <a:effectLst/>
                              <a:latin typeface="Cambria Math" panose="02040503050406030204" pitchFamily="18" charset="0"/>
                            </a:rPr>
                            <m:t>(</m:t>
                          </m:r>
                          <m:r>
                            <a:rPr lang="it-IT" sz="1600" b="1" i="1" dirty="0" smtClean="0">
                              <a:solidFill>
                                <a:schemeClr val="tx2">
                                  <a:lumMod val="90000"/>
                                  <a:lumOff val="10000"/>
                                </a:schemeClr>
                              </a:solidFill>
                              <a:effectLst/>
                              <a:latin typeface="Cambria Math" panose="02040503050406030204" pitchFamily="18" charset="0"/>
                            </a:rPr>
                            <m:t>𝜽</m:t>
                          </m:r>
                          <m:r>
                            <a:rPr lang="it-IT" sz="1600" b="1" i="1" dirty="0" smtClean="0">
                              <a:solidFill>
                                <a:schemeClr val="tx2">
                                  <a:lumMod val="90000"/>
                                  <a:lumOff val="10000"/>
                                </a:schemeClr>
                              </a:solidFill>
                              <a:effectLst/>
                              <a:latin typeface="Cambria Math" panose="02040503050406030204" pitchFamily="18" charset="0"/>
                            </a:rPr>
                            <m:t>, </m:t>
                          </m:r>
                          <m:acc>
                            <m:accPr>
                              <m:chr m:val="̇"/>
                              <m:ctrlPr>
                                <a:rPr lang="it-IT" sz="1600" b="1" i="1" dirty="0" smtClean="0">
                                  <a:solidFill>
                                    <a:schemeClr val="tx2">
                                      <a:lumMod val="90000"/>
                                      <a:lumOff val="10000"/>
                                    </a:schemeClr>
                                  </a:solidFill>
                                  <a:effectLst/>
                                  <a:latin typeface="Cambria Math" panose="02040503050406030204" pitchFamily="18" charset="0"/>
                                </a:rPr>
                              </m:ctrlPr>
                            </m:accPr>
                            <m:e>
                              <m:r>
                                <a:rPr lang="it-IT" sz="1600" b="1" i="1" dirty="0" smtClean="0">
                                  <a:solidFill>
                                    <a:schemeClr val="tx2">
                                      <a:lumMod val="90000"/>
                                      <a:lumOff val="10000"/>
                                    </a:schemeClr>
                                  </a:solidFill>
                                  <a:effectLst/>
                                  <a:latin typeface="Cambria Math" panose="02040503050406030204" pitchFamily="18" charset="0"/>
                                </a:rPr>
                                <m:t>𝜽</m:t>
                              </m:r>
                            </m:e>
                          </m:acc>
                          <m:r>
                            <a:rPr lang="it-IT" sz="1600" b="1" i="1" dirty="0" smtClean="0">
                              <a:solidFill>
                                <a:schemeClr val="tx2">
                                  <a:lumMod val="90000"/>
                                  <a:lumOff val="10000"/>
                                </a:schemeClr>
                              </a:solidFill>
                              <a:effectLst/>
                              <a:latin typeface="Cambria Math" panose="02040503050406030204" pitchFamily="18" charset="0"/>
                            </a:rPr>
                            <m:t>)</m:t>
                          </m:r>
                        </m:lim>
                      </m:limLow>
                      <m:r>
                        <a:rPr lang="it-IT" sz="1600" b="1" i="1" dirty="0">
                          <a:solidFill>
                            <a:schemeClr val="tx2">
                              <a:lumMod val="90000"/>
                              <a:lumOff val="10000"/>
                            </a:schemeClr>
                          </a:solidFill>
                          <a:effectLst/>
                          <a:latin typeface="Cambria Math" panose="02040503050406030204" pitchFamily="18" charset="0"/>
                        </a:rPr>
                        <m:t>=</m:t>
                      </m:r>
                      <m:sSup>
                        <m:sSupPr>
                          <m:ctrlPr>
                            <a:rPr lang="it-IT" sz="1600" b="1" i="1" dirty="0">
                              <a:solidFill>
                                <a:schemeClr val="tx2">
                                  <a:lumMod val="90000"/>
                                  <a:lumOff val="10000"/>
                                </a:schemeClr>
                              </a:solidFill>
                              <a:effectLst/>
                              <a:latin typeface="Cambria Math" panose="02040503050406030204" pitchFamily="18" charset="0"/>
                            </a:rPr>
                          </m:ctrlPr>
                        </m:sSupPr>
                        <m:e>
                          <m:r>
                            <a:rPr lang="it-IT" sz="1600" b="1" i="1" dirty="0">
                              <a:solidFill>
                                <a:schemeClr val="tx2">
                                  <a:lumMod val="90000"/>
                                  <a:lumOff val="10000"/>
                                </a:schemeClr>
                              </a:solidFill>
                              <a:effectLst/>
                              <a:latin typeface="Cambria Math" panose="02040503050406030204" pitchFamily="18" charset="0"/>
                            </a:rPr>
                            <m:t>𝑩</m:t>
                          </m:r>
                        </m:e>
                        <m:sup>
                          <m:r>
                            <a:rPr lang="it-IT" sz="1600" b="1" i="1" dirty="0">
                              <a:solidFill>
                                <a:schemeClr val="tx2">
                                  <a:lumMod val="90000"/>
                                  <a:lumOff val="10000"/>
                                </a:schemeClr>
                              </a:solidFill>
                              <a:effectLst/>
                              <a:latin typeface="Cambria Math" panose="02040503050406030204" pitchFamily="18" charset="0"/>
                            </a:rPr>
                            <m:t>𝑻</m:t>
                          </m:r>
                        </m:sup>
                      </m:sSup>
                      <m:r>
                        <a:rPr lang="it-IT" sz="1600" b="1" i="1" dirty="0">
                          <a:solidFill>
                            <a:schemeClr val="tx2">
                              <a:lumMod val="90000"/>
                              <a:lumOff val="10000"/>
                            </a:schemeClr>
                          </a:solidFill>
                          <a:effectLst/>
                          <a:latin typeface="Cambria Math" panose="02040503050406030204" pitchFamily="18" charset="0"/>
                        </a:rPr>
                        <m:t>𝝉</m:t>
                      </m:r>
                    </m:oMath>
                  </m:oMathPara>
                </a14:m>
                <a:endParaRPr dirty="0"/>
              </a:p>
            </p:txBody>
          </p:sp>
        </mc:Choice>
        <mc:Fallback xmlns="">
          <p:sp>
            <p:nvSpPr>
              <p:cNvPr id="31" name="TextBox 30">
                <a:extLst>
                  <a:ext uri="{FF2B5EF4-FFF2-40B4-BE49-F238E27FC236}">
                    <a16:creationId xmlns:a16="http://schemas.microsoft.com/office/drawing/2014/main" id="{771A8A79-182A-D87F-BA18-3928A58D7FC9}"/>
                  </a:ext>
                </a:extLst>
              </p:cNvPr>
              <p:cNvSpPr txBox="1">
                <a:spLocks noRot="1" noChangeAspect="1" noMove="1" noResize="1" noEditPoints="1" noAdjustHandles="1" noChangeArrowheads="1" noChangeShapeType="1" noTextEdit="1"/>
              </p:cNvSpPr>
              <p:nvPr/>
            </p:nvSpPr>
            <p:spPr>
              <a:xfrm>
                <a:off x="7240775" y="2858174"/>
                <a:ext cx="3636208" cy="641971"/>
              </a:xfrm>
              <a:prstGeom prst="rect">
                <a:avLst/>
              </a:prstGeom>
              <a:blipFill>
                <a:blip r:embed="rId15"/>
                <a:stretch>
                  <a:fillRect b="-5714"/>
                </a:stretch>
              </a:blipFill>
            </p:spPr>
            <p:txBody>
              <a:bodyPr/>
              <a:lstStyle/>
              <a:p>
                <a:r>
                  <a:rPr lang="it-IT">
                    <a:noFill/>
                  </a:rPr>
                  <a:t> </a:t>
                </a:r>
              </a:p>
            </p:txBody>
          </p:sp>
        </mc:Fallback>
      </mc:AlternateContent>
      <p:sp>
        <p:nvSpPr>
          <p:cNvPr id="33" name="TextBox 32">
            <a:extLst>
              <a:ext uri="{FF2B5EF4-FFF2-40B4-BE49-F238E27FC236}">
                <a16:creationId xmlns:a16="http://schemas.microsoft.com/office/drawing/2014/main" id="{E6571652-2822-A006-0E98-467D22DD1872}"/>
              </a:ext>
            </a:extLst>
          </p:cNvPr>
          <p:cNvSpPr txBox="1"/>
          <p:nvPr/>
        </p:nvSpPr>
        <p:spPr>
          <a:xfrm>
            <a:off x="6234453" y="3747886"/>
            <a:ext cx="3452754" cy="307777"/>
          </a:xfrm>
          <a:prstGeom prst="rect">
            <a:avLst/>
          </a:prstGeom>
          <a:noFill/>
        </p:spPr>
        <p:txBody>
          <a:bodyPr wrap="square">
            <a:spAutoFit/>
          </a:bodyPr>
          <a:lstStyle/>
          <a:p>
            <a:r>
              <a:rPr lang="en-US" sz="1400" b="1" dirty="0">
                <a:solidFill>
                  <a:srgbClr val="0B3041"/>
                </a:solidFill>
                <a:latin typeface="Poppins" panose="00000500000000000000" pitchFamily="2" charset="0"/>
                <a:cs typeface="Poppins" panose="00000500000000000000" pitchFamily="2" charset="0"/>
              </a:rPr>
              <a:t>Step 3 — Final scalar equation</a:t>
            </a:r>
            <a:endParaRPr lang="it-IT" sz="1400" b="1" dirty="0">
              <a:solidFill>
                <a:srgbClr val="0B3041"/>
              </a:solidFill>
              <a:latin typeface="Poppins" panose="00000500000000000000" pitchFamily="2" charset="0"/>
              <a:cs typeface="Poppins" panose="00000500000000000000" pitchFamily="2" charset="0"/>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8F70947-83CD-3E0D-7BD7-A9C1126D1FC4}"/>
                  </a:ext>
                </a:extLst>
              </p:cNvPr>
              <p:cNvSpPr txBox="1"/>
              <p:nvPr/>
            </p:nvSpPr>
            <p:spPr>
              <a:xfrm>
                <a:off x="6595893" y="4203027"/>
                <a:ext cx="4925973" cy="3899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1600" b="1" i="1" dirty="0" smtClean="0">
                              <a:solidFill>
                                <a:schemeClr val="tx2">
                                  <a:lumMod val="90000"/>
                                  <a:lumOff val="10000"/>
                                </a:schemeClr>
                              </a:solidFill>
                              <a:effectLst/>
                              <a:latin typeface="Cambria Math" panose="02040503050406030204" pitchFamily="18" charset="0"/>
                            </a:rPr>
                          </m:ctrlPr>
                        </m:sSubPr>
                        <m:e>
                          <m:r>
                            <a:rPr lang="it-IT" sz="1600" b="1" i="1" dirty="0" smtClean="0">
                              <a:solidFill>
                                <a:schemeClr val="tx2">
                                  <a:lumMod val="90000"/>
                                  <a:lumOff val="10000"/>
                                </a:schemeClr>
                              </a:solidFill>
                              <a:effectLst/>
                              <a:latin typeface="Cambria Math" panose="02040503050406030204" pitchFamily="18" charset="0"/>
                            </a:rPr>
                            <m:t>𝑰</m:t>
                          </m:r>
                        </m:e>
                        <m:sub>
                          <m:r>
                            <m:rPr>
                              <m:nor/>
                            </m:rPr>
                            <a:rPr lang="it-IT" sz="1600" b="1" i="0" dirty="0" smtClean="0">
                              <a:solidFill>
                                <a:schemeClr val="tx2">
                                  <a:lumMod val="90000"/>
                                  <a:lumOff val="10000"/>
                                </a:schemeClr>
                              </a:solidFill>
                              <a:effectLst/>
                              <a:latin typeface="Cambria Math" panose="02040503050406030204" pitchFamily="18" charset="0"/>
                            </a:rPr>
                            <m:t>eff</m:t>
                          </m:r>
                        </m:sub>
                      </m:sSub>
                      <m:d>
                        <m:dPr>
                          <m:ctrlPr>
                            <a:rPr lang="it-IT" sz="1600" b="1" i="1" dirty="0" smtClean="0">
                              <a:solidFill>
                                <a:schemeClr val="tx2">
                                  <a:lumMod val="90000"/>
                                  <a:lumOff val="10000"/>
                                </a:schemeClr>
                              </a:solidFill>
                              <a:effectLst/>
                              <a:latin typeface="Cambria Math" panose="02040503050406030204" pitchFamily="18" charset="0"/>
                            </a:rPr>
                          </m:ctrlPr>
                        </m:dPr>
                        <m:e>
                          <m:r>
                            <a:rPr lang="it-IT" sz="1600" b="1" i="1" dirty="0" smtClean="0">
                              <a:solidFill>
                                <a:schemeClr val="tx2">
                                  <a:lumMod val="90000"/>
                                  <a:lumOff val="10000"/>
                                </a:schemeClr>
                              </a:solidFill>
                              <a:effectLst/>
                              <a:latin typeface="Cambria Math" panose="02040503050406030204" pitchFamily="18" charset="0"/>
                            </a:rPr>
                            <m:t>𝜽</m:t>
                          </m:r>
                        </m:e>
                      </m:d>
                      <m:acc>
                        <m:accPr>
                          <m:chr m:val="̈"/>
                          <m:ctrlPr>
                            <a:rPr lang="it-IT" sz="1600" b="1" i="1" dirty="0">
                              <a:solidFill>
                                <a:schemeClr val="tx2">
                                  <a:lumMod val="90000"/>
                                  <a:lumOff val="10000"/>
                                </a:schemeClr>
                              </a:solidFill>
                              <a:effectLst/>
                              <a:latin typeface="Cambria Math" panose="02040503050406030204" pitchFamily="18" charset="0"/>
                            </a:rPr>
                          </m:ctrlPr>
                        </m:accPr>
                        <m:e>
                          <m:r>
                            <a:rPr lang="it-IT" sz="1600" b="1" i="1" dirty="0">
                              <a:solidFill>
                                <a:schemeClr val="tx2">
                                  <a:lumMod val="90000"/>
                                  <a:lumOff val="10000"/>
                                </a:schemeClr>
                              </a:solidFill>
                              <a:effectLst/>
                              <a:latin typeface="Cambria Math" panose="02040503050406030204" pitchFamily="18" charset="0"/>
                            </a:rPr>
                            <m:t>𝜽</m:t>
                          </m:r>
                        </m:e>
                      </m:acc>
                      <m:r>
                        <a:rPr lang="it-IT" sz="1600" b="1" i="1" dirty="0">
                          <a:solidFill>
                            <a:schemeClr val="tx2">
                              <a:lumMod val="90000"/>
                              <a:lumOff val="10000"/>
                            </a:schemeClr>
                          </a:solidFill>
                          <a:effectLst/>
                          <a:latin typeface="Cambria Math" panose="02040503050406030204" pitchFamily="18" charset="0"/>
                        </a:rPr>
                        <m:t>=</m:t>
                      </m:r>
                      <m:sSub>
                        <m:sSubPr>
                          <m:ctrlPr>
                            <a:rPr lang="it-IT" sz="1600" b="1" i="1" dirty="0">
                              <a:solidFill>
                                <a:schemeClr val="tx2">
                                  <a:lumMod val="90000"/>
                                  <a:lumOff val="10000"/>
                                </a:schemeClr>
                              </a:solidFill>
                              <a:effectLst/>
                              <a:latin typeface="Cambria Math" panose="02040503050406030204" pitchFamily="18" charset="0"/>
                            </a:rPr>
                          </m:ctrlPr>
                        </m:sSubPr>
                        <m:e>
                          <m:r>
                            <a:rPr lang="it-IT" sz="1600" b="1" i="1" dirty="0">
                              <a:solidFill>
                                <a:schemeClr val="tx2">
                                  <a:lumMod val="90000"/>
                                  <a:lumOff val="10000"/>
                                </a:schemeClr>
                              </a:solidFill>
                              <a:effectLst/>
                              <a:latin typeface="Cambria Math" panose="02040503050406030204" pitchFamily="18" charset="0"/>
                            </a:rPr>
                            <m:t>𝝉</m:t>
                          </m:r>
                        </m:e>
                        <m:sub>
                          <m:r>
                            <a:rPr lang="it-IT" sz="1600" b="1" i="1" dirty="0">
                              <a:solidFill>
                                <a:schemeClr val="tx2">
                                  <a:lumMod val="90000"/>
                                  <a:lumOff val="10000"/>
                                </a:schemeClr>
                              </a:solidFill>
                              <a:effectLst/>
                              <a:latin typeface="Cambria Math" panose="02040503050406030204" pitchFamily="18" charset="0"/>
                            </a:rPr>
                            <m:t>𝒎</m:t>
                          </m:r>
                        </m:sub>
                      </m:sSub>
                      <m:r>
                        <a:rPr lang="it-IT" sz="1600" b="1" i="1" dirty="0">
                          <a:solidFill>
                            <a:schemeClr val="tx2">
                              <a:lumMod val="90000"/>
                              <a:lumOff val="10000"/>
                            </a:schemeClr>
                          </a:solidFill>
                          <a:effectLst/>
                          <a:latin typeface="Cambria Math" panose="02040503050406030204" pitchFamily="18" charset="0"/>
                        </a:rPr>
                        <m:t>−</m:t>
                      </m:r>
                      <m:r>
                        <m:rPr>
                          <m:nor/>
                        </m:rPr>
                        <a:rPr lang="it-IT" sz="1600" b="1" i="0" dirty="0">
                          <a:solidFill>
                            <a:schemeClr val="tx2">
                              <a:lumMod val="90000"/>
                              <a:lumOff val="10000"/>
                            </a:schemeClr>
                          </a:solidFill>
                          <a:effectLst/>
                          <a:latin typeface="Cambria Math" panose="02040503050406030204" pitchFamily="18" charset="0"/>
                        </a:rPr>
                        <m:t>proj</m:t>
                      </m:r>
                      <m:d>
                        <m:dPr>
                          <m:ctrlPr>
                            <a:rPr lang="it-IT" sz="1600" b="1" i="1" dirty="0">
                              <a:solidFill>
                                <a:schemeClr val="tx2">
                                  <a:lumMod val="90000"/>
                                  <a:lumOff val="10000"/>
                                </a:schemeClr>
                              </a:solidFill>
                              <a:effectLst/>
                              <a:latin typeface="Cambria Math" panose="02040503050406030204" pitchFamily="18" charset="0"/>
                            </a:rPr>
                          </m:ctrlPr>
                        </m:dPr>
                        <m:e>
                          <m:r>
                            <a:rPr lang="it-IT" sz="1600" b="1" i="1" dirty="0">
                              <a:solidFill>
                                <a:schemeClr val="tx2">
                                  <a:lumMod val="90000"/>
                                  <a:lumOff val="10000"/>
                                </a:schemeClr>
                              </a:solidFill>
                              <a:effectLst/>
                              <a:latin typeface="Cambria Math" panose="02040503050406030204" pitchFamily="18" charset="0"/>
                            </a:rPr>
                            <m:t>𝜽</m:t>
                          </m:r>
                          <m:r>
                            <a:rPr lang="it-IT" sz="1600" b="1" i="1" dirty="0">
                              <a:solidFill>
                                <a:schemeClr val="tx2">
                                  <a:lumMod val="90000"/>
                                  <a:lumOff val="10000"/>
                                </a:schemeClr>
                              </a:solidFill>
                              <a:effectLst/>
                              <a:latin typeface="Cambria Math" panose="02040503050406030204" pitchFamily="18" charset="0"/>
                            </a:rPr>
                            <m:t>,</m:t>
                          </m:r>
                          <m:acc>
                            <m:accPr>
                              <m:chr m:val="̇"/>
                              <m:ctrlPr>
                                <a:rPr lang="it-IT" sz="1600" b="1" i="1" dirty="0">
                                  <a:solidFill>
                                    <a:schemeClr val="tx2">
                                      <a:lumMod val="90000"/>
                                      <a:lumOff val="10000"/>
                                    </a:schemeClr>
                                  </a:solidFill>
                                  <a:effectLst/>
                                  <a:latin typeface="Cambria Math" panose="02040503050406030204" pitchFamily="18" charset="0"/>
                                </a:rPr>
                              </m:ctrlPr>
                            </m:accPr>
                            <m:e>
                              <m:r>
                                <a:rPr lang="it-IT" sz="1600" b="1" i="1" dirty="0">
                                  <a:solidFill>
                                    <a:schemeClr val="tx2">
                                      <a:lumMod val="90000"/>
                                      <a:lumOff val="10000"/>
                                    </a:schemeClr>
                                  </a:solidFill>
                                  <a:effectLst/>
                                  <a:latin typeface="Cambria Math" panose="02040503050406030204" pitchFamily="18" charset="0"/>
                                </a:rPr>
                                <m:t>𝜽</m:t>
                              </m:r>
                            </m:e>
                          </m:acc>
                        </m:e>
                      </m:d>
                      <m:r>
                        <a:rPr lang="it-IT" sz="1600" b="1" i="1" dirty="0">
                          <a:solidFill>
                            <a:schemeClr val="tx2">
                              <a:lumMod val="90000"/>
                              <a:lumOff val="10000"/>
                            </a:schemeClr>
                          </a:solidFill>
                          <a:effectLst/>
                          <a:latin typeface="Cambria Math" panose="02040503050406030204" pitchFamily="18" charset="0"/>
                        </a:rPr>
                        <m:t>−</m:t>
                      </m:r>
                      <m:sSub>
                        <m:sSubPr>
                          <m:ctrlPr>
                            <a:rPr lang="it-IT" sz="1600" b="1" i="1" dirty="0">
                              <a:solidFill>
                                <a:schemeClr val="tx2">
                                  <a:lumMod val="90000"/>
                                  <a:lumOff val="10000"/>
                                </a:schemeClr>
                              </a:solidFill>
                              <a:effectLst/>
                              <a:latin typeface="Cambria Math" panose="02040503050406030204" pitchFamily="18" charset="0"/>
                            </a:rPr>
                          </m:ctrlPr>
                        </m:sSubPr>
                        <m:e>
                          <m:r>
                            <a:rPr lang="it-IT" sz="1600" b="1" i="1" dirty="0">
                              <a:solidFill>
                                <a:schemeClr val="tx2">
                                  <a:lumMod val="90000"/>
                                  <a:lumOff val="10000"/>
                                </a:schemeClr>
                              </a:solidFill>
                              <a:effectLst/>
                              <a:latin typeface="Cambria Math" panose="02040503050406030204" pitchFamily="18" charset="0"/>
                            </a:rPr>
                            <m:t>𝝉</m:t>
                          </m:r>
                        </m:e>
                        <m:sub>
                          <m:r>
                            <m:rPr>
                              <m:nor/>
                            </m:rPr>
                            <a:rPr lang="it-IT" sz="1600" b="1" i="0" dirty="0">
                              <a:solidFill>
                                <a:schemeClr val="tx2">
                                  <a:lumMod val="90000"/>
                                  <a:lumOff val="10000"/>
                                </a:schemeClr>
                              </a:solidFill>
                              <a:effectLst/>
                              <a:latin typeface="Cambria Math" panose="02040503050406030204" pitchFamily="18" charset="0"/>
                            </a:rPr>
                            <m:t>fric</m:t>
                          </m:r>
                        </m:sub>
                      </m:sSub>
                      <m:r>
                        <a:rPr lang="it-IT" sz="1600" b="1" i="1" dirty="0">
                          <a:solidFill>
                            <a:schemeClr val="tx2">
                              <a:lumMod val="90000"/>
                              <a:lumOff val="10000"/>
                            </a:schemeClr>
                          </a:solidFill>
                          <a:effectLst/>
                          <a:latin typeface="Cambria Math" panose="02040503050406030204" pitchFamily="18" charset="0"/>
                        </a:rPr>
                        <m:t>−</m:t>
                      </m:r>
                      <m:sSub>
                        <m:sSubPr>
                          <m:ctrlPr>
                            <a:rPr lang="it-IT" sz="1600" b="1" i="1" dirty="0">
                              <a:solidFill>
                                <a:schemeClr val="tx2">
                                  <a:lumMod val="90000"/>
                                  <a:lumOff val="10000"/>
                                </a:schemeClr>
                              </a:solidFill>
                              <a:effectLst/>
                              <a:latin typeface="Cambria Math" panose="02040503050406030204" pitchFamily="18" charset="0"/>
                            </a:rPr>
                          </m:ctrlPr>
                        </m:sSubPr>
                        <m:e>
                          <m:r>
                            <a:rPr lang="it-IT" sz="1600" b="1" i="1" dirty="0">
                              <a:solidFill>
                                <a:schemeClr val="tx2">
                                  <a:lumMod val="90000"/>
                                  <a:lumOff val="10000"/>
                                </a:schemeClr>
                              </a:solidFill>
                              <a:effectLst/>
                              <a:latin typeface="Cambria Math" panose="02040503050406030204" pitchFamily="18" charset="0"/>
                            </a:rPr>
                            <m:t>𝝉</m:t>
                          </m:r>
                        </m:e>
                        <m:sub>
                          <m:r>
                            <m:rPr>
                              <m:nor/>
                            </m:rPr>
                            <a:rPr lang="it-IT" sz="1600" b="1" i="0" dirty="0">
                              <a:solidFill>
                                <a:schemeClr val="tx2">
                                  <a:lumMod val="90000"/>
                                  <a:lumOff val="10000"/>
                                </a:schemeClr>
                              </a:solidFill>
                              <a:effectLst/>
                              <a:latin typeface="Cambria Math" panose="02040503050406030204" pitchFamily="18" charset="0"/>
                            </a:rPr>
                            <m:t>ext</m:t>
                          </m:r>
                        </m:sub>
                      </m:sSub>
                      <m:r>
                        <a:rPr lang="it-IT" sz="1600" b="1" i="1" dirty="0">
                          <a:solidFill>
                            <a:schemeClr val="tx2">
                              <a:lumMod val="90000"/>
                              <a:lumOff val="10000"/>
                            </a:schemeClr>
                          </a:solidFill>
                          <a:effectLst/>
                          <a:latin typeface="Cambria Math" panose="02040503050406030204" pitchFamily="18" charset="0"/>
                        </a:rPr>
                        <m:t>−</m:t>
                      </m:r>
                      <m:sSub>
                        <m:sSubPr>
                          <m:ctrlPr>
                            <a:rPr lang="it-IT" sz="1600" b="1" i="1" dirty="0">
                              <a:solidFill>
                                <a:schemeClr val="tx2">
                                  <a:lumMod val="90000"/>
                                  <a:lumOff val="10000"/>
                                </a:schemeClr>
                              </a:solidFill>
                              <a:effectLst/>
                              <a:latin typeface="Cambria Math" panose="02040503050406030204" pitchFamily="18" charset="0"/>
                            </a:rPr>
                          </m:ctrlPr>
                        </m:sSubPr>
                        <m:e>
                          <m:r>
                            <a:rPr lang="it-IT" sz="1600" b="1" i="1" dirty="0">
                              <a:solidFill>
                                <a:schemeClr val="tx2">
                                  <a:lumMod val="90000"/>
                                  <a:lumOff val="10000"/>
                                </a:schemeClr>
                              </a:solidFill>
                              <a:effectLst/>
                              <a:latin typeface="Cambria Math" panose="02040503050406030204" pitchFamily="18" charset="0"/>
                            </a:rPr>
                            <m:t>𝝉</m:t>
                          </m:r>
                        </m:e>
                        <m:sub>
                          <m:r>
                            <m:rPr>
                              <m:nor/>
                            </m:rPr>
                            <a:rPr lang="it-IT" sz="1600" b="1" i="0" dirty="0">
                              <a:solidFill>
                                <a:schemeClr val="tx2">
                                  <a:lumMod val="90000"/>
                                  <a:lumOff val="10000"/>
                                </a:schemeClr>
                              </a:solidFill>
                              <a:effectLst/>
                              <a:latin typeface="Cambria Math" panose="02040503050406030204" pitchFamily="18" charset="0"/>
                            </a:rPr>
                            <m:t>pass</m:t>
                          </m:r>
                        </m:sub>
                      </m:sSub>
                    </m:oMath>
                  </m:oMathPara>
                </a14:m>
                <a:endParaRPr/>
              </a:p>
            </p:txBody>
          </p:sp>
        </mc:Choice>
        <mc:Fallback xmlns="">
          <p:sp>
            <p:nvSpPr>
              <p:cNvPr id="35" name="TextBox 34">
                <a:extLst>
                  <a:ext uri="{FF2B5EF4-FFF2-40B4-BE49-F238E27FC236}">
                    <a16:creationId xmlns:a16="http://schemas.microsoft.com/office/drawing/2014/main" id="{68F70947-83CD-3E0D-7BD7-A9C1126D1FC4}"/>
                  </a:ext>
                </a:extLst>
              </p:cNvPr>
              <p:cNvSpPr txBox="1">
                <a:spLocks noRot="1" noChangeAspect="1" noMove="1" noResize="1" noEditPoints="1" noAdjustHandles="1" noChangeArrowheads="1" noChangeShapeType="1" noTextEdit="1"/>
              </p:cNvSpPr>
              <p:nvPr/>
            </p:nvSpPr>
            <p:spPr>
              <a:xfrm>
                <a:off x="6595893" y="4203027"/>
                <a:ext cx="4925973" cy="389915"/>
              </a:xfrm>
              <a:prstGeom prst="rect">
                <a:avLst/>
              </a:prstGeom>
              <a:blipFill>
                <a:blip r:embed="rId16"/>
                <a:stretch>
                  <a:fillRect t="-1563" b="-937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2A9EA2F-74E9-A943-9F6F-8B811B4FBCF2}"/>
                  </a:ext>
                </a:extLst>
              </p:cNvPr>
              <p:cNvSpPr txBox="1"/>
              <p:nvPr/>
            </p:nvSpPr>
            <p:spPr>
              <a:xfrm>
                <a:off x="6339521" y="4791269"/>
                <a:ext cx="5512352" cy="830997"/>
              </a:xfrm>
              <a:prstGeom prst="rect">
                <a:avLst/>
              </a:prstGeom>
              <a:noFill/>
            </p:spPr>
            <p:txBody>
              <a:bodyPr wrap="square">
                <a:spAutoFit/>
              </a:bodyPr>
              <a:lstStyle/>
              <a:p>
                <a14:m>
                  <m:oMath xmlns:m="http://schemas.openxmlformats.org/officeDocument/2006/math">
                    <m:r>
                      <a:rPr lang="en-US" sz="1200" b="1" i="1" dirty="0" smtClean="0">
                        <a:solidFill>
                          <a:schemeClr val="tx2">
                            <a:lumMod val="90000"/>
                            <a:lumOff val="10000"/>
                          </a:schemeClr>
                        </a:solidFill>
                        <a:effectLst/>
                        <a:latin typeface="Cambria Math" panose="02040503050406030204" pitchFamily="18" charset="0"/>
                        <a:cs typeface="Poppins" panose="00000500000000000000" pitchFamily="2" charset="0"/>
                      </a:rPr>
                      <m:t>𝑴</m:t>
                    </m:r>
                    <m:r>
                      <a:rPr lang="en-US" sz="1200" b="1" i="1" dirty="0" smtClean="0">
                        <a:solidFill>
                          <a:schemeClr val="tx2">
                            <a:lumMod val="90000"/>
                            <a:lumOff val="10000"/>
                          </a:schemeClr>
                        </a:solidFill>
                        <a:effectLst/>
                        <a:latin typeface="Cambria Math" panose="02040503050406030204" pitchFamily="18" charset="0"/>
                        <a:cs typeface="Poppins" panose="00000500000000000000" pitchFamily="2" charset="0"/>
                      </a:rPr>
                      <m:t>(</m:t>
                    </m:r>
                    <m:r>
                      <a:rPr lang="en-US" sz="1200" b="1" i="1" dirty="0" smtClean="0">
                        <a:solidFill>
                          <a:schemeClr val="tx2">
                            <a:lumMod val="90000"/>
                            <a:lumOff val="10000"/>
                          </a:schemeClr>
                        </a:solidFill>
                        <a:effectLst/>
                        <a:latin typeface="Cambria Math" panose="02040503050406030204" pitchFamily="18" charset="0"/>
                        <a:cs typeface="Poppins" panose="00000500000000000000" pitchFamily="2" charset="0"/>
                      </a:rPr>
                      <m:t>𝒒</m:t>
                    </m:r>
                    <m:r>
                      <a:rPr lang="en-US" sz="1200" b="1" i="1" dirty="0" smtClean="0">
                        <a:solidFill>
                          <a:schemeClr val="tx2">
                            <a:lumMod val="90000"/>
                            <a:lumOff val="10000"/>
                          </a:schemeClr>
                        </a:solidFill>
                        <a:effectLst/>
                        <a:latin typeface="Cambria Math" panose="02040503050406030204" pitchFamily="18" charset="0"/>
                        <a:cs typeface="Poppins" panose="00000500000000000000" pitchFamily="2" charset="0"/>
                      </a:rPr>
                      <m:t>) </m:t>
                    </m:r>
                  </m:oMath>
                </a14:m>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and </a:t>
                </a:r>
                <a14:m>
                  <m:oMath xmlns:m="http://schemas.openxmlformats.org/officeDocument/2006/math">
                    <m:r>
                      <a:rPr lang="en-US" sz="1200" b="1" i="1" dirty="0" smtClean="0">
                        <a:solidFill>
                          <a:schemeClr val="tx2">
                            <a:lumMod val="90000"/>
                            <a:lumOff val="10000"/>
                          </a:schemeClr>
                        </a:solidFill>
                        <a:effectLst/>
                        <a:latin typeface="Cambria Math" panose="02040503050406030204" pitchFamily="18" charset="0"/>
                        <a:cs typeface="Poppins" panose="00000500000000000000" pitchFamily="2" charset="0"/>
                      </a:rPr>
                      <m:t>𝒉</m:t>
                    </m:r>
                    <m:r>
                      <a:rPr lang="en-US" sz="1200" b="1" i="1" dirty="0" smtClean="0">
                        <a:solidFill>
                          <a:schemeClr val="tx2">
                            <a:lumMod val="90000"/>
                            <a:lumOff val="10000"/>
                          </a:schemeClr>
                        </a:solidFill>
                        <a:effectLst/>
                        <a:latin typeface="Cambria Math" panose="02040503050406030204" pitchFamily="18" charset="0"/>
                        <a:cs typeface="Poppins" panose="00000500000000000000" pitchFamily="2" charset="0"/>
                      </a:rPr>
                      <m:t>(</m:t>
                    </m:r>
                    <m:r>
                      <a:rPr lang="it-IT" sz="1200" b="1" i="1" dirty="0" smtClean="0">
                        <a:solidFill>
                          <a:schemeClr val="tx2">
                            <a:lumMod val="90000"/>
                            <a:lumOff val="10000"/>
                          </a:schemeClr>
                        </a:solidFill>
                        <a:effectLst/>
                        <a:latin typeface="Cambria Math" panose="02040503050406030204" pitchFamily="18" charset="0"/>
                        <a:cs typeface="Poppins" panose="00000500000000000000" pitchFamily="2" charset="0"/>
                      </a:rPr>
                      <m:t>𝒒</m:t>
                    </m:r>
                    <m:r>
                      <a:rPr lang="it-IT" sz="1200" b="1" i="1" dirty="0" smtClean="0">
                        <a:solidFill>
                          <a:schemeClr val="tx2">
                            <a:lumMod val="90000"/>
                            <a:lumOff val="10000"/>
                          </a:schemeClr>
                        </a:solidFill>
                        <a:effectLst/>
                        <a:latin typeface="Cambria Math" panose="02040503050406030204" pitchFamily="18" charset="0"/>
                        <a:cs typeface="Poppins" panose="00000500000000000000" pitchFamily="2" charset="0"/>
                      </a:rPr>
                      <m:t>, </m:t>
                    </m:r>
                    <m:acc>
                      <m:accPr>
                        <m:chr m:val="̇"/>
                        <m:ctrlPr>
                          <a:rPr lang="it-IT" sz="1200" b="1" i="1" dirty="0" smtClean="0">
                            <a:solidFill>
                              <a:schemeClr val="tx2">
                                <a:lumMod val="90000"/>
                                <a:lumOff val="10000"/>
                              </a:schemeClr>
                            </a:solidFill>
                            <a:effectLst/>
                            <a:latin typeface="Cambria Math" panose="02040503050406030204" pitchFamily="18" charset="0"/>
                            <a:cs typeface="Poppins" panose="00000500000000000000" pitchFamily="2" charset="0"/>
                          </a:rPr>
                        </m:ctrlPr>
                      </m:accPr>
                      <m:e>
                        <m:r>
                          <a:rPr lang="it-IT" sz="1200" b="1" i="1" dirty="0" smtClean="0">
                            <a:solidFill>
                              <a:schemeClr val="tx2">
                                <a:lumMod val="90000"/>
                                <a:lumOff val="10000"/>
                              </a:schemeClr>
                            </a:solidFill>
                            <a:effectLst/>
                            <a:latin typeface="Cambria Math" panose="02040503050406030204" pitchFamily="18" charset="0"/>
                            <a:cs typeface="Poppins" panose="00000500000000000000" pitchFamily="2" charset="0"/>
                          </a:rPr>
                          <m:t>𝒒</m:t>
                        </m:r>
                      </m:e>
                    </m:acc>
                    <m:r>
                      <a:rPr lang="en-US" sz="1200" b="1" i="1" dirty="0" smtClean="0">
                        <a:solidFill>
                          <a:schemeClr val="tx2">
                            <a:lumMod val="90000"/>
                            <a:lumOff val="10000"/>
                          </a:schemeClr>
                        </a:solidFill>
                        <a:effectLst/>
                        <a:latin typeface="Cambria Math" panose="02040503050406030204" pitchFamily="18" charset="0"/>
                        <a:cs typeface="Poppins" panose="00000500000000000000" pitchFamily="2" charset="0"/>
                      </a:rPr>
                      <m:t>) </m:t>
                    </m:r>
                  </m:oMath>
                </a14:m>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are evaluated on the </a:t>
                </a:r>
                <a:r>
                  <a:rPr lang="en-US" sz="1200" b="1" i="0" dirty="0">
                    <a:solidFill>
                      <a:schemeClr val="tx2">
                        <a:lumMod val="90000"/>
                        <a:lumOff val="10000"/>
                      </a:schemeClr>
                    </a:solidFill>
                    <a:effectLst/>
                    <a:latin typeface="Poppins" panose="00000500000000000000" pitchFamily="2" charset="0"/>
                    <a:cs typeface="Poppins" panose="00000500000000000000" pitchFamily="2" charset="0"/>
                  </a:rPr>
                  <a:t>full</a:t>
                </a:r>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 joint-space system via Pinocchio (</a:t>
                </a:r>
                <a:r>
                  <a:rPr lang="en-US" sz="1200" b="1" i="0" dirty="0">
                    <a:solidFill>
                      <a:schemeClr val="tx2">
                        <a:lumMod val="90000"/>
                        <a:lumOff val="10000"/>
                      </a:schemeClr>
                    </a:solidFill>
                    <a:effectLst/>
                    <a:latin typeface="Poppins" panose="00000500000000000000" pitchFamily="2" charset="0"/>
                    <a:cs typeface="Poppins" panose="00000500000000000000" pitchFamily="2" charset="0"/>
                  </a:rPr>
                  <a:t>CRBA + RNEA</a:t>
                </a:r>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 at every step and only then projected — preserving all nonlinear inertial couplings of the original closed-chain mechanism. Integrated at </a:t>
                </a:r>
                <a:r>
                  <a:rPr lang="en-US" sz="1200" b="1" i="0" dirty="0">
                    <a:solidFill>
                      <a:schemeClr val="tx2">
                        <a:lumMod val="90000"/>
                        <a:lumOff val="10000"/>
                      </a:schemeClr>
                    </a:solidFill>
                    <a:effectLst/>
                    <a:latin typeface="Poppins" panose="00000500000000000000" pitchFamily="2" charset="0"/>
                    <a:cs typeface="Poppins" panose="00000500000000000000" pitchFamily="2" charset="0"/>
                  </a:rPr>
                  <a:t>200 Hz</a:t>
                </a:r>
                <a:r>
                  <a:rPr lang="en-US" sz="1200" b="0" i="0" dirty="0">
                    <a:solidFill>
                      <a:schemeClr val="tx2">
                        <a:lumMod val="90000"/>
                        <a:lumOff val="10000"/>
                      </a:schemeClr>
                    </a:solidFill>
                    <a:effectLst/>
                    <a:latin typeface="Poppins" panose="00000500000000000000" pitchFamily="2" charset="0"/>
                    <a:cs typeface="Poppins" panose="00000500000000000000" pitchFamily="2" charset="0"/>
                  </a:rPr>
                  <a:t> via explicit Euler.</a:t>
                </a:r>
                <a:endParaRPr lang="it-IT" sz="1200" dirty="0">
                  <a:solidFill>
                    <a:schemeClr val="tx2">
                      <a:lumMod val="90000"/>
                      <a:lumOff val="10000"/>
                    </a:schemeClr>
                  </a:solidFill>
                  <a:latin typeface="Poppins" panose="00000500000000000000" pitchFamily="2" charset="0"/>
                  <a:cs typeface="Poppins" panose="00000500000000000000" pitchFamily="2" charset="0"/>
                </a:endParaRPr>
              </a:p>
            </p:txBody>
          </p:sp>
        </mc:Choice>
        <mc:Fallback xmlns="">
          <p:sp>
            <p:nvSpPr>
              <p:cNvPr id="37" name="TextBox 36">
                <a:extLst>
                  <a:ext uri="{FF2B5EF4-FFF2-40B4-BE49-F238E27FC236}">
                    <a16:creationId xmlns:a16="http://schemas.microsoft.com/office/drawing/2014/main" id="{92A9EA2F-74E9-A943-9F6F-8B811B4FBCF2}"/>
                  </a:ext>
                </a:extLst>
              </p:cNvPr>
              <p:cNvSpPr txBox="1">
                <a:spLocks noRot="1" noChangeAspect="1" noMove="1" noResize="1" noEditPoints="1" noAdjustHandles="1" noChangeArrowheads="1" noChangeShapeType="1" noTextEdit="1"/>
              </p:cNvSpPr>
              <p:nvPr/>
            </p:nvSpPr>
            <p:spPr>
              <a:xfrm>
                <a:off x="6339521" y="4791269"/>
                <a:ext cx="5512352" cy="830997"/>
              </a:xfrm>
              <a:prstGeom prst="rect">
                <a:avLst/>
              </a:prstGeom>
              <a:blipFill>
                <a:blip r:embed="rId17"/>
                <a:stretch>
                  <a:fillRect l="-111" t="-735" b="-5147"/>
                </a:stretch>
              </a:blipFill>
            </p:spPr>
            <p:txBody>
              <a:bodyPr/>
              <a:lstStyle/>
              <a:p>
                <a:r>
                  <a:rPr lang="it-IT">
                    <a:noFill/>
                  </a:rPr>
                  <a:t> </a:t>
                </a:r>
              </a:p>
            </p:txBody>
          </p:sp>
        </mc:Fallback>
      </mc:AlternateContent>
      <p:cxnSp>
        <p:nvCxnSpPr>
          <p:cNvPr id="56" name="Straight Connector 55">
            <a:extLst>
              <a:ext uri="{FF2B5EF4-FFF2-40B4-BE49-F238E27FC236}">
                <a16:creationId xmlns:a16="http://schemas.microsoft.com/office/drawing/2014/main" id="{044AE3D7-CEBD-A26B-02AF-866589BC7700}"/>
              </a:ext>
            </a:extLst>
          </p:cNvPr>
          <p:cNvCxnSpPr/>
          <p:nvPr/>
        </p:nvCxnSpPr>
        <p:spPr>
          <a:xfrm flipV="1">
            <a:off x="5776114" y="2335548"/>
            <a:ext cx="0" cy="361258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0195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B29EC-8C05-7A21-0AD3-22F49F246DDD}"/>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A9C83855-30D3-B4E5-A02F-355355E9907F}"/>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1F08EEF1-10AF-D7B7-C783-F25635F47578}"/>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3BF981DE-433F-DA6A-8D23-8890127F8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C79BC615-4C05-E394-A840-BA8A27A98730}"/>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C79BC615-4C05-E394-A840-BA8A27A98730}"/>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F5461064-3A40-9517-F91E-21A84EFDD56D}"/>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F5461064-3A40-9517-F91E-21A84EFDD56D}"/>
                  </a:ext>
                </a:extLst>
              </p:cNvPr>
              <p:cNvPicPr/>
              <p:nvPr/>
            </p:nvPicPr>
            <p:blipFill>
              <a:blip r:embed="rId6"/>
              <a:stretch>
                <a:fillRect/>
              </a:stretch>
            </p:blipFill>
            <p:spPr>
              <a:xfrm>
                <a:off x="5259213" y="963076"/>
                <a:ext cx="1950120" cy="35156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75D2970A-F8DA-20BC-E4AA-78A8435C2339}"/>
                  </a:ext>
                </a:extLst>
              </p14:cNvPr>
              <p14:cNvContentPartPr/>
              <p14:nvPr/>
            </p14:nvContentPartPr>
            <p14:xfrm>
              <a:off x="525933" y="2691537"/>
              <a:ext cx="360" cy="360"/>
            </p14:xfrm>
          </p:contentPart>
        </mc:Choice>
        <mc:Fallback xmlns="">
          <p:pic>
            <p:nvPicPr>
              <p:cNvPr id="13" name="Ink 12">
                <a:extLst>
                  <a:ext uri="{FF2B5EF4-FFF2-40B4-BE49-F238E27FC236}">
                    <a16:creationId xmlns:a16="http://schemas.microsoft.com/office/drawing/2014/main" id="{75D2970A-F8DA-20BC-E4AA-78A8435C2339}"/>
                  </a:ext>
                </a:extLst>
              </p:cNvPr>
              <p:cNvPicPr/>
              <p:nvPr/>
            </p:nvPicPr>
            <p:blipFill>
              <a:blip r:embed="rId8"/>
              <a:stretch>
                <a:fillRect/>
              </a:stretch>
            </p:blipFill>
            <p:spPr>
              <a:xfrm>
                <a:off x="462933" y="2628537"/>
                <a:ext cx="126000" cy="126000"/>
              </a:xfrm>
              <a:prstGeom prst="rect">
                <a:avLst/>
              </a:prstGeom>
            </p:spPr>
          </p:pic>
        </mc:Fallback>
      </mc:AlternateContent>
      <p:sp>
        <p:nvSpPr>
          <p:cNvPr id="14" name="Google Shape;259;p29">
            <a:extLst>
              <a:ext uri="{FF2B5EF4-FFF2-40B4-BE49-F238E27FC236}">
                <a16:creationId xmlns:a16="http://schemas.microsoft.com/office/drawing/2014/main" id="{236E46D3-15BA-09E2-3C0A-D024F0389B07}"/>
              </a:ext>
            </a:extLst>
          </p:cNvPr>
          <p:cNvSpPr/>
          <p:nvPr/>
        </p:nvSpPr>
        <p:spPr>
          <a:xfrm>
            <a:off x="525932" y="1433398"/>
            <a:ext cx="7703641"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8E3983AA-5F04-D69C-78BE-A64FA8315A61}"/>
              </a:ext>
            </a:extLst>
          </p:cNvPr>
          <p:cNvSpPr txBox="1">
            <a:spLocks/>
          </p:cNvSpPr>
          <p:nvPr/>
        </p:nvSpPr>
        <p:spPr>
          <a:xfrm>
            <a:off x="604929" y="1129380"/>
            <a:ext cx="7704000"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193C6A"/>
                </a:solidFill>
                <a:latin typeface="Poppins Black" panose="00000A00000000000000" pitchFamily="2" charset="0"/>
                <a:ea typeface="Cambria" pitchFamily="34" charset="-122"/>
                <a:cs typeface="Poppins Black" panose="00000A00000000000000" pitchFamily="2" charset="0"/>
              </a:rPr>
              <a:t>Kinematic and Dynamic Modeling</a:t>
            </a:r>
            <a:endParaRPr lang="en-US" sz="3200" dirty="0">
              <a:solidFill>
                <a:srgbClr val="193C6A"/>
              </a:solidFill>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772D38A6-4BBE-631A-5A7F-CE6ECB268EB0}"/>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9EB2EEB0-F98A-34B7-F135-DC14C7FF80F2}"/>
              </a:ext>
            </a:extLst>
          </p:cNvPr>
          <p:cNvSpPr txBox="1"/>
          <p:nvPr/>
        </p:nvSpPr>
        <p:spPr>
          <a:xfrm>
            <a:off x="604929" y="1705798"/>
            <a:ext cx="6109138" cy="338554"/>
          </a:xfrm>
          <a:prstGeom prst="rect">
            <a:avLst/>
          </a:prstGeom>
          <a:noFill/>
        </p:spPr>
        <p:txBody>
          <a:bodyPr wrap="square">
            <a:spAutoFit/>
          </a:bodyPr>
          <a:lstStyle/>
          <a:p>
            <a:r>
              <a:rPr lang="en-US" sz="1600" i="1" dirty="0">
                <a:solidFill>
                  <a:srgbClr val="64748B"/>
                </a:solidFill>
                <a:latin typeface="Poppins" panose="00000500000000000000" pitchFamily="2" charset="0"/>
                <a:ea typeface="Calibri" pitchFamily="34" charset="-122"/>
                <a:cs typeface="Poppins" panose="00000500000000000000" pitchFamily="2" charset="0"/>
              </a:rPr>
              <a:t>The technical </a:t>
            </a:r>
            <a:r>
              <a:rPr lang="en-US" sz="1600" b="1" i="1" dirty="0">
                <a:solidFill>
                  <a:srgbClr val="64748B"/>
                </a:solidFill>
                <a:latin typeface="Poppins" panose="00000500000000000000" pitchFamily="2" charset="0"/>
                <a:ea typeface="Calibri" pitchFamily="34" charset="-122"/>
                <a:cs typeface="Poppins" panose="00000500000000000000" pitchFamily="2" charset="0"/>
              </a:rPr>
              <a:t>core</a:t>
            </a:r>
            <a:r>
              <a:rPr lang="en-US" sz="1600" i="1" dirty="0">
                <a:solidFill>
                  <a:srgbClr val="64748B"/>
                </a:solidFill>
                <a:latin typeface="Poppins" panose="00000500000000000000" pitchFamily="2" charset="0"/>
                <a:ea typeface="Calibri" pitchFamily="34" charset="-122"/>
                <a:cs typeface="Poppins" panose="00000500000000000000" pitchFamily="2" charset="0"/>
              </a:rPr>
              <a:t> of the thesis</a:t>
            </a:r>
            <a:endParaRPr lang="en-US" sz="1600" dirty="0">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C3132854-2CE8-193A-15EF-7CD3CB68FB57}"/>
              </a:ext>
            </a:extLst>
          </p:cNvPr>
          <p:cNvSpPr txBox="1"/>
          <p:nvPr/>
        </p:nvSpPr>
        <p:spPr>
          <a:xfrm>
            <a:off x="108113" y="2285227"/>
            <a:ext cx="4498743" cy="1015663"/>
          </a:xfrm>
          <a:prstGeom prst="rect">
            <a:avLst/>
          </a:prstGeom>
          <a:noFill/>
        </p:spPr>
        <p:txBody>
          <a:bodyPr wrap="square" rtlCol="0">
            <a:spAutoFit/>
          </a:bodyPr>
          <a:lstStyle/>
          <a:p>
            <a:r>
              <a:rPr lang="it-IT" sz="1200" dirty="0">
                <a:solidFill>
                  <a:schemeClr val="tx2">
                    <a:lumMod val="90000"/>
                    <a:lumOff val="10000"/>
                  </a:schemeClr>
                </a:solidFill>
                <a:latin typeface="Consolas" panose="020B0609020204030204" pitchFamily="49" charset="0"/>
              </a:rPr>
              <a:t>exoskeletron_dynamics</a:t>
            </a:r>
            <a:r>
              <a:rPr lang="it-IT" sz="1400" dirty="0">
                <a:latin typeface="Consolas" panose="020B0609020204030204" pitchFamily="49" charset="0"/>
              </a:rPr>
              <a:t>:</a:t>
            </a:r>
          </a:p>
          <a:p>
            <a:r>
              <a:rPr lang="it-IT" sz="1400" dirty="0">
                <a:latin typeface="Consolas" panose="020B0609020204030204" pitchFamily="49" charset="0"/>
              </a:rPr>
              <a:t>      </a:t>
            </a:r>
            <a:r>
              <a:rPr lang="it-IT" sz="1200" dirty="0">
                <a:latin typeface="Consolas" panose="020B0609020204030204" pitchFamily="49" charset="0"/>
              </a:rPr>
              <a:t>new_dynamics_with_hand.py</a:t>
            </a:r>
            <a:r>
              <a:rPr lang="it-IT" sz="1400" dirty="0">
                <a:latin typeface="Consolas" panose="020B0609020204030204" pitchFamily="49" charset="0"/>
              </a:rPr>
              <a:t>:</a:t>
            </a:r>
          </a:p>
          <a:p>
            <a:r>
              <a:rPr lang="it-IT" sz="1400" dirty="0">
                <a:latin typeface="Consolas" panose="020B0609020204030204" pitchFamily="49" charset="0"/>
              </a:rPr>
              <a:t>	</a:t>
            </a:r>
          </a:p>
          <a:p>
            <a:r>
              <a:rPr lang="it-IT" sz="1400" dirty="0">
                <a:latin typeface="Consolas" panose="020B0609020204030204" pitchFamily="49" charset="0"/>
              </a:rPr>
              <a:t>	     </a:t>
            </a:r>
            <a:r>
              <a:rPr lang="it-IT" dirty="0">
                <a:solidFill>
                  <a:schemeClr val="tx2">
                    <a:lumMod val="90000"/>
                    <a:lumOff val="10000"/>
                  </a:schemeClr>
                </a:solidFill>
                <a:latin typeface="Consolas" panose="020B0609020204030204" pitchFamily="49" charset="0"/>
              </a:rPr>
              <a:t>def </a:t>
            </a:r>
            <a:r>
              <a:rPr lang="it-IT" b="1" dirty="0">
                <a:solidFill>
                  <a:schemeClr val="tx2">
                    <a:lumMod val="90000"/>
                    <a:lumOff val="10000"/>
                  </a:schemeClr>
                </a:solidFill>
                <a:latin typeface="Consolas" panose="020B0609020204030204" pitchFamily="49" charset="0"/>
              </a:rPr>
              <a:t>step()</a:t>
            </a:r>
            <a:r>
              <a:rPr lang="it-IT" dirty="0">
                <a:latin typeface="Consolas" panose="020B0609020204030204" pitchFamily="49" charset="0"/>
              </a:rPr>
              <a:t>:</a:t>
            </a:r>
            <a:endParaRPr lang="it-IT" sz="1400" dirty="0">
              <a:latin typeface="Consolas" panose="020B0609020204030204" pitchFamily="49"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37B7796-DFD6-E7E0-7FBC-A8EAFE456A3A}"/>
                  </a:ext>
                </a:extLst>
              </p:cNvPr>
              <p:cNvSpPr txBox="1"/>
              <p:nvPr/>
            </p:nvSpPr>
            <p:spPr>
              <a:xfrm>
                <a:off x="1770245" y="3422587"/>
                <a:ext cx="9887643" cy="2378280"/>
              </a:xfrm>
              <a:prstGeom prst="rect">
                <a:avLst/>
              </a:prstGeom>
              <a:noFill/>
            </p:spPr>
            <p:txBody>
              <a:bodyPr wrap="none" rtlCol="0">
                <a:spAutoFit/>
              </a:bodyPr>
              <a:lstStyle/>
              <a:p>
                <a:pPr marL="228600" indent="-228600">
                  <a:buFont typeface="+mj-lt"/>
                  <a:buAutoNum type="arabicPeriod"/>
                </a:pPr>
                <a:r>
                  <a:rPr lang="it-IT" sz="1200" dirty="0">
                    <a:solidFill>
                      <a:schemeClr val="tx2">
                        <a:lumMod val="90000"/>
                        <a:lumOff val="10000"/>
                      </a:schemeClr>
                    </a:solidFill>
                    <a:latin typeface="Poppins "/>
                  </a:rPr>
                  <a:t>Stuck recovery – If at joint limit, try to release using backoff steps.</a:t>
                </a:r>
              </a:p>
              <a:p>
                <a:pPr marL="228600" indent="-228600">
                  <a:buFont typeface="+mj-lt"/>
                  <a:buAutoNum type="arabicPeriod"/>
                </a:pPr>
                <a:r>
                  <a:rPr lang="el-GR" sz="1200" dirty="0">
                    <a:solidFill>
                      <a:schemeClr val="tx2">
                        <a:lumMod val="90000"/>
                        <a:lumOff val="10000"/>
                      </a:schemeClr>
                    </a:solidFill>
                    <a:latin typeface="Poppins "/>
                  </a:rPr>
                  <a:t>θ</a:t>
                </a:r>
                <a:r>
                  <a:rPr lang="it-IT" sz="1200" dirty="0">
                    <a:solidFill>
                      <a:schemeClr val="tx2">
                        <a:lumMod val="90000"/>
                        <a:lumOff val="10000"/>
                      </a:schemeClr>
                    </a:solidFill>
                    <a:latin typeface="Poppins "/>
                  </a:rPr>
                  <a:t> bounds – Clamp crank angle to configured limits.</a:t>
                </a:r>
              </a:p>
              <a:p>
                <a:pPr marL="228600" indent="-228600">
                  <a:buFont typeface="+mj-lt"/>
                  <a:buAutoNum type="arabicPeriod"/>
                </a:pPr>
                <a:r>
                  <a:rPr lang="it-IT" sz="1200" b="1" dirty="0">
                    <a:solidFill>
                      <a:schemeClr val="tx2">
                        <a:lumMod val="90000"/>
                        <a:lumOff val="10000"/>
                      </a:schemeClr>
                    </a:solidFill>
                    <a:latin typeface="Poppins "/>
                  </a:rPr>
                  <a:t>Kinematic closure</a:t>
                </a:r>
                <a:r>
                  <a:rPr lang="it-IT" sz="1200" dirty="0">
                    <a:solidFill>
                      <a:schemeClr val="tx2">
                        <a:lumMod val="90000"/>
                        <a:lumOff val="10000"/>
                      </a:schemeClr>
                    </a:solidFill>
                    <a:latin typeface="Poppins "/>
                  </a:rPr>
                  <a:t> – Solve for dependent joints (least‑squares) given current </a:t>
                </a:r>
                <a:r>
                  <a:rPr lang="it-IT" sz="1200" b="1" i="1" dirty="0">
                    <a:solidFill>
                      <a:schemeClr val="tx2">
                        <a:lumMod val="90000"/>
                        <a:lumOff val="10000"/>
                      </a:schemeClr>
                    </a:solidFill>
                    <a:latin typeface="Poppins "/>
                  </a:rPr>
                  <a:t>θ</a:t>
                </a:r>
                <a:r>
                  <a:rPr lang="it-IT" sz="1200" dirty="0">
                    <a:solidFill>
                      <a:schemeClr val="tx2">
                        <a:lumMod val="90000"/>
                        <a:lumOff val="10000"/>
                      </a:schemeClr>
                    </a:solidFill>
                    <a:latin typeface="Poppins "/>
                  </a:rPr>
                  <a:t>.</a:t>
                </a:r>
              </a:p>
              <a:p>
                <a:pPr marL="228600" indent="-228600">
                  <a:buFont typeface="+mj-lt"/>
                  <a:buAutoNum type="arabicPeriod"/>
                </a:pPr>
                <a:r>
                  <a:rPr lang="it-IT" sz="1200" b="1" dirty="0">
                    <a:solidFill>
                      <a:schemeClr val="tx2">
                        <a:lumMod val="90000"/>
                        <a:lumOff val="10000"/>
                      </a:schemeClr>
                    </a:solidFill>
                    <a:latin typeface="Poppins "/>
                  </a:rPr>
                  <a:t>Update kinematics</a:t>
                </a:r>
                <a:r>
                  <a:rPr lang="it-IT" sz="1200" dirty="0">
                    <a:solidFill>
                      <a:schemeClr val="tx2">
                        <a:lumMod val="90000"/>
                        <a:lumOff val="10000"/>
                      </a:schemeClr>
                    </a:solidFill>
                    <a:latin typeface="Poppins "/>
                  </a:rPr>
                  <a:t> – Store valid state, compute projection vector </a:t>
                </a:r>
                <a14:m>
                  <m:oMath xmlns:m="http://schemas.openxmlformats.org/officeDocument/2006/math">
                    <m:r>
                      <a:rPr lang="it-IT" sz="1200" b="1" i="1" smtClean="0">
                        <a:solidFill>
                          <a:schemeClr val="tx2">
                            <a:lumMod val="90000"/>
                            <a:lumOff val="10000"/>
                          </a:schemeClr>
                        </a:solidFill>
                        <a:latin typeface="Cambria Math" panose="02040503050406030204" pitchFamily="18" charset="0"/>
                      </a:rPr>
                      <m:t>𝑩</m:t>
                    </m:r>
                  </m:oMath>
                </a14:m>
                <a:r>
                  <a:rPr lang="it-IT" sz="1200" dirty="0">
                    <a:solidFill>
                      <a:schemeClr val="tx2">
                        <a:lumMod val="90000"/>
                        <a:lumOff val="10000"/>
                      </a:schemeClr>
                    </a:solidFill>
                    <a:latin typeface="Poppins "/>
                  </a:rPr>
                  <a:t> and its derivative </a:t>
                </a:r>
                <a14:m>
                  <m:oMath xmlns:m="http://schemas.openxmlformats.org/officeDocument/2006/math">
                    <m:acc>
                      <m:accPr>
                        <m:chr m:val="̇"/>
                        <m:ctrlPr>
                          <a:rPr lang="it-IT" sz="1200" i="1" smtClean="0">
                            <a:solidFill>
                              <a:schemeClr val="tx2">
                                <a:lumMod val="90000"/>
                                <a:lumOff val="10000"/>
                              </a:schemeClr>
                            </a:solidFill>
                            <a:latin typeface="Cambria Math" panose="02040503050406030204" pitchFamily="18" charset="0"/>
                          </a:rPr>
                        </m:ctrlPr>
                      </m:accPr>
                      <m:e>
                        <m:r>
                          <a:rPr lang="it-IT" sz="1200" b="1" i="1" smtClean="0">
                            <a:solidFill>
                              <a:schemeClr val="tx2">
                                <a:lumMod val="90000"/>
                                <a:lumOff val="10000"/>
                              </a:schemeClr>
                            </a:solidFill>
                            <a:latin typeface="Cambria Math" panose="02040503050406030204" pitchFamily="18" charset="0"/>
                          </a:rPr>
                          <m:t>𝑩</m:t>
                        </m:r>
                      </m:e>
                    </m:acc>
                  </m:oMath>
                </a14:m>
                <a:r>
                  <a:rPr lang="it-IT" sz="1200" dirty="0">
                    <a:solidFill>
                      <a:schemeClr val="tx2">
                        <a:lumMod val="90000"/>
                        <a:lumOff val="10000"/>
                      </a:schemeClr>
                    </a:solidFill>
                    <a:latin typeface="Poppins "/>
                  </a:rPr>
                  <a:t>.</a:t>
                </a:r>
              </a:p>
              <a:p>
                <a:pPr marL="228600" indent="-228600">
                  <a:buFont typeface="+mj-lt"/>
                  <a:buAutoNum type="arabicPeriod"/>
                </a:pPr>
                <a:r>
                  <a:rPr lang="it-IT" sz="1200" b="1" dirty="0">
                    <a:solidFill>
                      <a:schemeClr val="tx2">
                        <a:lumMod val="90000"/>
                        <a:lumOff val="10000"/>
                      </a:schemeClr>
                    </a:solidFill>
                    <a:latin typeface="Poppins "/>
                  </a:rPr>
                  <a:t>Full dynamics</a:t>
                </a:r>
                <a:r>
                  <a:rPr lang="it-IT" sz="1200" dirty="0">
                    <a:solidFill>
                      <a:schemeClr val="tx2">
                        <a:lumMod val="90000"/>
                        <a:lumOff val="10000"/>
                      </a:schemeClr>
                    </a:solidFill>
                    <a:latin typeface="Poppins "/>
                  </a:rPr>
                  <a:t> – Compute mass matrix </a:t>
                </a:r>
                <a14:m>
                  <m:oMath xmlns:m="http://schemas.openxmlformats.org/officeDocument/2006/math">
                    <m:r>
                      <a:rPr lang="it-IT" sz="1200" b="1" i="1" dirty="0" smtClean="0">
                        <a:solidFill>
                          <a:schemeClr val="tx2">
                            <a:lumMod val="90000"/>
                            <a:lumOff val="10000"/>
                          </a:schemeClr>
                        </a:solidFill>
                        <a:latin typeface="Cambria Math" panose="02040503050406030204" pitchFamily="18" charset="0"/>
                      </a:rPr>
                      <m:t>𝑴</m:t>
                    </m:r>
                  </m:oMath>
                </a14:m>
                <a:r>
                  <a:rPr lang="it-IT" sz="1200" dirty="0">
                    <a:solidFill>
                      <a:schemeClr val="tx2">
                        <a:lumMod val="90000"/>
                        <a:lumOff val="10000"/>
                      </a:schemeClr>
                    </a:solidFill>
                    <a:latin typeface="Poppins "/>
                  </a:rPr>
                  <a:t> and nonlinear effects </a:t>
                </a:r>
                <a14:m>
                  <m:oMath xmlns:m="http://schemas.openxmlformats.org/officeDocument/2006/math">
                    <m:r>
                      <a:rPr lang="it-IT" sz="1200" b="1" i="1" dirty="0" smtClean="0">
                        <a:solidFill>
                          <a:schemeClr val="tx2">
                            <a:lumMod val="90000"/>
                            <a:lumOff val="10000"/>
                          </a:schemeClr>
                        </a:solidFill>
                        <a:latin typeface="Cambria Math" panose="02040503050406030204" pitchFamily="18" charset="0"/>
                      </a:rPr>
                      <m:t>𝒉</m:t>
                    </m:r>
                  </m:oMath>
                </a14:m>
                <a:r>
                  <a:rPr lang="it-IT" sz="1200" dirty="0">
                    <a:solidFill>
                      <a:schemeClr val="tx2">
                        <a:lumMod val="90000"/>
                        <a:lumOff val="10000"/>
                      </a:schemeClr>
                    </a:solidFill>
                    <a:latin typeface="Poppins "/>
                  </a:rPr>
                  <a:t> (Pinocchio).</a:t>
                </a:r>
              </a:p>
              <a:p>
                <a:pPr marL="228600" indent="-228600">
                  <a:buFont typeface="+mj-lt"/>
                  <a:buAutoNum type="arabicPeriod"/>
                </a:pPr>
                <a:r>
                  <a:rPr lang="it-IT" sz="1200" dirty="0">
                    <a:solidFill>
                      <a:schemeClr val="tx2">
                        <a:lumMod val="90000"/>
                        <a:lumOff val="10000"/>
                      </a:schemeClr>
                    </a:solidFill>
                    <a:latin typeface="Poppins "/>
                  </a:rPr>
                  <a:t>External wrench &amp; passive torques – Map Cartesian wrench to </a:t>
                </a:r>
                <a14:m>
                  <m:oMath xmlns:m="http://schemas.openxmlformats.org/officeDocument/2006/math">
                    <m:sSub>
                      <m:sSubPr>
                        <m:ctrlPr>
                          <a:rPr lang="it-IT" sz="1200" b="1" i="1" smtClean="0">
                            <a:solidFill>
                              <a:schemeClr val="tx2">
                                <a:lumMod val="90000"/>
                                <a:lumOff val="10000"/>
                              </a:schemeClr>
                            </a:solidFill>
                            <a:latin typeface="Cambria Math" panose="02040503050406030204" pitchFamily="18" charset="0"/>
                          </a:rPr>
                        </m:ctrlPr>
                      </m:sSubPr>
                      <m:e>
                        <m:r>
                          <a:rPr lang="it-IT" sz="1200" b="1" i="1">
                            <a:solidFill>
                              <a:schemeClr val="tx2">
                                <a:lumMod val="90000"/>
                                <a:lumOff val="10000"/>
                              </a:schemeClr>
                            </a:solidFill>
                            <a:latin typeface="Cambria Math" panose="02040503050406030204" pitchFamily="18" charset="0"/>
                          </a:rPr>
                          <m:t>𝝉</m:t>
                        </m:r>
                      </m:e>
                      <m:sub>
                        <m:r>
                          <a:rPr lang="it-IT" sz="1200" b="1" i="1" smtClean="0">
                            <a:solidFill>
                              <a:schemeClr val="tx2">
                                <a:lumMod val="90000"/>
                                <a:lumOff val="10000"/>
                              </a:schemeClr>
                            </a:solidFill>
                            <a:latin typeface="Cambria Math" panose="02040503050406030204" pitchFamily="18" charset="0"/>
                          </a:rPr>
                          <m:t>𝒆𝒙𝒕</m:t>
                        </m:r>
                        <m:r>
                          <a:rPr lang="it-IT" sz="1200" b="1" i="1" smtClean="0">
                            <a:solidFill>
                              <a:schemeClr val="tx2">
                                <a:lumMod val="90000"/>
                                <a:lumOff val="10000"/>
                              </a:schemeClr>
                            </a:solidFill>
                            <a:latin typeface="Cambria Math" panose="02040503050406030204" pitchFamily="18" charset="0"/>
                          </a:rPr>
                          <m:t>,</m:t>
                        </m:r>
                        <m:r>
                          <a:rPr lang="it-IT" sz="1200" b="1" i="1" smtClean="0">
                            <a:solidFill>
                              <a:schemeClr val="tx2">
                                <a:lumMod val="90000"/>
                                <a:lumOff val="10000"/>
                              </a:schemeClr>
                            </a:solidFill>
                            <a:latin typeface="Cambria Math" panose="02040503050406030204" pitchFamily="18" charset="0"/>
                          </a:rPr>
                          <m:t>𝜽</m:t>
                        </m:r>
                      </m:sub>
                    </m:sSub>
                  </m:oMath>
                </a14:m>
                <a:r>
                  <a:rPr lang="it-IT" sz="1200" dirty="0">
                    <a:solidFill>
                      <a:schemeClr val="tx2">
                        <a:lumMod val="90000"/>
                        <a:lumOff val="10000"/>
                      </a:schemeClr>
                    </a:solidFill>
                    <a:latin typeface="Poppins "/>
                  </a:rPr>
                  <a:t> ; compute Fung spring‑damper torques on finger joints.</a:t>
                </a:r>
              </a:p>
              <a:p>
                <a:pPr marL="228600" indent="-228600">
                  <a:buFont typeface="+mj-lt"/>
                  <a:buAutoNum type="arabicPeriod"/>
                </a:pPr>
                <a:r>
                  <a:rPr lang="it-IT" sz="1200" b="1" dirty="0">
                    <a:solidFill>
                      <a:schemeClr val="tx2">
                        <a:lumMod val="90000"/>
                        <a:lumOff val="10000"/>
                      </a:schemeClr>
                    </a:solidFill>
                    <a:latin typeface="Poppins "/>
                  </a:rPr>
                  <a:t>Reduced scalar equation</a:t>
                </a:r>
                <a:r>
                  <a:rPr lang="it-IT" sz="1200" dirty="0">
                    <a:solidFill>
                      <a:schemeClr val="tx2">
                        <a:lumMod val="90000"/>
                        <a:lumOff val="10000"/>
                      </a:schemeClr>
                    </a:solidFill>
                    <a:latin typeface="Poppins "/>
                  </a:rPr>
                  <a:t> – Effective inertia </a:t>
                </a:r>
                <a14:m>
                  <m:oMath xmlns:m="http://schemas.openxmlformats.org/officeDocument/2006/math">
                    <m:sSub>
                      <m:sSubPr>
                        <m:ctrlPr>
                          <a:rPr lang="it-IT" sz="1200" b="1" i="1" smtClean="0">
                            <a:solidFill>
                              <a:schemeClr val="tx2">
                                <a:lumMod val="90000"/>
                                <a:lumOff val="10000"/>
                              </a:schemeClr>
                            </a:solidFill>
                            <a:latin typeface="Cambria Math" panose="02040503050406030204" pitchFamily="18" charset="0"/>
                          </a:rPr>
                        </m:ctrlPr>
                      </m:sSubPr>
                      <m:e>
                        <m:r>
                          <a:rPr lang="it-IT" sz="1200" b="1" i="1" smtClean="0">
                            <a:solidFill>
                              <a:schemeClr val="tx2">
                                <a:lumMod val="90000"/>
                                <a:lumOff val="10000"/>
                              </a:schemeClr>
                            </a:solidFill>
                            <a:latin typeface="Cambria Math" panose="02040503050406030204" pitchFamily="18" charset="0"/>
                          </a:rPr>
                          <m:t>𝑴</m:t>
                        </m:r>
                      </m:e>
                      <m:sub>
                        <m:r>
                          <a:rPr lang="it-IT" sz="1200" b="1" i="1" smtClean="0">
                            <a:solidFill>
                              <a:schemeClr val="tx2">
                                <a:lumMod val="90000"/>
                                <a:lumOff val="10000"/>
                              </a:schemeClr>
                            </a:solidFill>
                            <a:latin typeface="Cambria Math" panose="02040503050406030204" pitchFamily="18" charset="0"/>
                          </a:rPr>
                          <m:t>𝒆𝒇𝒇</m:t>
                        </m:r>
                      </m:sub>
                    </m:sSub>
                    <m:r>
                      <a:rPr lang="it-IT" sz="1200" b="1" i="1" smtClean="0">
                        <a:solidFill>
                          <a:schemeClr val="tx2">
                            <a:lumMod val="90000"/>
                            <a:lumOff val="10000"/>
                          </a:schemeClr>
                        </a:solidFill>
                        <a:latin typeface="Cambria Math" panose="02040503050406030204" pitchFamily="18" charset="0"/>
                      </a:rPr>
                      <m:t>=</m:t>
                    </m:r>
                    <m:sSup>
                      <m:sSupPr>
                        <m:ctrlPr>
                          <a:rPr lang="it-IT" sz="1200" b="1" i="1" smtClean="0">
                            <a:solidFill>
                              <a:schemeClr val="tx2">
                                <a:lumMod val="90000"/>
                                <a:lumOff val="10000"/>
                              </a:schemeClr>
                            </a:solidFill>
                            <a:latin typeface="Cambria Math" panose="02040503050406030204" pitchFamily="18" charset="0"/>
                          </a:rPr>
                        </m:ctrlPr>
                      </m:sSupPr>
                      <m:e>
                        <m:r>
                          <a:rPr lang="it-IT" sz="1200" b="1" i="1" smtClean="0">
                            <a:solidFill>
                              <a:schemeClr val="tx2">
                                <a:lumMod val="90000"/>
                                <a:lumOff val="10000"/>
                              </a:schemeClr>
                            </a:solidFill>
                            <a:latin typeface="Cambria Math" panose="02040503050406030204" pitchFamily="18" charset="0"/>
                          </a:rPr>
                          <m:t>𝑩</m:t>
                        </m:r>
                      </m:e>
                      <m:sup>
                        <m:r>
                          <a:rPr lang="it-IT" sz="1200" b="1" i="1" smtClean="0">
                            <a:solidFill>
                              <a:schemeClr val="tx2">
                                <a:lumMod val="90000"/>
                                <a:lumOff val="10000"/>
                              </a:schemeClr>
                            </a:solidFill>
                            <a:latin typeface="Cambria Math" panose="02040503050406030204" pitchFamily="18" charset="0"/>
                          </a:rPr>
                          <m:t>𝑻</m:t>
                        </m:r>
                      </m:sup>
                    </m:sSup>
                    <m:r>
                      <a:rPr lang="it-IT" sz="1200" b="1" i="1" smtClean="0">
                        <a:solidFill>
                          <a:schemeClr val="tx2">
                            <a:lumMod val="90000"/>
                            <a:lumOff val="10000"/>
                          </a:schemeClr>
                        </a:solidFill>
                        <a:latin typeface="Cambria Math" panose="02040503050406030204" pitchFamily="18" charset="0"/>
                      </a:rPr>
                      <m:t>𝑴𝑩</m:t>
                    </m:r>
                    <m:r>
                      <a:rPr lang="it-IT" sz="1200" b="1" i="1" smtClean="0">
                        <a:solidFill>
                          <a:schemeClr val="tx2">
                            <a:lumMod val="90000"/>
                            <a:lumOff val="10000"/>
                          </a:schemeClr>
                        </a:solidFill>
                        <a:latin typeface="Cambria Math" panose="02040503050406030204" pitchFamily="18" charset="0"/>
                      </a:rPr>
                      <m:t>+</m:t>
                    </m:r>
                    <m:sSub>
                      <m:sSubPr>
                        <m:ctrlPr>
                          <a:rPr lang="it-IT" sz="1200" b="1" i="1" smtClean="0">
                            <a:solidFill>
                              <a:schemeClr val="tx2">
                                <a:lumMod val="90000"/>
                                <a:lumOff val="10000"/>
                              </a:schemeClr>
                            </a:solidFill>
                            <a:latin typeface="Cambria Math" panose="02040503050406030204" pitchFamily="18" charset="0"/>
                          </a:rPr>
                        </m:ctrlPr>
                      </m:sSubPr>
                      <m:e>
                        <m:r>
                          <a:rPr lang="it-IT" sz="1200" b="1" i="1" smtClean="0">
                            <a:solidFill>
                              <a:schemeClr val="tx2">
                                <a:lumMod val="90000"/>
                                <a:lumOff val="10000"/>
                              </a:schemeClr>
                            </a:solidFill>
                            <a:latin typeface="Cambria Math" panose="02040503050406030204" pitchFamily="18" charset="0"/>
                          </a:rPr>
                          <m:t>𝑱</m:t>
                        </m:r>
                      </m:e>
                      <m:sub>
                        <m:r>
                          <a:rPr lang="it-IT" sz="1200" b="1" i="1" smtClean="0">
                            <a:solidFill>
                              <a:schemeClr val="tx2">
                                <a:lumMod val="90000"/>
                                <a:lumOff val="10000"/>
                              </a:schemeClr>
                            </a:solidFill>
                            <a:latin typeface="Cambria Math" panose="02040503050406030204" pitchFamily="18" charset="0"/>
                          </a:rPr>
                          <m:t>𝒎</m:t>
                        </m:r>
                      </m:sub>
                    </m:sSub>
                  </m:oMath>
                </a14:m>
                <a:r>
                  <a:rPr lang="it-IT" sz="1200" dirty="0">
                    <a:solidFill>
                      <a:schemeClr val="tx2">
                        <a:lumMod val="90000"/>
                        <a:lumOff val="10000"/>
                      </a:schemeClr>
                    </a:solidFill>
                    <a:latin typeface="Poppins "/>
                  </a:rPr>
                  <a:t>, projection </a:t>
                </a:r>
                <a14:m>
                  <m:oMath xmlns:m="http://schemas.openxmlformats.org/officeDocument/2006/math">
                    <m:r>
                      <a:rPr lang="it-IT" sz="1200" b="1" i="1" smtClean="0">
                        <a:solidFill>
                          <a:schemeClr val="tx2">
                            <a:lumMod val="90000"/>
                            <a:lumOff val="10000"/>
                          </a:schemeClr>
                        </a:solidFill>
                        <a:latin typeface="Cambria Math" panose="02040503050406030204" pitchFamily="18" charset="0"/>
                      </a:rPr>
                      <m:t>𝒑𝒓𝒐𝒋</m:t>
                    </m:r>
                    <m:r>
                      <a:rPr lang="it-IT" sz="1200" b="1" i="1" smtClean="0">
                        <a:solidFill>
                          <a:schemeClr val="tx2">
                            <a:lumMod val="90000"/>
                            <a:lumOff val="10000"/>
                          </a:schemeClr>
                        </a:solidFill>
                        <a:latin typeface="Cambria Math" panose="02040503050406030204" pitchFamily="18" charset="0"/>
                      </a:rPr>
                      <m:t>= </m:t>
                    </m:r>
                    <m:sSup>
                      <m:sSupPr>
                        <m:ctrlPr>
                          <a:rPr lang="it-IT" sz="1200" b="1" i="1" smtClean="0">
                            <a:solidFill>
                              <a:schemeClr val="tx2">
                                <a:lumMod val="90000"/>
                                <a:lumOff val="10000"/>
                              </a:schemeClr>
                            </a:solidFill>
                            <a:latin typeface="Cambria Math" panose="02040503050406030204" pitchFamily="18" charset="0"/>
                          </a:rPr>
                        </m:ctrlPr>
                      </m:sSupPr>
                      <m:e>
                        <m:r>
                          <a:rPr lang="it-IT" sz="1200" b="1" i="1" smtClean="0">
                            <a:solidFill>
                              <a:schemeClr val="tx2">
                                <a:lumMod val="90000"/>
                                <a:lumOff val="10000"/>
                              </a:schemeClr>
                            </a:solidFill>
                            <a:latin typeface="Cambria Math" panose="02040503050406030204" pitchFamily="18" charset="0"/>
                          </a:rPr>
                          <m:t>𝑩</m:t>
                        </m:r>
                      </m:e>
                      <m:sup>
                        <m:r>
                          <a:rPr lang="it-IT" sz="1200" b="1" i="1" smtClean="0">
                            <a:solidFill>
                              <a:schemeClr val="tx2">
                                <a:lumMod val="90000"/>
                                <a:lumOff val="10000"/>
                              </a:schemeClr>
                            </a:solidFill>
                            <a:latin typeface="Cambria Math" panose="02040503050406030204" pitchFamily="18" charset="0"/>
                          </a:rPr>
                          <m:t>𝑻</m:t>
                        </m:r>
                      </m:sup>
                    </m:sSup>
                    <m:r>
                      <a:rPr lang="it-IT" sz="1200" b="1" i="1" smtClean="0">
                        <a:solidFill>
                          <a:schemeClr val="tx2">
                            <a:lumMod val="90000"/>
                            <a:lumOff val="10000"/>
                          </a:schemeClr>
                        </a:solidFill>
                        <a:latin typeface="Cambria Math" panose="02040503050406030204" pitchFamily="18" charset="0"/>
                      </a:rPr>
                      <m:t>(</m:t>
                    </m:r>
                    <m:r>
                      <a:rPr lang="it-IT" sz="1200" b="1" i="1" smtClean="0">
                        <a:solidFill>
                          <a:schemeClr val="tx2">
                            <a:lumMod val="90000"/>
                            <a:lumOff val="10000"/>
                          </a:schemeClr>
                        </a:solidFill>
                        <a:latin typeface="Cambria Math" panose="02040503050406030204" pitchFamily="18" charset="0"/>
                      </a:rPr>
                      <m:t>𝑴</m:t>
                    </m:r>
                    <m:r>
                      <a:rPr lang="it-IT" sz="1200" b="1" i="1" smtClean="0">
                        <a:solidFill>
                          <a:schemeClr val="tx2">
                            <a:lumMod val="90000"/>
                            <a:lumOff val="10000"/>
                          </a:schemeClr>
                        </a:solidFill>
                        <a:latin typeface="Cambria Math" panose="02040503050406030204" pitchFamily="18" charset="0"/>
                      </a:rPr>
                      <m:t> </m:t>
                    </m:r>
                    <m:r>
                      <a:rPr lang="it-IT" sz="1200" b="1" i="1" smtClean="0">
                        <a:solidFill>
                          <a:schemeClr val="tx2">
                            <a:lumMod val="90000"/>
                            <a:lumOff val="10000"/>
                          </a:schemeClr>
                        </a:solidFill>
                        <a:latin typeface="Cambria Math" panose="02040503050406030204" pitchFamily="18" charset="0"/>
                      </a:rPr>
                      <m:t>𝑩</m:t>
                    </m:r>
                    <m:r>
                      <a:rPr lang="it-IT" sz="1200" b="1" i="1" smtClean="0">
                        <a:solidFill>
                          <a:schemeClr val="tx2">
                            <a:lumMod val="90000"/>
                            <a:lumOff val="10000"/>
                          </a:schemeClr>
                        </a:solidFill>
                        <a:latin typeface="Cambria Math" panose="02040503050406030204" pitchFamily="18" charset="0"/>
                      </a:rPr>
                      <m:t>̇</m:t>
                    </m:r>
                    <m:r>
                      <a:rPr lang="it-IT" sz="1200" b="1" i="1" smtClean="0">
                        <a:solidFill>
                          <a:schemeClr val="tx2">
                            <a:lumMod val="90000"/>
                            <a:lumOff val="10000"/>
                          </a:schemeClr>
                        </a:solidFill>
                        <a:latin typeface="Cambria Math" panose="02040503050406030204" pitchFamily="18" charset="0"/>
                      </a:rPr>
                      <m:t> </m:t>
                    </m:r>
                    <m:r>
                      <a:rPr lang="it-IT" sz="1200" b="1" i="1" smtClean="0">
                        <a:solidFill>
                          <a:schemeClr val="tx2">
                            <a:lumMod val="90000"/>
                            <a:lumOff val="10000"/>
                          </a:schemeClr>
                        </a:solidFill>
                        <a:latin typeface="Cambria Math" panose="02040503050406030204" pitchFamily="18" charset="0"/>
                      </a:rPr>
                      <m:t>𝜽</m:t>
                    </m:r>
                    <m:r>
                      <a:rPr lang="it-IT" sz="1200" b="1" i="1" smtClean="0">
                        <a:solidFill>
                          <a:schemeClr val="tx2">
                            <a:lumMod val="90000"/>
                            <a:lumOff val="10000"/>
                          </a:schemeClr>
                        </a:solidFill>
                        <a:latin typeface="Cambria Math" panose="02040503050406030204" pitchFamily="18" charset="0"/>
                      </a:rPr>
                      <m:t> + </m:t>
                    </m:r>
                    <m:r>
                      <a:rPr lang="it-IT" sz="1200" b="1" i="1" smtClean="0">
                        <a:solidFill>
                          <a:schemeClr val="tx2">
                            <a:lumMod val="90000"/>
                            <a:lumOff val="10000"/>
                          </a:schemeClr>
                        </a:solidFill>
                        <a:latin typeface="Cambria Math" panose="02040503050406030204" pitchFamily="18" charset="0"/>
                      </a:rPr>
                      <m:t>𝒉</m:t>
                    </m:r>
                    <m:r>
                      <a:rPr lang="it-IT" sz="1200" b="1" i="1" smtClean="0">
                        <a:solidFill>
                          <a:schemeClr val="tx2">
                            <a:lumMod val="90000"/>
                            <a:lumOff val="10000"/>
                          </a:schemeClr>
                        </a:solidFill>
                        <a:latin typeface="Cambria Math" panose="02040503050406030204" pitchFamily="18" charset="0"/>
                      </a:rPr>
                      <m:t>)</m:t>
                    </m:r>
                  </m:oMath>
                </a14:m>
                <a:endParaRPr lang="it-IT" sz="1200" b="1" dirty="0">
                  <a:solidFill>
                    <a:schemeClr val="tx2">
                      <a:lumMod val="90000"/>
                      <a:lumOff val="10000"/>
                    </a:schemeClr>
                  </a:solidFill>
                  <a:latin typeface="Poppins "/>
                </a:endParaRPr>
              </a:p>
              <a:p>
                <a:pPr marL="228600" indent="-228600">
                  <a:buFont typeface="+mj-lt"/>
                  <a:buAutoNum type="arabicPeriod"/>
                </a:pPr>
                <a:r>
                  <a:rPr lang="it-IT" sz="1200" b="1" dirty="0">
                    <a:solidFill>
                      <a:schemeClr val="tx2">
                        <a:lumMod val="90000"/>
                        <a:lumOff val="10000"/>
                      </a:schemeClr>
                    </a:solidFill>
                    <a:latin typeface="Poppins "/>
                  </a:rPr>
                  <a:t>Friction &amp; damping</a:t>
                </a:r>
                <a:r>
                  <a:rPr lang="it-IT" sz="1200" dirty="0">
                    <a:solidFill>
                      <a:schemeClr val="tx2">
                        <a:lumMod val="90000"/>
                        <a:lumOff val="10000"/>
                      </a:schemeClr>
                    </a:solidFill>
                    <a:latin typeface="Poppins "/>
                  </a:rPr>
                  <a:t> – Coulomb + viscous + additional damping on theta.</a:t>
                </a:r>
              </a:p>
              <a:p>
                <a:pPr marL="228600" indent="-228600">
                  <a:buFont typeface="+mj-lt"/>
                  <a:buAutoNum type="arabicPeriod"/>
                </a:pPr>
                <a:r>
                  <a:rPr lang="it-IT" sz="1200" b="1" dirty="0">
                    <a:solidFill>
                      <a:schemeClr val="tx2">
                        <a:lumMod val="90000"/>
                        <a:lumOff val="10000"/>
                      </a:schemeClr>
                    </a:solidFill>
                    <a:latin typeface="Poppins "/>
                  </a:rPr>
                  <a:t>Compute </a:t>
                </a:r>
                <a14:m>
                  <m:oMath xmlns:m="http://schemas.openxmlformats.org/officeDocument/2006/math">
                    <m:acc>
                      <m:accPr>
                        <m:chr m:val="̈"/>
                        <m:ctrlPr>
                          <a:rPr lang="it-IT" sz="1200" b="1" i="1" smtClean="0">
                            <a:solidFill>
                              <a:schemeClr val="tx2">
                                <a:lumMod val="90000"/>
                                <a:lumOff val="10000"/>
                              </a:schemeClr>
                            </a:solidFill>
                            <a:latin typeface="Cambria Math" panose="02040503050406030204" pitchFamily="18" charset="0"/>
                          </a:rPr>
                        </m:ctrlPr>
                      </m:accPr>
                      <m:e>
                        <m:r>
                          <m:rPr>
                            <m:sty m:val="p"/>
                          </m:rPr>
                          <a:rPr lang="it-IT" sz="1200" b="1" i="1" smtClean="0">
                            <a:solidFill>
                              <a:schemeClr val="tx2">
                                <a:lumMod val="90000"/>
                                <a:lumOff val="10000"/>
                              </a:schemeClr>
                            </a:solidFill>
                            <a:latin typeface="Cambria Math" panose="02040503050406030204" pitchFamily="18" charset="0"/>
                          </a:rPr>
                          <m:t>θ</m:t>
                        </m:r>
                      </m:e>
                    </m:acc>
                  </m:oMath>
                </a14:m>
                <a:r>
                  <a:rPr lang="el-GR" sz="1200" dirty="0">
                    <a:solidFill>
                      <a:schemeClr val="tx2">
                        <a:lumMod val="90000"/>
                        <a:lumOff val="10000"/>
                      </a:schemeClr>
                    </a:solidFill>
                    <a:latin typeface="Poppins "/>
                  </a:rPr>
                  <a:t> – </a:t>
                </a:r>
                <a:r>
                  <a:rPr lang="it-IT" sz="1200" dirty="0">
                    <a:solidFill>
                      <a:schemeClr val="tx2">
                        <a:lumMod val="90000"/>
                        <a:lumOff val="10000"/>
                      </a:schemeClr>
                    </a:solidFill>
                    <a:latin typeface="Poppins "/>
                  </a:rPr>
                  <a:t>From </a:t>
                </a:r>
                <a14:m>
                  <m:oMath xmlns:m="http://schemas.openxmlformats.org/officeDocument/2006/math">
                    <m:acc>
                      <m:accPr>
                        <m:chr m:val="̈"/>
                        <m:ctrlPr>
                          <a:rPr lang="it-IT" sz="1200" b="1" i="1" smtClean="0">
                            <a:solidFill>
                              <a:schemeClr val="tx2">
                                <a:lumMod val="90000"/>
                                <a:lumOff val="10000"/>
                              </a:schemeClr>
                            </a:solidFill>
                            <a:latin typeface="Cambria Math" panose="02040503050406030204" pitchFamily="18" charset="0"/>
                          </a:rPr>
                        </m:ctrlPr>
                      </m:accPr>
                      <m:e>
                        <m:r>
                          <a:rPr lang="it-IT" sz="1200" b="1" i="1" smtClean="0">
                            <a:solidFill>
                              <a:schemeClr val="tx2">
                                <a:lumMod val="90000"/>
                                <a:lumOff val="10000"/>
                              </a:schemeClr>
                            </a:solidFill>
                            <a:latin typeface="Cambria Math" panose="02040503050406030204" pitchFamily="18" charset="0"/>
                          </a:rPr>
                          <m:t>𝜽</m:t>
                        </m:r>
                      </m:e>
                    </m:acc>
                    <m:r>
                      <a:rPr lang="it-IT" sz="1200" b="1" i="1" smtClean="0">
                        <a:solidFill>
                          <a:schemeClr val="tx2">
                            <a:lumMod val="90000"/>
                            <a:lumOff val="10000"/>
                          </a:schemeClr>
                        </a:solidFill>
                        <a:latin typeface="Cambria Math" panose="02040503050406030204" pitchFamily="18" charset="0"/>
                      </a:rPr>
                      <m:t>=</m:t>
                    </m:r>
                    <m:d>
                      <m:dPr>
                        <m:ctrlPr>
                          <a:rPr lang="it-IT" sz="1200" b="1" i="1" smtClean="0">
                            <a:solidFill>
                              <a:schemeClr val="tx2">
                                <a:lumMod val="90000"/>
                                <a:lumOff val="10000"/>
                              </a:schemeClr>
                            </a:solidFill>
                            <a:latin typeface="Cambria Math" panose="02040503050406030204" pitchFamily="18" charset="0"/>
                          </a:rPr>
                        </m:ctrlPr>
                      </m:dPr>
                      <m:e>
                        <m:sSub>
                          <m:sSubPr>
                            <m:ctrlPr>
                              <a:rPr lang="it-IT" sz="1200" b="1" i="1" smtClean="0">
                                <a:solidFill>
                                  <a:schemeClr val="tx2">
                                    <a:lumMod val="90000"/>
                                    <a:lumOff val="10000"/>
                                  </a:schemeClr>
                                </a:solidFill>
                                <a:latin typeface="Cambria Math" panose="02040503050406030204" pitchFamily="18" charset="0"/>
                              </a:rPr>
                            </m:ctrlPr>
                          </m:sSubPr>
                          <m:e>
                            <m:r>
                              <a:rPr lang="it-IT" sz="1200" b="1" i="1" smtClean="0">
                                <a:solidFill>
                                  <a:schemeClr val="tx2">
                                    <a:lumMod val="90000"/>
                                    <a:lumOff val="10000"/>
                                  </a:schemeClr>
                                </a:solidFill>
                                <a:latin typeface="Cambria Math" panose="02040503050406030204" pitchFamily="18" charset="0"/>
                              </a:rPr>
                              <m:t>𝝉</m:t>
                            </m:r>
                          </m:e>
                          <m:sub>
                            <m:r>
                              <a:rPr lang="it-IT" sz="1200" b="1" i="1" smtClean="0">
                                <a:solidFill>
                                  <a:schemeClr val="tx2">
                                    <a:lumMod val="90000"/>
                                    <a:lumOff val="10000"/>
                                  </a:schemeClr>
                                </a:solidFill>
                                <a:latin typeface="Cambria Math" panose="02040503050406030204" pitchFamily="18" charset="0"/>
                              </a:rPr>
                              <m:t>𝒎</m:t>
                            </m:r>
                          </m:sub>
                        </m:sSub>
                        <m:r>
                          <a:rPr lang="it-IT" sz="1200" b="1" i="1" smtClean="0">
                            <a:solidFill>
                              <a:schemeClr val="tx2">
                                <a:lumMod val="90000"/>
                                <a:lumOff val="10000"/>
                              </a:schemeClr>
                            </a:solidFill>
                            <a:latin typeface="Cambria Math" panose="02040503050406030204" pitchFamily="18" charset="0"/>
                          </a:rPr>
                          <m:t>+</m:t>
                        </m:r>
                        <m:sSub>
                          <m:sSubPr>
                            <m:ctrlPr>
                              <a:rPr lang="it-IT" sz="1200" b="1" i="1" smtClean="0">
                                <a:solidFill>
                                  <a:schemeClr val="tx2">
                                    <a:lumMod val="90000"/>
                                    <a:lumOff val="10000"/>
                                  </a:schemeClr>
                                </a:solidFill>
                                <a:latin typeface="Cambria Math" panose="02040503050406030204" pitchFamily="18" charset="0"/>
                              </a:rPr>
                            </m:ctrlPr>
                          </m:sSubPr>
                          <m:e>
                            <m:r>
                              <a:rPr lang="it-IT" sz="1200" b="1" i="1" smtClean="0">
                                <a:solidFill>
                                  <a:schemeClr val="tx2">
                                    <a:lumMod val="90000"/>
                                    <a:lumOff val="10000"/>
                                  </a:schemeClr>
                                </a:solidFill>
                                <a:latin typeface="Cambria Math" panose="02040503050406030204" pitchFamily="18" charset="0"/>
                              </a:rPr>
                              <m:t>𝝉</m:t>
                            </m:r>
                          </m:e>
                          <m:sub>
                            <m:r>
                              <a:rPr lang="it-IT" sz="1200" b="1" i="1" smtClean="0">
                                <a:solidFill>
                                  <a:schemeClr val="tx2">
                                    <a:lumMod val="90000"/>
                                    <a:lumOff val="10000"/>
                                  </a:schemeClr>
                                </a:solidFill>
                                <a:latin typeface="Cambria Math" panose="02040503050406030204" pitchFamily="18" charset="0"/>
                              </a:rPr>
                              <m:t>𝒑𝒂𝒔𝒔</m:t>
                            </m:r>
                            <m:r>
                              <a:rPr lang="it-IT" sz="1200" b="1" i="1" smtClean="0">
                                <a:solidFill>
                                  <a:schemeClr val="tx2">
                                    <a:lumMod val="90000"/>
                                    <a:lumOff val="10000"/>
                                  </a:schemeClr>
                                </a:solidFill>
                                <a:latin typeface="Cambria Math" panose="02040503050406030204" pitchFamily="18" charset="0"/>
                              </a:rPr>
                              <m:t>,</m:t>
                            </m:r>
                            <m:r>
                              <a:rPr lang="it-IT" sz="1200" b="1" i="1" smtClean="0">
                                <a:solidFill>
                                  <a:schemeClr val="tx2">
                                    <a:lumMod val="90000"/>
                                    <a:lumOff val="10000"/>
                                  </a:schemeClr>
                                </a:solidFill>
                                <a:latin typeface="Cambria Math" panose="02040503050406030204" pitchFamily="18" charset="0"/>
                              </a:rPr>
                              <m:t>𝜽</m:t>
                            </m:r>
                          </m:sub>
                        </m:sSub>
                        <m:r>
                          <a:rPr lang="it-IT" sz="1200" b="1" i="1" smtClean="0">
                            <a:solidFill>
                              <a:schemeClr val="tx2">
                                <a:lumMod val="90000"/>
                                <a:lumOff val="10000"/>
                              </a:schemeClr>
                            </a:solidFill>
                            <a:latin typeface="Cambria Math" panose="02040503050406030204" pitchFamily="18" charset="0"/>
                          </a:rPr>
                          <m:t>+</m:t>
                        </m:r>
                        <m:sSub>
                          <m:sSubPr>
                            <m:ctrlPr>
                              <a:rPr lang="it-IT" sz="1200" b="1" i="1" smtClean="0">
                                <a:solidFill>
                                  <a:schemeClr val="tx2">
                                    <a:lumMod val="90000"/>
                                    <a:lumOff val="10000"/>
                                  </a:schemeClr>
                                </a:solidFill>
                                <a:latin typeface="Cambria Math" panose="02040503050406030204" pitchFamily="18" charset="0"/>
                              </a:rPr>
                            </m:ctrlPr>
                          </m:sSubPr>
                          <m:e>
                            <m:r>
                              <a:rPr lang="it-IT" sz="1200" b="1" i="1" smtClean="0">
                                <a:solidFill>
                                  <a:schemeClr val="tx2">
                                    <a:lumMod val="90000"/>
                                    <a:lumOff val="10000"/>
                                  </a:schemeClr>
                                </a:solidFill>
                                <a:latin typeface="Cambria Math" panose="02040503050406030204" pitchFamily="18" charset="0"/>
                              </a:rPr>
                              <m:t>𝝉</m:t>
                            </m:r>
                          </m:e>
                          <m:sub>
                            <m:r>
                              <a:rPr lang="it-IT" sz="1200" b="1" i="1" smtClean="0">
                                <a:solidFill>
                                  <a:schemeClr val="tx2">
                                    <a:lumMod val="90000"/>
                                    <a:lumOff val="10000"/>
                                  </a:schemeClr>
                                </a:solidFill>
                                <a:latin typeface="Cambria Math" panose="02040503050406030204" pitchFamily="18" charset="0"/>
                              </a:rPr>
                              <m:t>𝒆𝒙𝒕</m:t>
                            </m:r>
                            <m:r>
                              <a:rPr lang="it-IT" sz="1200" b="1" i="1" smtClean="0">
                                <a:solidFill>
                                  <a:schemeClr val="tx2">
                                    <a:lumMod val="90000"/>
                                    <a:lumOff val="10000"/>
                                  </a:schemeClr>
                                </a:solidFill>
                                <a:latin typeface="Cambria Math" panose="02040503050406030204" pitchFamily="18" charset="0"/>
                              </a:rPr>
                              <m:t>,</m:t>
                            </m:r>
                            <m:r>
                              <a:rPr lang="it-IT" sz="1200" b="1" i="1" smtClean="0">
                                <a:solidFill>
                                  <a:schemeClr val="tx2">
                                    <a:lumMod val="90000"/>
                                    <a:lumOff val="10000"/>
                                  </a:schemeClr>
                                </a:solidFill>
                                <a:latin typeface="Cambria Math" panose="02040503050406030204" pitchFamily="18" charset="0"/>
                              </a:rPr>
                              <m:t>𝜽</m:t>
                            </m:r>
                          </m:sub>
                        </m:sSub>
                        <m:r>
                          <a:rPr lang="it-IT" sz="1200" b="1" i="1" smtClean="0">
                            <a:solidFill>
                              <a:schemeClr val="tx2">
                                <a:lumMod val="90000"/>
                                <a:lumOff val="10000"/>
                              </a:schemeClr>
                            </a:solidFill>
                            <a:latin typeface="Cambria Math" panose="02040503050406030204" pitchFamily="18" charset="0"/>
                          </a:rPr>
                          <m:t>−</m:t>
                        </m:r>
                        <m:r>
                          <a:rPr lang="it-IT" sz="1200" b="1" i="1" smtClean="0">
                            <a:solidFill>
                              <a:schemeClr val="tx2">
                                <a:lumMod val="90000"/>
                                <a:lumOff val="10000"/>
                              </a:schemeClr>
                            </a:solidFill>
                            <a:latin typeface="Cambria Math" panose="02040503050406030204" pitchFamily="18" charset="0"/>
                          </a:rPr>
                          <m:t>𝒑𝒓𝒐𝒋</m:t>
                        </m:r>
                        <m:r>
                          <a:rPr lang="it-IT" sz="1200" b="1" i="1" smtClean="0">
                            <a:solidFill>
                              <a:schemeClr val="tx2">
                                <a:lumMod val="90000"/>
                                <a:lumOff val="10000"/>
                              </a:schemeClr>
                            </a:solidFill>
                            <a:latin typeface="Cambria Math" panose="02040503050406030204" pitchFamily="18" charset="0"/>
                          </a:rPr>
                          <m:t>−</m:t>
                        </m:r>
                        <m:sSub>
                          <m:sSubPr>
                            <m:ctrlPr>
                              <a:rPr lang="it-IT" sz="1200" b="1" i="1" smtClean="0">
                                <a:solidFill>
                                  <a:schemeClr val="tx2">
                                    <a:lumMod val="90000"/>
                                    <a:lumOff val="10000"/>
                                  </a:schemeClr>
                                </a:solidFill>
                                <a:latin typeface="Cambria Math" panose="02040503050406030204" pitchFamily="18" charset="0"/>
                              </a:rPr>
                            </m:ctrlPr>
                          </m:sSubPr>
                          <m:e>
                            <m:r>
                              <a:rPr lang="it-IT" sz="1200" b="1" i="1" smtClean="0">
                                <a:solidFill>
                                  <a:schemeClr val="tx2">
                                    <a:lumMod val="90000"/>
                                    <a:lumOff val="10000"/>
                                  </a:schemeClr>
                                </a:solidFill>
                                <a:latin typeface="Cambria Math" panose="02040503050406030204" pitchFamily="18" charset="0"/>
                              </a:rPr>
                              <m:t>𝝉</m:t>
                            </m:r>
                          </m:e>
                          <m:sub>
                            <m:r>
                              <a:rPr lang="it-IT" sz="1200" b="1" i="1" smtClean="0">
                                <a:solidFill>
                                  <a:schemeClr val="tx2">
                                    <a:lumMod val="90000"/>
                                    <a:lumOff val="10000"/>
                                  </a:schemeClr>
                                </a:solidFill>
                                <a:latin typeface="Cambria Math" panose="02040503050406030204" pitchFamily="18" charset="0"/>
                              </a:rPr>
                              <m:t>𝒇𝒓𝒊𝒄</m:t>
                            </m:r>
                          </m:sub>
                        </m:sSub>
                        <m:r>
                          <a:rPr lang="it-IT" sz="1200" b="1" i="1" smtClean="0">
                            <a:solidFill>
                              <a:schemeClr val="tx2">
                                <a:lumMod val="90000"/>
                                <a:lumOff val="10000"/>
                              </a:schemeClr>
                            </a:solidFill>
                            <a:latin typeface="Cambria Math" panose="02040503050406030204" pitchFamily="18" charset="0"/>
                          </a:rPr>
                          <m:t>−</m:t>
                        </m:r>
                        <m:sSub>
                          <m:sSubPr>
                            <m:ctrlPr>
                              <a:rPr lang="it-IT" sz="1200" b="1" i="1" smtClean="0">
                                <a:solidFill>
                                  <a:schemeClr val="tx2">
                                    <a:lumMod val="90000"/>
                                    <a:lumOff val="10000"/>
                                  </a:schemeClr>
                                </a:solidFill>
                                <a:latin typeface="Cambria Math" panose="02040503050406030204" pitchFamily="18" charset="0"/>
                              </a:rPr>
                            </m:ctrlPr>
                          </m:sSubPr>
                          <m:e>
                            <m:r>
                              <a:rPr lang="it-IT" sz="1200" b="1" i="1" smtClean="0">
                                <a:solidFill>
                                  <a:schemeClr val="tx2">
                                    <a:lumMod val="90000"/>
                                    <a:lumOff val="10000"/>
                                  </a:schemeClr>
                                </a:solidFill>
                                <a:latin typeface="Cambria Math" panose="02040503050406030204" pitchFamily="18" charset="0"/>
                              </a:rPr>
                              <m:t>𝝉</m:t>
                            </m:r>
                          </m:e>
                          <m:sub>
                            <m:r>
                              <a:rPr lang="it-IT" sz="1200" b="1" i="1" smtClean="0">
                                <a:solidFill>
                                  <a:schemeClr val="tx2">
                                    <a:lumMod val="90000"/>
                                    <a:lumOff val="10000"/>
                                  </a:schemeClr>
                                </a:solidFill>
                                <a:latin typeface="Cambria Math" panose="02040503050406030204" pitchFamily="18" charset="0"/>
                              </a:rPr>
                              <m:t>𝒅𝒂𝒎𝒑</m:t>
                            </m:r>
                          </m:sub>
                        </m:sSub>
                      </m:e>
                    </m:d>
                    <m:r>
                      <m:rPr>
                        <m:lit/>
                      </m:rPr>
                      <a:rPr lang="it-IT" sz="1200" b="1" i="1" smtClean="0">
                        <a:solidFill>
                          <a:schemeClr val="tx2">
                            <a:lumMod val="90000"/>
                            <a:lumOff val="10000"/>
                          </a:schemeClr>
                        </a:solidFill>
                        <a:latin typeface="Cambria Math" panose="02040503050406030204" pitchFamily="18" charset="0"/>
                      </a:rPr>
                      <m:t>/</m:t>
                    </m:r>
                    <m:sSub>
                      <m:sSubPr>
                        <m:ctrlPr>
                          <a:rPr lang="it-IT" sz="1200" b="1" i="1" smtClean="0">
                            <a:solidFill>
                              <a:schemeClr val="tx2">
                                <a:lumMod val="90000"/>
                                <a:lumOff val="10000"/>
                              </a:schemeClr>
                            </a:solidFill>
                            <a:latin typeface="Cambria Math" panose="02040503050406030204" pitchFamily="18" charset="0"/>
                          </a:rPr>
                        </m:ctrlPr>
                      </m:sSubPr>
                      <m:e>
                        <m:r>
                          <a:rPr lang="it-IT" sz="1200" b="1" i="1" smtClean="0">
                            <a:solidFill>
                              <a:schemeClr val="tx2">
                                <a:lumMod val="90000"/>
                                <a:lumOff val="10000"/>
                              </a:schemeClr>
                            </a:solidFill>
                            <a:latin typeface="Cambria Math" panose="02040503050406030204" pitchFamily="18" charset="0"/>
                          </a:rPr>
                          <m:t>𝑴</m:t>
                        </m:r>
                      </m:e>
                      <m:sub>
                        <m:r>
                          <a:rPr lang="it-IT" sz="1200" b="1" i="1" smtClean="0">
                            <a:solidFill>
                              <a:schemeClr val="tx2">
                                <a:lumMod val="90000"/>
                                <a:lumOff val="10000"/>
                              </a:schemeClr>
                            </a:solidFill>
                            <a:latin typeface="Cambria Math" panose="02040503050406030204" pitchFamily="18" charset="0"/>
                          </a:rPr>
                          <m:t>𝒆𝒇𝒇</m:t>
                        </m:r>
                      </m:sub>
                    </m:sSub>
                  </m:oMath>
                </a14:m>
                <a:endParaRPr lang="it-IT" sz="1200" dirty="0">
                  <a:solidFill>
                    <a:schemeClr val="tx2">
                      <a:lumMod val="90000"/>
                      <a:lumOff val="10000"/>
                    </a:schemeClr>
                  </a:solidFill>
                  <a:latin typeface="Poppins "/>
                </a:endParaRPr>
              </a:p>
              <a:p>
                <a:pPr marL="228600" indent="-228600">
                  <a:buFont typeface="+mj-lt"/>
                  <a:buAutoNum type="arabicPeriod"/>
                </a:pPr>
                <a:r>
                  <a:rPr lang="it-IT" sz="1200" b="1" dirty="0">
                    <a:solidFill>
                      <a:schemeClr val="tx2">
                        <a:lumMod val="90000"/>
                        <a:lumOff val="10000"/>
                      </a:schemeClr>
                    </a:solidFill>
                    <a:latin typeface="Poppins "/>
                  </a:rPr>
                  <a:t> Integrate</a:t>
                </a:r>
                <a:r>
                  <a:rPr lang="it-IT" sz="1200" dirty="0">
                    <a:solidFill>
                      <a:schemeClr val="tx2">
                        <a:lumMod val="90000"/>
                        <a:lumOff val="10000"/>
                      </a:schemeClr>
                    </a:solidFill>
                    <a:latin typeface="Poppins "/>
                  </a:rPr>
                  <a:t> – Explicit Euler: update </a:t>
                </a:r>
                <a14:m>
                  <m:oMath xmlns:m="http://schemas.openxmlformats.org/officeDocument/2006/math">
                    <m:acc>
                      <m:accPr>
                        <m:chr m:val="̇"/>
                        <m:ctrlPr>
                          <a:rPr lang="it-IT" sz="1200" b="1" i="1" smtClean="0">
                            <a:solidFill>
                              <a:schemeClr val="tx2">
                                <a:lumMod val="90000"/>
                                <a:lumOff val="10000"/>
                              </a:schemeClr>
                            </a:solidFill>
                            <a:latin typeface="Cambria Math" panose="02040503050406030204" pitchFamily="18" charset="0"/>
                          </a:rPr>
                        </m:ctrlPr>
                      </m:accPr>
                      <m:e>
                        <m:r>
                          <a:rPr lang="it-IT" sz="1200" b="1" i="1" smtClean="0">
                            <a:solidFill>
                              <a:schemeClr val="tx2">
                                <a:lumMod val="90000"/>
                                <a:lumOff val="10000"/>
                              </a:schemeClr>
                            </a:solidFill>
                            <a:latin typeface="Cambria Math" panose="02040503050406030204" pitchFamily="18" charset="0"/>
                          </a:rPr>
                          <m:t>𝜽</m:t>
                        </m:r>
                      </m:e>
                    </m:acc>
                  </m:oMath>
                </a14:m>
                <a:r>
                  <a:rPr lang="el-GR" sz="1200" dirty="0">
                    <a:solidFill>
                      <a:schemeClr val="tx2">
                        <a:lumMod val="90000"/>
                        <a:lumOff val="10000"/>
                      </a:schemeClr>
                    </a:solidFill>
                    <a:latin typeface="Poppins "/>
                  </a:rPr>
                  <a:t> </a:t>
                </a:r>
                <a:r>
                  <a:rPr lang="it-IT" sz="1200" dirty="0">
                    <a:solidFill>
                      <a:schemeClr val="tx2">
                        <a:lumMod val="90000"/>
                        <a:lumOff val="10000"/>
                      </a:schemeClr>
                    </a:solidFill>
                    <a:latin typeface="Poppins "/>
                  </a:rPr>
                  <a:t>and </a:t>
                </a:r>
                <a:r>
                  <a:rPr lang="el-GR" sz="1200" b="1" i="1" dirty="0">
                    <a:solidFill>
                      <a:schemeClr val="tx2">
                        <a:lumMod val="90000"/>
                        <a:lumOff val="10000"/>
                      </a:schemeClr>
                    </a:solidFill>
                    <a:latin typeface="Poppins "/>
                  </a:rPr>
                  <a:t>θ</a:t>
                </a:r>
                <a:r>
                  <a:rPr lang="it-IT" sz="1200" i="1" dirty="0">
                    <a:solidFill>
                      <a:schemeClr val="tx2">
                        <a:lumMod val="90000"/>
                        <a:lumOff val="10000"/>
                      </a:schemeClr>
                    </a:solidFill>
                    <a:latin typeface="Poppins "/>
                  </a:rPr>
                  <a:t>.</a:t>
                </a:r>
              </a:p>
              <a:p>
                <a:pPr marL="228600" indent="-228600">
                  <a:buFont typeface="+mj-lt"/>
                  <a:buAutoNum type="arabicPeriod"/>
                </a:pPr>
                <a:r>
                  <a:rPr lang="it-IT" sz="1200" dirty="0">
                    <a:solidFill>
                      <a:schemeClr val="tx2">
                        <a:lumMod val="90000"/>
                        <a:lumOff val="10000"/>
                      </a:schemeClr>
                    </a:solidFill>
                    <a:latin typeface="Poppins "/>
                  </a:rPr>
                  <a:t>Check joint‑limit hold – If </a:t>
                </a:r>
                <a:r>
                  <a:rPr lang="el-GR" sz="1200" dirty="0">
                    <a:solidFill>
                      <a:schemeClr val="tx2">
                        <a:lumMod val="90000"/>
                        <a:lumOff val="10000"/>
                      </a:schemeClr>
                    </a:solidFill>
                    <a:latin typeface="Poppins "/>
                  </a:rPr>
                  <a:t>θ </a:t>
                </a:r>
                <a:r>
                  <a:rPr lang="it-IT" sz="1200" dirty="0">
                    <a:solidFill>
                      <a:schemeClr val="tx2">
                        <a:lumMod val="90000"/>
                        <a:lumOff val="10000"/>
                      </a:schemeClr>
                    </a:solidFill>
                    <a:latin typeface="Poppins "/>
                  </a:rPr>
                  <a:t>would not move despite non‑zero velocity → enter AT_LIMIT.</a:t>
                </a:r>
              </a:p>
              <a:p>
                <a:pPr marL="228600" indent="-228600">
                  <a:buFont typeface="+mj-lt"/>
                  <a:buAutoNum type="arabicPeriod"/>
                </a:pPr>
                <a:r>
                  <a:rPr lang="it-IT" sz="1200" b="1" dirty="0">
                    <a:solidFill>
                      <a:schemeClr val="tx2">
                        <a:lumMod val="90000"/>
                        <a:lumOff val="10000"/>
                      </a:schemeClr>
                    </a:solidFill>
                    <a:latin typeface="Poppins "/>
                  </a:rPr>
                  <a:t>Finalize</a:t>
                </a:r>
                <a:r>
                  <a:rPr lang="it-IT" sz="1200" dirty="0">
                    <a:solidFill>
                      <a:schemeClr val="tx2">
                        <a:lumMod val="90000"/>
                        <a:lumOff val="10000"/>
                      </a:schemeClr>
                    </a:solidFill>
                    <a:latin typeface="Poppins "/>
                  </a:rPr>
                  <a:t> – Recompute </a:t>
                </a:r>
                <a14:m>
                  <m:oMath xmlns:m="http://schemas.openxmlformats.org/officeDocument/2006/math">
                    <m:r>
                      <a:rPr lang="it-IT" sz="1200" b="0" i="1" smtClean="0">
                        <a:solidFill>
                          <a:schemeClr val="tx2">
                            <a:lumMod val="90000"/>
                            <a:lumOff val="10000"/>
                          </a:schemeClr>
                        </a:solidFill>
                        <a:latin typeface="Cambria Math" panose="02040503050406030204" pitchFamily="18" charset="0"/>
                      </a:rPr>
                      <m:t>𝑞</m:t>
                    </m:r>
                    <m:r>
                      <a:rPr lang="it-IT" sz="1200" b="0" i="1" smtClean="0">
                        <a:solidFill>
                          <a:schemeClr val="tx2">
                            <a:lumMod val="90000"/>
                            <a:lumOff val="10000"/>
                          </a:schemeClr>
                        </a:solidFill>
                        <a:latin typeface="Cambria Math" panose="02040503050406030204" pitchFamily="18" charset="0"/>
                      </a:rPr>
                      <m:t>̇</m:t>
                    </m:r>
                  </m:oMath>
                </a14:m>
                <a:r>
                  <a:rPr lang="it-IT" sz="1200" dirty="0">
                    <a:solidFill>
                      <a:schemeClr val="tx2">
                        <a:lumMod val="90000"/>
                        <a:lumOff val="10000"/>
                      </a:schemeClr>
                    </a:solidFill>
                    <a:latin typeface="Poppins "/>
                  </a:rPr>
                  <a:t> , </a:t>
                </a:r>
                <a14:m>
                  <m:oMath xmlns:m="http://schemas.openxmlformats.org/officeDocument/2006/math">
                    <m:r>
                      <a:rPr lang="it-IT" sz="1200" b="0" i="1" smtClean="0">
                        <a:solidFill>
                          <a:schemeClr val="tx2">
                            <a:lumMod val="90000"/>
                            <a:lumOff val="10000"/>
                          </a:schemeClr>
                        </a:solidFill>
                        <a:latin typeface="Cambria Math" panose="02040503050406030204" pitchFamily="18" charset="0"/>
                      </a:rPr>
                      <m:t>𝑞</m:t>
                    </m:r>
                    <m:r>
                      <a:rPr lang="it-IT" sz="1200" b="0" i="1" smtClean="0">
                        <a:solidFill>
                          <a:schemeClr val="tx2">
                            <a:lumMod val="90000"/>
                            <a:lumOff val="10000"/>
                          </a:schemeClr>
                        </a:solidFill>
                        <a:latin typeface="Cambria Math" panose="02040503050406030204" pitchFamily="18" charset="0"/>
                      </a:rPr>
                      <m:t>̈</m:t>
                    </m:r>
                  </m:oMath>
                </a14:m>
                <a:r>
                  <a:rPr lang="it-IT" sz="1200" i="1" dirty="0">
                    <a:solidFill>
                      <a:schemeClr val="tx2">
                        <a:lumMod val="90000"/>
                        <a:lumOff val="10000"/>
                      </a:schemeClr>
                    </a:solidFill>
                    <a:latin typeface="Poppins "/>
                  </a:rPr>
                  <a:t> </a:t>
                </a:r>
                <a:r>
                  <a:rPr lang="it-IT" sz="1200" dirty="0">
                    <a:solidFill>
                      <a:schemeClr val="tx2">
                        <a:lumMod val="90000"/>
                        <a:lumOff val="10000"/>
                      </a:schemeClr>
                    </a:solidFill>
                    <a:latin typeface="Poppins "/>
                  </a:rPr>
                  <a:t>, full joint torques (RNEA) and diagnostic quantities.</a:t>
                </a:r>
              </a:p>
            </p:txBody>
          </p:sp>
        </mc:Choice>
        <mc:Fallback xmlns="">
          <p:sp>
            <p:nvSpPr>
              <p:cNvPr id="19" name="TextBox 18">
                <a:extLst>
                  <a:ext uri="{FF2B5EF4-FFF2-40B4-BE49-F238E27FC236}">
                    <a16:creationId xmlns:a16="http://schemas.microsoft.com/office/drawing/2014/main" id="{137B7796-DFD6-E7E0-7FBC-A8EAFE456A3A}"/>
                  </a:ext>
                </a:extLst>
              </p:cNvPr>
              <p:cNvSpPr txBox="1">
                <a:spLocks noRot="1" noChangeAspect="1" noMove="1" noResize="1" noEditPoints="1" noAdjustHandles="1" noChangeArrowheads="1" noChangeShapeType="1" noTextEdit="1"/>
              </p:cNvSpPr>
              <p:nvPr/>
            </p:nvSpPr>
            <p:spPr>
              <a:xfrm>
                <a:off x="1770245" y="3422587"/>
                <a:ext cx="9887643" cy="2378280"/>
              </a:xfrm>
              <a:prstGeom prst="rect">
                <a:avLst/>
              </a:prstGeom>
              <a:blipFill>
                <a:blip r:embed="rId9"/>
                <a:stretch>
                  <a:fillRect l="-247" t="-2046" b="-2813"/>
                </a:stretch>
              </a:blipFill>
            </p:spPr>
            <p:txBody>
              <a:bodyPr/>
              <a:lstStyle/>
              <a:p>
                <a:r>
                  <a:rPr lang="it-IT">
                    <a:noFill/>
                  </a:rPr>
                  <a:t> </a:t>
                </a:r>
              </a:p>
            </p:txBody>
          </p:sp>
        </mc:Fallback>
      </mc:AlternateContent>
    </p:spTree>
    <p:extLst>
      <p:ext uri="{BB962C8B-B14F-4D97-AF65-F5344CB8AC3E}">
        <p14:creationId xmlns:p14="http://schemas.microsoft.com/office/powerpoint/2010/main" val="869911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130D5-928E-3DCD-9E4A-9DE3BF30432A}"/>
            </a:ext>
          </a:extLst>
        </p:cNvPr>
        <p:cNvGrpSpPr/>
        <p:nvPr/>
      </p:nvGrpSpPr>
      <p:grpSpPr>
        <a:xfrm>
          <a:off x="0" y="0"/>
          <a:ext cx="0" cy="0"/>
          <a:chOff x="0" y="0"/>
          <a:chExt cx="0" cy="0"/>
        </a:xfrm>
      </p:grpSpPr>
      <p:sp>
        <p:nvSpPr>
          <p:cNvPr id="202" name="Shape 33">
            <a:extLst>
              <a:ext uri="{FF2B5EF4-FFF2-40B4-BE49-F238E27FC236}">
                <a16:creationId xmlns:a16="http://schemas.microsoft.com/office/drawing/2014/main" id="{F215FE2A-CAF2-B55D-2CDF-88185A172A09}"/>
              </a:ext>
            </a:extLst>
          </p:cNvPr>
          <p:cNvSpPr/>
          <p:nvPr/>
        </p:nvSpPr>
        <p:spPr>
          <a:xfrm>
            <a:off x="7495726" y="4185840"/>
            <a:ext cx="4214100" cy="1642408"/>
          </a:xfrm>
          <a:prstGeom prst="rect">
            <a:avLst/>
          </a:prstGeom>
          <a:solidFill>
            <a:srgbClr val="E8EEF3"/>
          </a:solidFill>
          <a:ln w="12700">
            <a:solidFill>
              <a:srgbClr val="E8EEF3"/>
            </a:solidFill>
            <a:prstDash val="solid"/>
          </a:ln>
        </p:spPr>
        <p:txBody>
          <a:bodyPr/>
          <a:lstStyle/>
          <a:p>
            <a:endParaRPr lang="it-IT" dirty="0"/>
          </a:p>
        </p:txBody>
      </p:sp>
      <p:sp>
        <p:nvSpPr>
          <p:cNvPr id="203" name="Shape 34">
            <a:extLst>
              <a:ext uri="{FF2B5EF4-FFF2-40B4-BE49-F238E27FC236}">
                <a16:creationId xmlns:a16="http://schemas.microsoft.com/office/drawing/2014/main" id="{72FF4047-FDEB-EA91-0ED1-A29C0AA70A2F}"/>
              </a:ext>
            </a:extLst>
          </p:cNvPr>
          <p:cNvSpPr/>
          <p:nvPr/>
        </p:nvSpPr>
        <p:spPr>
          <a:xfrm>
            <a:off x="7477438" y="4185840"/>
            <a:ext cx="109728" cy="1642408"/>
          </a:xfrm>
          <a:prstGeom prst="rect">
            <a:avLst/>
          </a:prstGeom>
          <a:solidFill>
            <a:schemeClr val="tx2">
              <a:lumMod val="75000"/>
              <a:lumOff val="25000"/>
            </a:schemeClr>
          </a:solidFill>
          <a:ln w="12700">
            <a:noFill/>
            <a:prstDash val="solid"/>
          </a:ln>
        </p:spPr>
        <p:txBody>
          <a:bodyPr/>
          <a:lstStyle/>
          <a:p>
            <a:endParaRPr lang="it-IT"/>
          </a:p>
        </p:txBody>
      </p:sp>
      <p:sp>
        <p:nvSpPr>
          <p:cNvPr id="200" name="Shape 33">
            <a:extLst>
              <a:ext uri="{FF2B5EF4-FFF2-40B4-BE49-F238E27FC236}">
                <a16:creationId xmlns:a16="http://schemas.microsoft.com/office/drawing/2014/main" id="{90665D8B-24E3-5DC3-F95B-497C9A250C09}"/>
              </a:ext>
            </a:extLst>
          </p:cNvPr>
          <p:cNvSpPr/>
          <p:nvPr/>
        </p:nvSpPr>
        <p:spPr>
          <a:xfrm>
            <a:off x="7482439" y="2242589"/>
            <a:ext cx="4227387" cy="1642407"/>
          </a:xfrm>
          <a:prstGeom prst="rect">
            <a:avLst/>
          </a:prstGeom>
          <a:solidFill>
            <a:srgbClr val="E8EEF3"/>
          </a:solidFill>
          <a:ln w="12700">
            <a:solidFill>
              <a:srgbClr val="E8EEF3"/>
            </a:solidFill>
            <a:prstDash val="solid"/>
          </a:ln>
        </p:spPr>
        <p:txBody>
          <a:bodyPr/>
          <a:lstStyle/>
          <a:p>
            <a:endParaRPr lang="it-IT" dirty="0"/>
          </a:p>
        </p:txBody>
      </p:sp>
      <p:sp>
        <p:nvSpPr>
          <p:cNvPr id="201" name="Shape 34">
            <a:extLst>
              <a:ext uri="{FF2B5EF4-FFF2-40B4-BE49-F238E27FC236}">
                <a16:creationId xmlns:a16="http://schemas.microsoft.com/office/drawing/2014/main" id="{2014EE73-D6A8-C65C-6195-DABE10895987}"/>
              </a:ext>
            </a:extLst>
          </p:cNvPr>
          <p:cNvSpPr/>
          <p:nvPr/>
        </p:nvSpPr>
        <p:spPr>
          <a:xfrm>
            <a:off x="7464151" y="2242589"/>
            <a:ext cx="109728" cy="1642407"/>
          </a:xfrm>
          <a:prstGeom prst="rect">
            <a:avLst/>
          </a:prstGeom>
          <a:solidFill>
            <a:schemeClr val="tx2">
              <a:lumMod val="75000"/>
              <a:lumOff val="25000"/>
            </a:schemeClr>
          </a:solidFill>
          <a:ln w="12700">
            <a:noFill/>
            <a:prstDash val="solid"/>
          </a:ln>
        </p:spPr>
        <p:txBody>
          <a:bodyPr/>
          <a:lstStyle/>
          <a:p>
            <a:endParaRPr lang="it-IT"/>
          </a:p>
        </p:txBody>
      </p:sp>
      <p:sp>
        <p:nvSpPr>
          <p:cNvPr id="165" name="Shape 3">
            <a:extLst>
              <a:ext uri="{FF2B5EF4-FFF2-40B4-BE49-F238E27FC236}">
                <a16:creationId xmlns:a16="http://schemas.microsoft.com/office/drawing/2014/main" id="{9AF84FC3-B9BD-C3DE-13F7-4358970044FB}"/>
              </a:ext>
            </a:extLst>
          </p:cNvPr>
          <p:cNvSpPr>
            <a:spLocks/>
          </p:cNvSpPr>
          <p:nvPr/>
        </p:nvSpPr>
        <p:spPr>
          <a:xfrm>
            <a:off x="412940" y="2203211"/>
            <a:ext cx="6945392" cy="3843436"/>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3" name="Sottotitolo 2">
            <a:extLst>
              <a:ext uri="{FF2B5EF4-FFF2-40B4-BE49-F238E27FC236}">
                <a16:creationId xmlns:a16="http://schemas.microsoft.com/office/drawing/2014/main" id="{7FB46A52-FD40-9240-E454-B0B430DF2ACC}"/>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94E8B840-300A-6229-578F-619C7888747D}"/>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80BE8DD4-237E-78DB-A6AD-B295505701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2B7EB7F2-178E-2F74-BC38-238303C47137}"/>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2B7EB7F2-178E-2F74-BC38-238303C47137}"/>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35E054CD-DB38-540D-6613-9A2CCD09CA36}"/>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35E054CD-DB38-540D-6613-9A2CCD09CA36}"/>
                  </a:ext>
                </a:extLst>
              </p:cNvPr>
              <p:cNvPicPr/>
              <p:nvPr/>
            </p:nvPicPr>
            <p:blipFill>
              <a:blip r:embed="rId6"/>
              <a:stretch>
                <a:fillRect/>
              </a:stretch>
            </p:blipFill>
            <p:spPr>
              <a:xfrm>
                <a:off x="5259213" y="963076"/>
                <a:ext cx="1950120" cy="35156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065D1E68-5190-C2D2-476F-2D453F078BAA}"/>
                  </a:ext>
                </a:extLst>
              </p14:cNvPr>
              <p14:cNvContentPartPr>
                <a14:cpLocks xmlns:a14="http://schemas.microsoft.com/office/drawing/2010/main"/>
              </p14:cNvContentPartPr>
              <p14:nvPr/>
            </p14:nvContentPartPr>
            <p14:xfrm>
              <a:off x="525932" y="3145226"/>
              <a:ext cx="360" cy="360"/>
            </p14:xfrm>
          </p:contentPart>
        </mc:Choice>
        <mc:Fallback xmlns="">
          <p:pic>
            <p:nvPicPr>
              <p:cNvPr id="13" name="Ink 12">
                <a:extLst>
                  <a:ext uri="{FF2B5EF4-FFF2-40B4-BE49-F238E27FC236}">
                    <a16:creationId xmlns:a16="http://schemas.microsoft.com/office/drawing/2014/main" id="{065D1E68-5190-C2D2-476F-2D453F078BAA}"/>
                  </a:ext>
                </a:extLst>
              </p:cNvPr>
              <p:cNvPicPr>
                <a:picLocks/>
              </p:cNvPicPr>
              <p:nvPr/>
            </p:nvPicPr>
            <p:blipFill>
              <a:blip r:embed="rId8"/>
              <a:stretch>
                <a:fillRect/>
              </a:stretch>
            </p:blipFill>
            <p:spPr>
              <a:xfrm>
                <a:off x="462932" y="3082226"/>
                <a:ext cx="126000" cy="126000"/>
              </a:xfrm>
              <a:prstGeom prst="rect">
                <a:avLst/>
              </a:prstGeom>
            </p:spPr>
          </p:pic>
        </mc:Fallback>
      </mc:AlternateContent>
      <p:sp>
        <p:nvSpPr>
          <p:cNvPr id="14" name="Google Shape;259;p29">
            <a:extLst>
              <a:ext uri="{FF2B5EF4-FFF2-40B4-BE49-F238E27FC236}">
                <a16:creationId xmlns:a16="http://schemas.microsoft.com/office/drawing/2014/main" id="{FB3859E6-57AA-AEE1-4906-A9DEC35C3012}"/>
              </a:ext>
            </a:extLst>
          </p:cNvPr>
          <p:cNvSpPr/>
          <p:nvPr/>
        </p:nvSpPr>
        <p:spPr>
          <a:xfrm>
            <a:off x="525932" y="1433398"/>
            <a:ext cx="9316311"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B0A26755-721C-76D2-59D5-664BB2DCD0AB}"/>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Cascade Admittance-Trajectory Control</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D08A4862-10B1-EA8F-F29A-9E2D02560229}"/>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205F2125-D5D2-E065-0649-D799E2E3A10C}"/>
              </a:ext>
            </a:extLst>
          </p:cNvPr>
          <p:cNvSpPr txBox="1"/>
          <p:nvPr/>
        </p:nvSpPr>
        <p:spPr>
          <a:xfrm>
            <a:off x="604929" y="1705798"/>
            <a:ext cx="6109138" cy="338554"/>
          </a:xfrm>
          <a:prstGeom prst="rect">
            <a:avLst/>
          </a:prstGeom>
          <a:noFill/>
        </p:spPr>
        <p:txBody>
          <a:bodyPr wrap="square">
            <a:spAutoFit/>
          </a:bodyPr>
          <a:lstStyle/>
          <a:p>
            <a:r>
              <a:rPr lang="en-US" sz="1600" i="1" dirty="0">
                <a:solidFill>
                  <a:srgbClr val="64748B"/>
                </a:solidFill>
                <a:latin typeface="Poppins "/>
                <a:ea typeface="Calibri" pitchFamily="34" charset="-122"/>
                <a:cs typeface="Poppins Black" panose="00000A00000000000000" pitchFamily="2" charset="0"/>
              </a:rPr>
              <a:t>Compliant interaction with accurate reference tracking</a:t>
            </a:r>
            <a:endParaRPr lang="en-US" sz="1600" dirty="0">
              <a:latin typeface="Poppins "/>
              <a:cs typeface="Poppins Black" panose="00000A00000000000000" pitchFamily="2" charset="0"/>
            </a:endParaRPr>
          </a:p>
        </p:txBody>
      </p:sp>
      <p:sp>
        <p:nvSpPr>
          <p:cNvPr id="34" name="Oval 33">
            <a:extLst>
              <a:ext uri="{FF2B5EF4-FFF2-40B4-BE49-F238E27FC236}">
                <a16:creationId xmlns:a16="http://schemas.microsoft.com/office/drawing/2014/main" id="{168C2443-411C-D4C0-9312-D0763C14EE37}"/>
              </a:ext>
            </a:extLst>
          </p:cNvPr>
          <p:cNvSpPr>
            <a:spLocks/>
          </p:cNvSpPr>
          <p:nvPr/>
        </p:nvSpPr>
        <p:spPr>
          <a:xfrm>
            <a:off x="5847482" y="3861523"/>
            <a:ext cx="1296357" cy="342251"/>
          </a:xfrm>
          <a:prstGeom prst="ellipse">
            <a:avLst/>
          </a:prstGeom>
          <a:solidFill>
            <a:schemeClr val="bg1"/>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lumMod val="95000"/>
                    <a:lumOff val="5000"/>
                  </a:schemeClr>
                </a:solidFill>
                <a:latin typeface="Poppins "/>
              </a:rPr>
              <a:t>/dynamics</a:t>
            </a:r>
          </a:p>
        </p:txBody>
      </p:sp>
      <p:sp>
        <p:nvSpPr>
          <p:cNvPr id="35" name="Oval 34">
            <a:extLst>
              <a:ext uri="{FF2B5EF4-FFF2-40B4-BE49-F238E27FC236}">
                <a16:creationId xmlns:a16="http://schemas.microsoft.com/office/drawing/2014/main" id="{7F92C195-F4D9-3FD4-1F92-FA32CD416BF0}"/>
              </a:ext>
            </a:extLst>
          </p:cNvPr>
          <p:cNvSpPr>
            <a:spLocks/>
          </p:cNvSpPr>
          <p:nvPr/>
        </p:nvSpPr>
        <p:spPr>
          <a:xfrm>
            <a:off x="3764910" y="3050234"/>
            <a:ext cx="973162" cy="338194"/>
          </a:xfrm>
          <a:prstGeom prst="ellipse">
            <a:avLst/>
          </a:prstGeom>
          <a:solidFill>
            <a:schemeClr val="bg1"/>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lumMod val="95000"/>
                    <a:lumOff val="5000"/>
                  </a:schemeClr>
                </a:solidFill>
                <a:latin typeface="Consolas" panose="020B0609020204030204" pitchFamily="49" charset="0"/>
              </a:rPr>
              <a:t>/</a:t>
            </a:r>
            <a:r>
              <a:rPr lang="it-IT" sz="1000" dirty="0">
                <a:solidFill>
                  <a:schemeClr val="tx1">
                    <a:lumMod val="95000"/>
                    <a:lumOff val="5000"/>
                  </a:schemeClr>
                </a:solidFill>
                <a:latin typeface="Poppins "/>
              </a:rPr>
              <a:t>input</a:t>
            </a:r>
          </a:p>
        </p:txBody>
      </p:sp>
      <p:sp>
        <p:nvSpPr>
          <p:cNvPr id="36" name="Oval 35">
            <a:extLst>
              <a:ext uri="{FF2B5EF4-FFF2-40B4-BE49-F238E27FC236}">
                <a16:creationId xmlns:a16="http://schemas.microsoft.com/office/drawing/2014/main" id="{1FED5724-D8F8-5D3F-309B-1E897867DAD5}"/>
              </a:ext>
            </a:extLst>
          </p:cNvPr>
          <p:cNvSpPr>
            <a:spLocks/>
          </p:cNvSpPr>
          <p:nvPr/>
        </p:nvSpPr>
        <p:spPr>
          <a:xfrm>
            <a:off x="584919" y="3797907"/>
            <a:ext cx="1917661" cy="476826"/>
          </a:xfrm>
          <a:prstGeom prst="ellipse">
            <a:avLst/>
          </a:prstGeom>
          <a:solidFill>
            <a:schemeClr val="bg1"/>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lumMod val="95000"/>
                    <a:lumOff val="5000"/>
                  </a:schemeClr>
                </a:solidFill>
                <a:latin typeface="Poppins "/>
              </a:rPr>
              <a:t>/admittance_ctrl</a:t>
            </a:r>
          </a:p>
        </p:txBody>
      </p:sp>
      <p:sp>
        <p:nvSpPr>
          <p:cNvPr id="37" name="Oval 36">
            <a:extLst>
              <a:ext uri="{FF2B5EF4-FFF2-40B4-BE49-F238E27FC236}">
                <a16:creationId xmlns:a16="http://schemas.microsoft.com/office/drawing/2014/main" id="{A4A13AA9-9403-AC2D-59FD-5E086162E1D6}"/>
              </a:ext>
            </a:extLst>
          </p:cNvPr>
          <p:cNvSpPr>
            <a:spLocks/>
          </p:cNvSpPr>
          <p:nvPr/>
        </p:nvSpPr>
        <p:spPr>
          <a:xfrm>
            <a:off x="3528009" y="3807766"/>
            <a:ext cx="1711809" cy="457055"/>
          </a:xfrm>
          <a:prstGeom prst="ellipse">
            <a:avLst/>
          </a:prstGeom>
          <a:solidFill>
            <a:schemeClr val="bg1"/>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lumMod val="95000"/>
                    <a:lumOff val="5000"/>
                  </a:schemeClr>
                </a:solidFill>
                <a:latin typeface="Poppins "/>
              </a:rPr>
              <a:t>/trajectory_ctrl</a:t>
            </a:r>
          </a:p>
        </p:txBody>
      </p:sp>
      <p:sp>
        <p:nvSpPr>
          <p:cNvPr id="41" name="TextBox 40">
            <a:extLst>
              <a:ext uri="{FF2B5EF4-FFF2-40B4-BE49-F238E27FC236}">
                <a16:creationId xmlns:a16="http://schemas.microsoft.com/office/drawing/2014/main" id="{0E087BC8-43C8-1AC2-8B4C-903D280DF670}"/>
              </a:ext>
            </a:extLst>
          </p:cNvPr>
          <p:cNvSpPr txBox="1">
            <a:spLocks/>
          </p:cNvSpPr>
          <p:nvPr/>
        </p:nvSpPr>
        <p:spPr>
          <a:xfrm>
            <a:off x="3169954" y="5479162"/>
            <a:ext cx="1699504" cy="215444"/>
          </a:xfrm>
          <a:prstGeom prst="rect">
            <a:avLst/>
          </a:prstGeom>
          <a:noFill/>
        </p:spPr>
        <p:txBody>
          <a:bodyPr wrap="square" rtlCol="0">
            <a:spAutoFit/>
          </a:bodyPr>
          <a:lstStyle/>
          <a:p>
            <a:r>
              <a:rPr lang="it-IT" sz="800" dirty="0">
                <a:latin typeface="Consolas" panose="020B0609020204030204" pitchFamily="49" charset="0"/>
              </a:rPr>
              <a:t>/exo_dynamics/tau_ext_theta</a:t>
            </a:r>
          </a:p>
        </p:txBody>
      </p:sp>
      <p:sp>
        <p:nvSpPr>
          <p:cNvPr id="46" name="TextBox 45">
            <a:extLst>
              <a:ext uri="{FF2B5EF4-FFF2-40B4-BE49-F238E27FC236}">
                <a16:creationId xmlns:a16="http://schemas.microsoft.com/office/drawing/2014/main" id="{34F2738C-ED84-7D59-F10B-3F932AC50DAE}"/>
              </a:ext>
            </a:extLst>
          </p:cNvPr>
          <p:cNvSpPr txBox="1">
            <a:spLocks/>
          </p:cNvSpPr>
          <p:nvPr/>
        </p:nvSpPr>
        <p:spPr>
          <a:xfrm>
            <a:off x="2552468" y="3814308"/>
            <a:ext cx="1026243" cy="215444"/>
          </a:xfrm>
          <a:prstGeom prst="rect">
            <a:avLst/>
          </a:prstGeom>
          <a:noFill/>
        </p:spPr>
        <p:txBody>
          <a:bodyPr wrap="square" rtlCol="0">
            <a:spAutoFit/>
          </a:bodyPr>
          <a:lstStyle/>
          <a:p>
            <a:r>
              <a:rPr lang="it-IT" sz="800" dirty="0">
                <a:latin typeface="Consolas" panose="020B0609020204030204" pitchFamily="49" charset="0"/>
              </a:rPr>
              <a:t>/trajectory_ref</a:t>
            </a:r>
          </a:p>
        </p:txBody>
      </p:sp>
      <p:sp>
        <p:nvSpPr>
          <p:cNvPr id="62" name="TextBox 61">
            <a:extLst>
              <a:ext uri="{FF2B5EF4-FFF2-40B4-BE49-F238E27FC236}">
                <a16:creationId xmlns:a16="http://schemas.microsoft.com/office/drawing/2014/main" id="{CADB7EC0-4ED1-4E99-DA5C-546CED359ADE}"/>
              </a:ext>
            </a:extLst>
          </p:cNvPr>
          <p:cNvSpPr txBox="1">
            <a:spLocks/>
          </p:cNvSpPr>
          <p:nvPr/>
        </p:nvSpPr>
        <p:spPr>
          <a:xfrm>
            <a:off x="4783219" y="4252932"/>
            <a:ext cx="1418978" cy="215444"/>
          </a:xfrm>
          <a:prstGeom prst="rect">
            <a:avLst/>
          </a:prstGeom>
          <a:noFill/>
        </p:spPr>
        <p:txBody>
          <a:bodyPr wrap="square" rtlCol="0">
            <a:spAutoFit/>
          </a:bodyPr>
          <a:lstStyle/>
          <a:p>
            <a:r>
              <a:rPr lang="it-IT" sz="800" dirty="0">
                <a:latin typeface="Consolas" panose="020B0609020204030204" pitchFamily="49" charset="0"/>
              </a:rPr>
              <a:t>/exo_dynamics/ff_terms</a:t>
            </a:r>
          </a:p>
        </p:txBody>
      </p:sp>
      <p:sp>
        <p:nvSpPr>
          <p:cNvPr id="67" name="TextBox 66">
            <a:extLst>
              <a:ext uri="{FF2B5EF4-FFF2-40B4-BE49-F238E27FC236}">
                <a16:creationId xmlns:a16="http://schemas.microsoft.com/office/drawing/2014/main" id="{937CD0DF-906A-515F-6320-FDA4E2EC45B1}"/>
              </a:ext>
            </a:extLst>
          </p:cNvPr>
          <p:cNvSpPr txBox="1">
            <a:spLocks/>
          </p:cNvSpPr>
          <p:nvPr/>
        </p:nvSpPr>
        <p:spPr>
          <a:xfrm>
            <a:off x="4933449" y="4572425"/>
            <a:ext cx="914033" cy="215444"/>
          </a:xfrm>
          <a:prstGeom prst="rect">
            <a:avLst/>
          </a:prstGeom>
          <a:noFill/>
        </p:spPr>
        <p:txBody>
          <a:bodyPr wrap="square" rtlCol="0">
            <a:spAutoFit/>
          </a:bodyPr>
          <a:lstStyle/>
          <a:p>
            <a:r>
              <a:rPr lang="it-IT" sz="800" dirty="0">
                <a:latin typeface="Consolas" panose="020B0609020204030204" pitchFamily="49" charset="0"/>
              </a:rPr>
              <a:t>/joint_states</a:t>
            </a:r>
          </a:p>
        </p:txBody>
      </p:sp>
      <p:sp>
        <p:nvSpPr>
          <p:cNvPr id="74" name="TextBox 73">
            <a:extLst>
              <a:ext uri="{FF2B5EF4-FFF2-40B4-BE49-F238E27FC236}">
                <a16:creationId xmlns:a16="http://schemas.microsoft.com/office/drawing/2014/main" id="{8A46AB7F-3B6B-3BE3-24AC-10EE10C0197B}"/>
              </a:ext>
            </a:extLst>
          </p:cNvPr>
          <p:cNvSpPr txBox="1">
            <a:spLocks/>
          </p:cNvSpPr>
          <p:nvPr/>
        </p:nvSpPr>
        <p:spPr>
          <a:xfrm>
            <a:off x="5204007" y="3826184"/>
            <a:ext cx="577402" cy="215444"/>
          </a:xfrm>
          <a:prstGeom prst="rect">
            <a:avLst/>
          </a:prstGeom>
          <a:noFill/>
        </p:spPr>
        <p:txBody>
          <a:bodyPr wrap="square" rtlCol="0">
            <a:spAutoFit/>
          </a:bodyPr>
          <a:lstStyle/>
          <a:p>
            <a:r>
              <a:rPr lang="it-IT" sz="800" dirty="0">
                <a:latin typeface="Consolas" panose="020B0609020204030204" pitchFamily="49" charset="0"/>
              </a:rPr>
              <a:t>/torque</a:t>
            </a:r>
          </a:p>
        </p:txBody>
      </p:sp>
      <p:sp>
        <p:nvSpPr>
          <p:cNvPr id="78" name="TextBox 77">
            <a:extLst>
              <a:ext uri="{FF2B5EF4-FFF2-40B4-BE49-F238E27FC236}">
                <a16:creationId xmlns:a16="http://schemas.microsoft.com/office/drawing/2014/main" id="{6B365F42-73C8-9660-EF45-96CF9A4F766C}"/>
              </a:ext>
            </a:extLst>
          </p:cNvPr>
          <p:cNvSpPr txBox="1">
            <a:spLocks/>
          </p:cNvSpPr>
          <p:nvPr/>
        </p:nvSpPr>
        <p:spPr>
          <a:xfrm>
            <a:off x="4875552" y="3003887"/>
            <a:ext cx="1811714" cy="215444"/>
          </a:xfrm>
          <a:prstGeom prst="rect">
            <a:avLst/>
          </a:prstGeom>
          <a:noFill/>
        </p:spPr>
        <p:txBody>
          <a:bodyPr wrap="square" rtlCol="0">
            <a:spAutoFit/>
          </a:bodyPr>
          <a:lstStyle/>
          <a:p>
            <a:r>
              <a:rPr lang="it-IT" sz="800" dirty="0">
                <a:latin typeface="Consolas" panose="020B0609020204030204" pitchFamily="49" charset="0"/>
              </a:rPr>
              <a:t>/exo_dynamics/external_wrench</a:t>
            </a:r>
          </a:p>
        </p:txBody>
      </p:sp>
      <p:cxnSp>
        <p:nvCxnSpPr>
          <p:cNvPr id="141" name="Straight Arrow Connector 140">
            <a:extLst>
              <a:ext uri="{FF2B5EF4-FFF2-40B4-BE49-F238E27FC236}">
                <a16:creationId xmlns:a16="http://schemas.microsoft.com/office/drawing/2014/main" id="{1B7F11FB-099D-CDDD-8EC6-0E42A48BDB42}"/>
              </a:ext>
            </a:extLst>
          </p:cNvPr>
          <p:cNvCxnSpPr>
            <a:cxnSpLocks/>
            <a:stCxn id="36" idx="6"/>
            <a:endCxn id="37" idx="2"/>
          </p:cNvCxnSpPr>
          <p:nvPr/>
        </p:nvCxnSpPr>
        <p:spPr>
          <a:xfrm flipV="1">
            <a:off x="2502580" y="4036294"/>
            <a:ext cx="1025429" cy="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4" name="Straight Arrow Connector 143">
            <a:extLst>
              <a:ext uri="{FF2B5EF4-FFF2-40B4-BE49-F238E27FC236}">
                <a16:creationId xmlns:a16="http://schemas.microsoft.com/office/drawing/2014/main" id="{BAD81922-6B03-B800-FA95-E3B08319BFBE}"/>
              </a:ext>
            </a:extLst>
          </p:cNvPr>
          <p:cNvCxnSpPr>
            <a:cxnSpLocks/>
            <a:stCxn id="37" idx="6"/>
            <a:endCxn id="34" idx="2"/>
          </p:cNvCxnSpPr>
          <p:nvPr/>
        </p:nvCxnSpPr>
        <p:spPr>
          <a:xfrm flipV="1">
            <a:off x="5239818" y="4032649"/>
            <a:ext cx="607664" cy="36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8" name="Connector: Curved 147">
            <a:extLst>
              <a:ext uri="{FF2B5EF4-FFF2-40B4-BE49-F238E27FC236}">
                <a16:creationId xmlns:a16="http://schemas.microsoft.com/office/drawing/2014/main" id="{FFED4538-B73A-14E0-1F0B-15806CC0F2F4}"/>
              </a:ext>
            </a:extLst>
          </p:cNvPr>
          <p:cNvCxnSpPr>
            <a:cxnSpLocks/>
            <a:stCxn id="34" idx="4"/>
            <a:endCxn id="37" idx="4"/>
          </p:cNvCxnSpPr>
          <p:nvPr/>
        </p:nvCxnSpPr>
        <p:spPr>
          <a:xfrm rot="5400000">
            <a:off x="5409265" y="3178424"/>
            <a:ext cx="61047" cy="2111747"/>
          </a:xfrm>
          <a:prstGeom prst="curvedConnector3">
            <a:avLst>
              <a:gd name="adj1" fmla="val 474466"/>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2" name="Connector: Curved 151">
            <a:extLst>
              <a:ext uri="{FF2B5EF4-FFF2-40B4-BE49-F238E27FC236}">
                <a16:creationId xmlns:a16="http://schemas.microsoft.com/office/drawing/2014/main" id="{42E56ADC-0B04-E1BD-035E-4A051759ADAB}"/>
              </a:ext>
            </a:extLst>
          </p:cNvPr>
          <p:cNvCxnSpPr>
            <a:cxnSpLocks/>
            <a:stCxn id="34" idx="4"/>
            <a:endCxn id="37" idx="4"/>
          </p:cNvCxnSpPr>
          <p:nvPr/>
        </p:nvCxnSpPr>
        <p:spPr>
          <a:xfrm rot="5400000">
            <a:off x="5409265" y="3178424"/>
            <a:ext cx="61047" cy="2111747"/>
          </a:xfrm>
          <a:prstGeom prst="curvedConnector3">
            <a:avLst>
              <a:gd name="adj1" fmla="val 95436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8" name="Connector: Curved 157">
            <a:extLst>
              <a:ext uri="{FF2B5EF4-FFF2-40B4-BE49-F238E27FC236}">
                <a16:creationId xmlns:a16="http://schemas.microsoft.com/office/drawing/2014/main" id="{197AF278-64D5-146D-78E2-5EC2C8D0C4C5}"/>
              </a:ext>
            </a:extLst>
          </p:cNvPr>
          <p:cNvCxnSpPr>
            <a:cxnSpLocks/>
            <a:stCxn id="35" idx="6"/>
            <a:endCxn id="34" idx="0"/>
          </p:cNvCxnSpPr>
          <p:nvPr/>
        </p:nvCxnSpPr>
        <p:spPr>
          <a:xfrm>
            <a:off x="4738072" y="3219331"/>
            <a:ext cx="1757589" cy="64219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2" name="Connector: Curved 161">
            <a:extLst>
              <a:ext uri="{FF2B5EF4-FFF2-40B4-BE49-F238E27FC236}">
                <a16:creationId xmlns:a16="http://schemas.microsoft.com/office/drawing/2014/main" id="{DAA64947-0F19-BD4D-F106-A76DE14AFEEC}"/>
              </a:ext>
            </a:extLst>
          </p:cNvPr>
          <p:cNvCxnSpPr>
            <a:cxnSpLocks/>
            <a:stCxn id="34" idx="4"/>
            <a:endCxn id="36" idx="4"/>
          </p:cNvCxnSpPr>
          <p:nvPr/>
        </p:nvCxnSpPr>
        <p:spPr>
          <a:xfrm rot="5400000">
            <a:off x="3984227" y="1763298"/>
            <a:ext cx="70959" cy="4951911"/>
          </a:xfrm>
          <a:prstGeom prst="curvedConnector3">
            <a:avLst>
              <a:gd name="adj1" fmla="val 221122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7" name="Connector: Curved 166">
            <a:extLst>
              <a:ext uri="{FF2B5EF4-FFF2-40B4-BE49-F238E27FC236}">
                <a16:creationId xmlns:a16="http://schemas.microsoft.com/office/drawing/2014/main" id="{C7F37B0B-D0C5-5E76-C7C4-DBAA974EC4C0}"/>
              </a:ext>
            </a:extLst>
          </p:cNvPr>
          <p:cNvCxnSpPr>
            <a:cxnSpLocks/>
            <a:stCxn id="34" idx="4"/>
            <a:endCxn id="36" idx="4"/>
          </p:cNvCxnSpPr>
          <p:nvPr/>
        </p:nvCxnSpPr>
        <p:spPr>
          <a:xfrm rot="5400000">
            <a:off x="3984227" y="1763298"/>
            <a:ext cx="70959" cy="4951911"/>
          </a:xfrm>
          <a:prstGeom prst="curvedConnector3">
            <a:avLst>
              <a:gd name="adj1" fmla="val 1623212"/>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170" name="TextBox 169">
            <a:extLst>
              <a:ext uri="{FF2B5EF4-FFF2-40B4-BE49-F238E27FC236}">
                <a16:creationId xmlns:a16="http://schemas.microsoft.com/office/drawing/2014/main" id="{957D5AB9-A92A-10C9-70D3-35B91E9853DF}"/>
              </a:ext>
            </a:extLst>
          </p:cNvPr>
          <p:cNvSpPr txBox="1">
            <a:spLocks/>
          </p:cNvSpPr>
          <p:nvPr/>
        </p:nvSpPr>
        <p:spPr>
          <a:xfrm>
            <a:off x="3578711" y="5102924"/>
            <a:ext cx="914033" cy="215444"/>
          </a:xfrm>
          <a:prstGeom prst="rect">
            <a:avLst/>
          </a:prstGeom>
          <a:noFill/>
        </p:spPr>
        <p:txBody>
          <a:bodyPr wrap="square" rtlCol="0">
            <a:spAutoFit/>
          </a:bodyPr>
          <a:lstStyle/>
          <a:p>
            <a:r>
              <a:rPr lang="it-IT" sz="800" dirty="0">
                <a:latin typeface="Consolas" panose="020B0609020204030204" pitchFamily="49" charset="0"/>
              </a:rPr>
              <a:t>/joint_states</a:t>
            </a:r>
          </a:p>
        </p:txBody>
      </p:sp>
      <mc:AlternateContent xmlns:mc="http://schemas.openxmlformats.org/markup-compatibility/2006">
        <mc:Choice xmlns:a14="http://schemas.microsoft.com/office/drawing/2010/main" Requires="a14">
          <p:sp>
            <p:nvSpPr>
              <p:cNvPr id="172" name="TextBox 171">
                <a:extLst>
                  <a:ext uri="{FF2B5EF4-FFF2-40B4-BE49-F238E27FC236}">
                    <a16:creationId xmlns:a16="http://schemas.microsoft.com/office/drawing/2014/main" id="{A1AB098B-358F-E98F-A35C-E470167433A8}"/>
                  </a:ext>
                </a:extLst>
              </p:cNvPr>
              <p:cNvSpPr txBox="1"/>
              <p:nvPr/>
            </p:nvSpPr>
            <p:spPr>
              <a:xfrm>
                <a:off x="7551188" y="2348684"/>
                <a:ext cx="4158638" cy="3424014"/>
              </a:xfrm>
              <a:prstGeom prst="rect">
                <a:avLst/>
              </a:prstGeom>
              <a:noFill/>
            </p:spPr>
            <p:txBody>
              <a:bodyPr wrap="square">
                <a:spAutoFit/>
              </a:bodyPr>
              <a:lstStyle/>
              <a:p>
                <a:pPr>
                  <a:buNone/>
                </a:pPr>
                <a:r>
                  <a:rPr lang="it-IT" sz="1100" b="1" dirty="0">
                    <a:solidFill>
                      <a:srgbClr val="193C6A"/>
                    </a:solidFill>
                    <a:latin typeface="Poppins "/>
                  </a:rPr>
                  <a:t>Admittance Controller </a:t>
                </a:r>
                <a:r>
                  <a:rPr lang="it-IT" sz="1100" dirty="0">
                    <a:solidFill>
                      <a:srgbClr val="193C6A"/>
                    </a:solidFill>
                    <a:latin typeface="Poppins "/>
                  </a:rPr>
                  <a:t>Translates the estimated external force into a reference trajectory through a second-order overdamped virtual dynamics </a:t>
                </a:r>
              </a:p>
              <a:p>
                <a:pPr>
                  <a:buNone/>
                </a:pPr>
                <a:r>
                  <a:rPr lang="it-IT" sz="1100" b="1" dirty="0">
                    <a:solidFill>
                      <a:srgbClr val="193C6A"/>
                    </a:solidFill>
                    <a:latin typeface="Poppins "/>
                  </a:rPr>
                  <a:t>Key features</a:t>
                </a:r>
                <a:r>
                  <a:rPr lang="it-IT" sz="1100" dirty="0">
                    <a:solidFill>
                      <a:srgbClr val="193C6A"/>
                    </a:solidFill>
                    <a:latin typeface="Poppins "/>
                  </a:rPr>
                  <a:t>: explicit Euler integration at 200 Hz, saturation on virtual velocity and position as an additional safety layer, and bumpless startup (the virtual state is initialised from the actual plant state read from `/joint_states`, preventing unsafe initial transients). </a:t>
                </a:r>
              </a:p>
              <a:p>
                <a:pPr>
                  <a:buNone/>
                </a:pPr>
                <a:endParaRPr lang="it-IT" sz="1100" dirty="0">
                  <a:latin typeface="Poppins "/>
                </a:endParaRPr>
              </a:p>
              <a:p>
                <a:pPr>
                  <a:buNone/>
                </a:pPr>
                <a:endParaRPr lang="it-IT" sz="1100" dirty="0">
                  <a:latin typeface="Poppins "/>
                </a:endParaRPr>
              </a:p>
              <a:p>
                <a:pPr>
                  <a:buNone/>
                </a:pPr>
                <a:endParaRPr lang="it-IT" sz="1200" dirty="0"/>
              </a:p>
              <a:p>
                <a:pPr>
                  <a:buNone/>
                </a:pPr>
                <a:r>
                  <a:rPr lang="it-IT" sz="1050" b="1" dirty="0">
                    <a:solidFill>
                      <a:srgbClr val="193C6A"/>
                    </a:solidFill>
                    <a:latin typeface="Poppins "/>
                  </a:rPr>
                  <a:t>Trajectory Controller (PD + Feed-Forward).</a:t>
                </a:r>
                <a:r>
                  <a:rPr lang="it-IT" sz="1050" dirty="0">
                    <a:solidFill>
                      <a:srgbClr val="193C6A"/>
                    </a:solidFill>
                    <a:latin typeface="Poppins "/>
                  </a:rPr>
                  <a:t> Regulates the motor torque </a:t>
                </a:r>
                <a14:m>
                  <m:oMath xmlns:m="http://schemas.openxmlformats.org/officeDocument/2006/math">
                    <m:sSub>
                      <m:sSubPr>
                        <m:ctrlPr>
                          <a:rPr lang="ar-AE" sz="1050" i="1">
                            <a:solidFill>
                              <a:srgbClr val="193C6A"/>
                            </a:solidFill>
                            <a:latin typeface="Cambria Math" panose="02040503050406030204" pitchFamily="18" charset="0"/>
                          </a:rPr>
                        </m:ctrlPr>
                      </m:sSubPr>
                      <m:e>
                        <m:r>
                          <a:rPr lang="ar-AE" sz="1050" i="1">
                            <a:solidFill>
                              <a:srgbClr val="193C6A"/>
                            </a:solidFill>
                            <a:latin typeface="Cambria Math" panose="02040503050406030204" pitchFamily="18" charset="0"/>
                          </a:rPr>
                          <m:t>𝜏</m:t>
                        </m:r>
                      </m:e>
                      <m:sub>
                        <m:r>
                          <a:rPr lang="ar-AE" sz="1050" i="1">
                            <a:solidFill>
                              <a:srgbClr val="193C6A"/>
                            </a:solidFill>
                            <a:latin typeface="Cambria Math" panose="02040503050406030204" pitchFamily="18" charset="0"/>
                          </a:rPr>
                          <m:t>𝑚</m:t>
                        </m:r>
                      </m:sub>
                    </m:sSub>
                  </m:oMath>
                </a14:m>
                <a:r>
                  <a:rPr lang="it-IT" sz="1050" dirty="0">
                    <a:solidFill>
                      <a:srgbClr val="193C6A"/>
                    </a:solidFill>
                    <a:latin typeface="Poppins "/>
                  </a:rPr>
                  <a:t>to track the reference generated by the outer loop. </a:t>
                </a:r>
              </a:p>
              <a:p>
                <a:pPr>
                  <a:buNone/>
                </a:pPr>
                <a:r>
                  <a:rPr lang="it-IT" sz="1050" b="1" dirty="0">
                    <a:solidFill>
                      <a:srgbClr val="193C6A"/>
                    </a:solidFill>
                    <a:latin typeface="Poppins "/>
                  </a:rPr>
                  <a:t>Key features</a:t>
                </a:r>
                <a:r>
                  <a:rPr lang="it-IT" sz="1050" dirty="0">
                    <a:solidFill>
                      <a:srgbClr val="193C6A"/>
                    </a:solidFill>
                    <a:latin typeface="Poppins "/>
                  </a:rPr>
                  <a:t>: the PD feedback is combined with a model-based feed-forward term that pre-cancels the known nonlinear contributions leaving only the residual tracking error to the feedback. This allows moderate gains without sacrificing bandwidth, consistently with the time-scale separation required by the cascade architecture</a:t>
                </a:r>
                <a:r>
                  <a:rPr lang="it-IT" sz="1000" dirty="0">
                    <a:solidFill>
                      <a:srgbClr val="193C6A"/>
                    </a:solidFill>
                    <a:latin typeface="Poppins "/>
                  </a:rPr>
                  <a:t>.</a:t>
                </a:r>
              </a:p>
            </p:txBody>
          </p:sp>
        </mc:Choice>
        <mc:Fallback>
          <p:sp>
            <p:nvSpPr>
              <p:cNvPr id="172" name="TextBox 171">
                <a:extLst>
                  <a:ext uri="{FF2B5EF4-FFF2-40B4-BE49-F238E27FC236}">
                    <a16:creationId xmlns:a16="http://schemas.microsoft.com/office/drawing/2014/main" id="{A1AB098B-358F-E98F-A35C-E470167433A8}"/>
                  </a:ext>
                </a:extLst>
              </p:cNvPr>
              <p:cNvSpPr txBox="1">
                <a:spLocks noRot="1" noChangeAspect="1" noMove="1" noResize="1" noEditPoints="1" noAdjustHandles="1" noChangeArrowheads="1" noChangeShapeType="1" noTextEdit="1"/>
              </p:cNvSpPr>
              <p:nvPr/>
            </p:nvSpPr>
            <p:spPr>
              <a:xfrm>
                <a:off x="7551188" y="2348684"/>
                <a:ext cx="4158638" cy="3424014"/>
              </a:xfrm>
              <a:prstGeom prst="rect">
                <a:avLst/>
              </a:prstGeom>
              <a:blipFill>
                <a:blip r:embed="rId9"/>
                <a:stretch>
                  <a:fillRect r="-440"/>
                </a:stretch>
              </a:blipFill>
            </p:spPr>
            <p:txBody>
              <a:bodyPr/>
              <a:lstStyle/>
              <a:p>
                <a:r>
                  <a:rPr lang="it-IT">
                    <a:noFill/>
                  </a:rPr>
                  <a:t> </a:t>
                </a:r>
              </a:p>
            </p:txBody>
          </p:sp>
        </mc:Fallback>
      </mc:AlternateContent>
    </p:spTree>
    <p:extLst>
      <p:ext uri="{BB962C8B-B14F-4D97-AF65-F5344CB8AC3E}">
        <p14:creationId xmlns:p14="http://schemas.microsoft.com/office/powerpoint/2010/main" val="454224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55BE7-3667-96DC-37CF-71A005A06DBA}"/>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50C860B2-A1FF-BCFB-DA32-5D9C0A957E2D}"/>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E7A51E7F-9B5C-7391-871B-F3DB7F3307E8}"/>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77E2BE2E-22A8-E38E-4CF7-A192F69AD4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D28DCB96-38D4-61E5-342E-8071B1637543}"/>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D28DCB96-38D4-61E5-342E-8071B1637543}"/>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7B504AAE-CC35-3219-724E-191D229F6FA1}"/>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7B504AAE-CC35-3219-724E-191D229F6FA1}"/>
                  </a:ext>
                </a:extLst>
              </p:cNvPr>
              <p:cNvPicPr/>
              <p:nvPr/>
            </p:nvPicPr>
            <p:blipFill>
              <a:blip r:embed="rId6"/>
              <a:stretch>
                <a:fillRect/>
              </a:stretch>
            </p:blipFill>
            <p:spPr>
              <a:xfrm>
                <a:off x="5259213" y="963076"/>
                <a:ext cx="1950120" cy="351561"/>
              </a:xfrm>
              <a:prstGeom prst="rect">
                <a:avLst/>
              </a:prstGeom>
            </p:spPr>
          </p:pic>
        </mc:Fallback>
      </mc:AlternateContent>
      <p:sp>
        <p:nvSpPr>
          <p:cNvPr id="14" name="Google Shape;259;p29">
            <a:extLst>
              <a:ext uri="{FF2B5EF4-FFF2-40B4-BE49-F238E27FC236}">
                <a16:creationId xmlns:a16="http://schemas.microsoft.com/office/drawing/2014/main" id="{19597791-AD35-8E62-6243-9621A5B79E02}"/>
              </a:ext>
            </a:extLst>
          </p:cNvPr>
          <p:cNvSpPr/>
          <p:nvPr/>
        </p:nvSpPr>
        <p:spPr>
          <a:xfrm>
            <a:off x="525932" y="1433398"/>
            <a:ext cx="9316311"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E8CCF65D-1FC6-7DDB-E98A-7DECE73CD1F8}"/>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Cascade Admittance-Trajectory Control</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C7BA787A-C211-4A94-5C94-597663823862}"/>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621BF38C-44AC-AB15-14F8-5C84D2FD2598}"/>
              </a:ext>
            </a:extLst>
          </p:cNvPr>
          <p:cNvSpPr txBox="1"/>
          <p:nvPr/>
        </p:nvSpPr>
        <p:spPr>
          <a:xfrm>
            <a:off x="604929" y="1705798"/>
            <a:ext cx="6109138" cy="338554"/>
          </a:xfrm>
          <a:prstGeom prst="rect">
            <a:avLst/>
          </a:prstGeom>
          <a:noFill/>
        </p:spPr>
        <p:txBody>
          <a:bodyPr wrap="square">
            <a:spAutoFit/>
          </a:bodyPr>
          <a:lstStyle/>
          <a:p>
            <a:r>
              <a:rPr lang="en-US" sz="1600" i="1" dirty="0">
                <a:solidFill>
                  <a:srgbClr val="64748B"/>
                </a:solidFill>
                <a:latin typeface="Poppins "/>
                <a:ea typeface="Calibri" pitchFamily="34" charset="-122"/>
                <a:cs typeface="Poppins Black" panose="00000A00000000000000" pitchFamily="2" charset="0"/>
              </a:rPr>
              <a:t>Compliant interaction with accurate reference tracking</a:t>
            </a:r>
            <a:endParaRPr lang="en-US" sz="1600" dirty="0">
              <a:latin typeface="Poppins "/>
              <a:cs typeface="Poppins Black" panose="00000A00000000000000" pitchFamily="2" charset="0"/>
            </a:endParaRPr>
          </a:p>
        </p:txBody>
      </p:sp>
      <p:pic>
        <p:nvPicPr>
          <p:cNvPr id="7" name="Picture 6">
            <a:extLst>
              <a:ext uri="{FF2B5EF4-FFF2-40B4-BE49-F238E27FC236}">
                <a16:creationId xmlns:a16="http://schemas.microsoft.com/office/drawing/2014/main" id="{B4F7A0A8-4C7D-C75F-672E-298CC88F0FA8}"/>
              </a:ext>
            </a:extLst>
          </p:cNvPr>
          <p:cNvPicPr>
            <a:picLocks noChangeAspect="1"/>
          </p:cNvPicPr>
          <p:nvPr/>
        </p:nvPicPr>
        <p:blipFill>
          <a:blip r:embed="rId7"/>
          <a:stretch>
            <a:fillRect/>
          </a:stretch>
        </p:blipFill>
        <p:spPr>
          <a:xfrm>
            <a:off x="604928" y="2479986"/>
            <a:ext cx="4944445" cy="2817883"/>
          </a:xfrm>
          <a:prstGeom prst="rect">
            <a:avLst/>
          </a:prstGeom>
          <a:ln w="19050">
            <a:noFill/>
          </a:ln>
        </p:spPr>
      </p:pic>
      <p:pic>
        <p:nvPicPr>
          <p:cNvPr id="9" name="Picture 8">
            <a:extLst>
              <a:ext uri="{FF2B5EF4-FFF2-40B4-BE49-F238E27FC236}">
                <a16:creationId xmlns:a16="http://schemas.microsoft.com/office/drawing/2014/main" id="{17721D31-5425-8ABA-72CD-A1C02DAC0008}"/>
              </a:ext>
            </a:extLst>
          </p:cNvPr>
          <p:cNvPicPr>
            <a:picLocks noChangeAspect="1"/>
          </p:cNvPicPr>
          <p:nvPr/>
        </p:nvPicPr>
        <p:blipFill>
          <a:blip r:embed="rId8"/>
          <a:stretch>
            <a:fillRect/>
          </a:stretch>
        </p:blipFill>
        <p:spPr>
          <a:xfrm>
            <a:off x="6273477" y="2479985"/>
            <a:ext cx="4899696" cy="2817883"/>
          </a:xfrm>
          <a:prstGeom prst="rect">
            <a:avLst/>
          </a:prstGeom>
          <a:ln w="6350">
            <a:noFill/>
          </a:ln>
        </p:spPr>
      </p:pic>
    </p:spTree>
    <p:extLst>
      <p:ext uri="{BB962C8B-B14F-4D97-AF65-F5344CB8AC3E}">
        <p14:creationId xmlns:p14="http://schemas.microsoft.com/office/powerpoint/2010/main" val="3923112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D1C4C-3504-A5DB-530C-1E5C442D2FE9}"/>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C9E6B5E6-65E0-EB4B-EC8B-F0EF71AF13EF}"/>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55C1D416-60B1-2BA3-203D-2D676FC4CA2B}"/>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BCE342B0-032A-7EC8-7517-9FDE86DF00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B3DC3FA6-CD6C-0E9E-03E6-E0D802422A71}"/>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B3DC3FA6-CD6C-0E9E-03E6-E0D802422A71}"/>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B6EABBF6-6092-0533-35C1-163B09620A78}"/>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B6EABBF6-6092-0533-35C1-163B09620A78}"/>
                  </a:ext>
                </a:extLst>
              </p:cNvPr>
              <p:cNvPicPr/>
              <p:nvPr/>
            </p:nvPicPr>
            <p:blipFill>
              <a:blip r:embed="rId6"/>
              <a:stretch>
                <a:fillRect/>
              </a:stretch>
            </p:blipFill>
            <p:spPr>
              <a:xfrm>
                <a:off x="5259213" y="963076"/>
                <a:ext cx="1950120" cy="351561"/>
              </a:xfrm>
              <a:prstGeom prst="rect">
                <a:avLst/>
              </a:prstGeom>
            </p:spPr>
          </p:pic>
        </mc:Fallback>
      </mc:AlternateContent>
      <p:sp>
        <p:nvSpPr>
          <p:cNvPr id="14" name="Google Shape;259;p29">
            <a:extLst>
              <a:ext uri="{FF2B5EF4-FFF2-40B4-BE49-F238E27FC236}">
                <a16:creationId xmlns:a16="http://schemas.microsoft.com/office/drawing/2014/main" id="{44F5F1D7-2FB4-491C-6436-2140DAAFE7EE}"/>
              </a:ext>
            </a:extLst>
          </p:cNvPr>
          <p:cNvSpPr/>
          <p:nvPr/>
        </p:nvSpPr>
        <p:spPr>
          <a:xfrm>
            <a:off x="525933" y="1433398"/>
            <a:ext cx="7231228"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F965DA94-4B13-2494-18DE-6FAB934198F6}"/>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Functional Safety Architecture</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29C7A861-D8E8-5F7B-DF03-2D43FC7BC2D4}"/>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B741650A-736D-3074-C423-E3B41BF2242A}"/>
              </a:ext>
            </a:extLst>
          </p:cNvPr>
          <p:cNvSpPr txBox="1"/>
          <p:nvPr/>
        </p:nvSpPr>
        <p:spPr>
          <a:xfrm>
            <a:off x="604929" y="1705798"/>
            <a:ext cx="6109138" cy="338554"/>
          </a:xfrm>
          <a:prstGeom prst="rect">
            <a:avLst/>
          </a:prstGeom>
          <a:noFill/>
        </p:spPr>
        <p:txBody>
          <a:bodyPr wrap="square">
            <a:spAutoFit/>
          </a:bodyPr>
          <a:lstStyle/>
          <a:p>
            <a:r>
              <a:rPr lang="en-US" sz="1600" i="1" dirty="0">
                <a:solidFill>
                  <a:srgbClr val="64748B"/>
                </a:solidFill>
                <a:latin typeface="Poppins" panose="00000500000000000000" pitchFamily="2" charset="0"/>
                <a:ea typeface="Calibri" pitchFamily="34" charset="-122"/>
                <a:cs typeface="Poppins" panose="00000500000000000000" pitchFamily="2" charset="0"/>
              </a:rPr>
              <a:t>Defense-in-depth across three cooperating layers</a:t>
            </a:r>
            <a:endParaRPr lang="en-US" sz="1600" dirty="0">
              <a:latin typeface="Poppins" panose="00000500000000000000" pitchFamily="2" charset="0"/>
              <a:cs typeface="Poppins" panose="00000500000000000000" pitchFamily="2" charset="0"/>
            </a:endParaRPr>
          </a:p>
        </p:txBody>
      </p:sp>
      <p:sp>
        <p:nvSpPr>
          <p:cNvPr id="4" name="Shape 3">
            <a:extLst>
              <a:ext uri="{FF2B5EF4-FFF2-40B4-BE49-F238E27FC236}">
                <a16:creationId xmlns:a16="http://schemas.microsoft.com/office/drawing/2014/main" id="{D5152922-8B50-E421-6A54-580534BD5D7F}"/>
              </a:ext>
            </a:extLst>
          </p:cNvPr>
          <p:cNvSpPr/>
          <p:nvPr/>
        </p:nvSpPr>
        <p:spPr>
          <a:xfrm>
            <a:off x="376835" y="2189941"/>
            <a:ext cx="3749040" cy="3799868"/>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dirty="0"/>
          </a:p>
        </p:txBody>
      </p:sp>
      <p:sp>
        <p:nvSpPr>
          <p:cNvPr id="8" name="Shape 4">
            <a:extLst>
              <a:ext uri="{FF2B5EF4-FFF2-40B4-BE49-F238E27FC236}">
                <a16:creationId xmlns:a16="http://schemas.microsoft.com/office/drawing/2014/main" id="{BFD14D6B-6620-03F7-2A81-C2E4D9C983BF}"/>
              </a:ext>
            </a:extLst>
          </p:cNvPr>
          <p:cNvSpPr/>
          <p:nvPr/>
        </p:nvSpPr>
        <p:spPr>
          <a:xfrm>
            <a:off x="376835" y="2189941"/>
            <a:ext cx="3749040" cy="109728"/>
          </a:xfrm>
          <a:prstGeom prst="rect">
            <a:avLst/>
          </a:prstGeom>
          <a:solidFill>
            <a:srgbClr val="065A82"/>
          </a:solidFill>
          <a:ln w="12700">
            <a:solidFill>
              <a:srgbClr val="065A82"/>
            </a:solidFill>
            <a:prstDash val="solid"/>
          </a:ln>
        </p:spPr>
        <p:txBody>
          <a:bodyPr/>
          <a:lstStyle/>
          <a:p>
            <a:endParaRPr lang="it-IT"/>
          </a:p>
        </p:txBody>
      </p:sp>
      <p:sp>
        <p:nvSpPr>
          <p:cNvPr id="16" name="Text 5">
            <a:extLst>
              <a:ext uri="{FF2B5EF4-FFF2-40B4-BE49-F238E27FC236}">
                <a16:creationId xmlns:a16="http://schemas.microsoft.com/office/drawing/2014/main" id="{EC62A579-8BDA-64A7-15A8-A57A797E6DC3}"/>
              </a:ext>
            </a:extLst>
          </p:cNvPr>
          <p:cNvSpPr/>
          <p:nvPr/>
        </p:nvSpPr>
        <p:spPr>
          <a:xfrm>
            <a:off x="1291235" y="2445973"/>
            <a:ext cx="2743200" cy="320040"/>
          </a:xfrm>
          <a:prstGeom prst="rect">
            <a:avLst/>
          </a:prstGeom>
          <a:noFill/>
          <a:ln/>
        </p:spPr>
        <p:txBody>
          <a:bodyPr wrap="square" lIns="0" tIns="0" rIns="0" bIns="0" rtlCol="0" anchor="ctr"/>
          <a:lstStyle/>
          <a:p>
            <a:pPr marL="0" indent="0">
              <a:buNone/>
            </a:pPr>
            <a:r>
              <a:rPr lang="en-US" sz="1000" b="1" kern="0" spc="200" dirty="0">
                <a:solidFill>
                  <a:srgbClr val="E8A33D"/>
                </a:solidFill>
                <a:latin typeface="Poppins Black" panose="00000A00000000000000" pitchFamily="2" charset="0"/>
                <a:ea typeface="Calibri" pitchFamily="34" charset="-122"/>
                <a:cs typeface="Poppins Black" panose="00000A00000000000000" pitchFamily="2" charset="0"/>
              </a:rPr>
              <a:t>ENFORCEMENT</a:t>
            </a:r>
            <a:endParaRPr lang="en-US" sz="1000" dirty="0">
              <a:latin typeface="Poppins Black" panose="00000A00000000000000" pitchFamily="2" charset="0"/>
              <a:cs typeface="Poppins Black" panose="00000A00000000000000" pitchFamily="2" charset="0"/>
            </a:endParaRPr>
          </a:p>
        </p:txBody>
      </p:sp>
      <p:sp>
        <p:nvSpPr>
          <p:cNvPr id="17" name="Text 6">
            <a:extLst>
              <a:ext uri="{FF2B5EF4-FFF2-40B4-BE49-F238E27FC236}">
                <a16:creationId xmlns:a16="http://schemas.microsoft.com/office/drawing/2014/main" id="{01D550F4-F451-CB2F-1024-D0027E7374AC}"/>
              </a:ext>
            </a:extLst>
          </p:cNvPr>
          <p:cNvSpPr/>
          <p:nvPr/>
        </p:nvSpPr>
        <p:spPr>
          <a:xfrm>
            <a:off x="1291235" y="2720293"/>
            <a:ext cx="2743200" cy="411480"/>
          </a:xfrm>
          <a:prstGeom prst="rect">
            <a:avLst/>
          </a:prstGeom>
          <a:noFill/>
          <a:ln/>
        </p:spPr>
        <p:txBody>
          <a:bodyPr wrap="square" lIns="0" tIns="0" rIns="0" bIns="0" rtlCol="0" anchor="ctr"/>
          <a:lstStyle/>
          <a:p>
            <a:pPr marL="0" indent="0">
              <a:buNone/>
            </a:pPr>
            <a:r>
              <a:rPr lang="en-US" sz="1700" b="1" dirty="0">
                <a:solidFill>
                  <a:srgbClr val="0A2540"/>
                </a:solidFill>
                <a:latin typeface="Poppins" panose="00000500000000000000" pitchFamily="2" charset="0"/>
                <a:ea typeface="Cambria" pitchFamily="34" charset="-122"/>
                <a:cs typeface="Poppins" panose="00000500000000000000" pitchFamily="2" charset="0"/>
              </a:rPr>
              <a:t>  </a:t>
            </a:r>
            <a:r>
              <a:rPr lang="en-US" sz="1700" b="1" dirty="0" err="1">
                <a:solidFill>
                  <a:srgbClr val="0A2540"/>
                </a:solidFill>
                <a:latin typeface="Poppins" panose="00000500000000000000" pitchFamily="2" charset="0"/>
                <a:ea typeface="Cambria" pitchFamily="34" charset="-122"/>
                <a:cs typeface="Poppins" panose="00000500000000000000" pitchFamily="2" charset="0"/>
              </a:rPr>
              <a:t>ExoBridge</a:t>
            </a:r>
            <a:endParaRPr lang="en-US" sz="1700" dirty="0">
              <a:latin typeface="Poppins" panose="00000500000000000000" pitchFamily="2" charset="0"/>
              <a:cs typeface="Poppins" panose="00000500000000000000" pitchFamily="2" charset="0"/>
            </a:endParaRPr>
          </a:p>
        </p:txBody>
      </p:sp>
      <p:sp>
        <p:nvSpPr>
          <p:cNvPr id="18" name="Text 7">
            <a:extLst>
              <a:ext uri="{FF2B5EF4-FFF2-40B4-BE49-F238E27FC236}">
                <a16:creationId xmlns:a16="http://schemas.microsoft.com/office/drawing/2014/main" id="{B0D2377D-7D79-CA5C-C799-C74D81BDBC2C}"/>
              </a:ext>
            </a:extLst>
          </p:cNvPr>
          <p:cNvSpPr/>
          <p:nvPr/>
        </p:nvSpPr>
        <p:spPr>
          <a:xfrm>
            <a:off x="605435" y="3287221"/>
            <a:ext cx="3291840" cy="1828800"/>
          </a:xfrm>
          <a:prstGeom prst="rect">
            <a:avLst/>
          </a:prstGeom>
          <a:noFill/>
          <a:ln/>
        </p:spPr>
        <p:txBody>
          <a:bodyPr wrap="square" rtlCol="0" anchor="ctr"/>
          <a:lstStyle/>
          <a:p>
            <a:pPr marL="342900" indent="-342900">
              <a:spcAft>
                <a:spcPts val="400"/>
              </a:spcAft>
              <a:buSzPct val="100000"/>
              <a:buChar char="•"/>
            </a:pPr>
            <a:endParaRPr lang="en-US" sz="1100" dirty="0"/>
          </a:p>
        </p:txBody>
      </p:sp>
      <p:sp>
        <p:nvSpPr>
          <p:cNvPr id="19" name="Shape 8">
            <a:extLst>
              <a:ext uri="{FF2B5EF4-FFF2-40B4-BE49-F238E27FC236}">
                <a16:creationId xmlns:a16="http://schemas.microsoft.com/office/drawing/2014/main" id="{E068A12D-6CA8-AB34-74F6-4253B79A4908}"/>
              </a:ext>
            </a:extLst>
          </p:cNvPr>
          <p:cNvSpPr/>
          <p:nvPr/>
        </p:nvSpPr>
        <p:spPr>
          <a:xfrm>
            <a:off x="4263035" y="2189941"/>
            <a:ext cx="3749040" cy="3799868"/>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20" name="Shape 9">
            <a:extLst>
              <a:ext uri="{FF2B5EF4-FFF2-40B4-BE49-F238E27FC236}">
                <a16:creationId xmlns:a16="http://schemas.microsoft.com/office/drawing/2014/main" id="{3290C76A-7DC8-4563-C216-535F9B71354F}"/>
              </a:ext>
            </a:extLst>
          </p:cNvPr>
          <p:cNvSpPr/>
          <p:nvPr/>
        </p:nvSpPr>
        <p:spPr>
          <a:xfrm>
            <a:off x="4263035" y="2189941"/>
            <a:ext cx="3749040" cy="109728"/>
          </a:xfrm>
          <a:prstGeom prst="rect">
            <a:avLst/>
          </a:prstGeom>
          <a:solidFill>
            <a:srgbClr val="065A82"/>
          </a:solidFill>
          <a:ln w="12700">
            <a:solidFill>
              <a:srgbClr val="065A82"/>
            </a:solidFill>
            <a:prstDash val="solid"/>
          </a:ln>
        </p:spPr>
        <p:txBody>
          <a:bodyPr/>
          <a:lstStyle/>
          <a:p>
            <a:endParaRPr lang="it-IT"/>
          </a:p>
        </p:txBody>
      </p:sp>
      <p:pic>
        <p:nvPicPr>
          <p:cNvPr id="21" name="Image 1" descr="preencoded.png">
            <a:extLst>
              <a:ext uri="{FF2B5EF4-FFF2-40B4-BE49-F238E27FC236}">
                <a16:creationId xmlns:a16="http://schemas.microsoft.com/office/drawing/2014/main" id="{32E4A90A-977C-9465-9534-FE42395466EB}"/>
              </a:ext>
            </a:extLst>
          </p:cNvPr>
          <p:cNvPicPr>
            <a:picLocks noChangeAspect="1"/>
          </p:cNvPicPr>
          <p:nvPr/>
        </p:nvPicPr>
        <p:blipFill>
          <a:blip r:embed="rId7"/>
          <a:stretch>
            <a:fillRect/>
          </a:stretch>
        </p:blipFill>
        <p:spPr>
          <a:xfrm>
            <a:off x="4491635" y="2464261"/>
            <a:ext cx="594360" cy="594360"/>
          </a:xfrm>
          <a:prstGeom prst="rect">
            <a:avLst/>
          </a:prstGeom>
        </p:spPr>
      </p:pic>
      <p:sp>
        <p:nvSpPr>
          <p:cNvPr id="22" name="Text 10">
            <a:extLst>
              <a:ext uri="{FF2B5EF4-FFF2-40B4-BE49-F238E27FC236}">
                <a16:creationId xmlns:a16="http://schemas.microsoft.com/office/drawing/2014/main" id="{B6E170BF-CB32-B4AA-BA0E-6C6E40D3F104}"/>
              </a:ext>
            </a:extLst>
          </p:cNvPr>
          <p:cNvSpPr/>
          <p:nvPr/>
        </p:nvSpPr>
        <p:spPr>
          <a:xfrm>
            <a:off x="5177435" y="2445973"/>
            <a:ext cx="2743200" cy="320040"/>
          </a:xfrm>
          <a:prstGeom prst="rect">
            <a:avLst/>
          </a:prstGeom>
          <a:noFill/>
          <a:ln/>
        </p:spPr>
        <p:txBody>
          <a:bodyPr wrap="square" lIns="0" tIns="0" rIns="0" bIns="0" rtlCol="0" anchor="ctr"/>
          <a:lstStyle/>
          <a:p>
            <a:pPr marL="0" indent="0">
              <a:buNone/>
            </a:pPr>
            <a:r>
              <a:rPr lang="en-US" sz="1000" b="1" kern="0" spc="200" dirty="0">
                <a:solidFill>
                  <a:srgbClr val="E8A33D"/>
                </a:solidFill>
                <a:latin typeface="Poppins Black" panose="00000A00000000000000" pitchFamily="2" charset="0"/>
                <a:ea typeface="Calibri" pitchFamily="34" charset="-122"/>
                <a:cs typeface="Poppins Black" panose="00000A00000000000000" pitchFamily="2" charset="0"/>
              </a:rPr>
              <a:t>DETECTION</a:t>
            </a:r>
            <a:endParaRPr lang="en-US" sz="1000" dirty="0">
              <a:latin typeface="Poppins Black" panose="00000A00000000000000" pitchFamily="2" charset="0"/>
              <a:cs typeface="Poppins Black" panose="00000A00000000000000" pitchFamily="2" charset="0"/>
            </a:endParaRPr>
          </a:p>
        </p:txBody>
      </p:sp>
      <p:sp>
        <p:nvSpPr>
          <p:cNvPr id="23" name="Text 11">
            <a:extLst>
              <a:ext uri="{FF2B5EF4-FFF2-40B4-BE49-F238E27FC236}">
                <a16:creationId xmlns:a16="http://schemas.microsoft.com/office/drawing/2014/main" id="{D8E57EBC-5CB2-E3F6-75AA-A0A7619669BF}"/>
              </a:ext>
            </a:extLst>
          </p:cNvPr>
          <p:cNvSpPr/>
          <p:nvPr/>
        </p:nvSpPr>
        <p:spPr>
          <a:xfrm>
            <a:off x="5177435" y="2720293"/>
            <a:ext cx="2743200" cy="411480"/>
          </a:xfrm>
          <a:prstGeom prst="rect">
            <a:avLst/>
          </a:prstGeom>
          <a:noFill/>
          <a:ln/>
        </p:spPr>
        <p:txBody>
          <a:bodyPr wrap="square" lIns="0" tIns="0" rIns="0" bIns="0" rtlCol="0" anchor="ctr"/>
          <a:lstStyle/>
          <a:p>
            <a:pPr marL="0" indent="0">
              <a:buNone/>
            </a:pPr>
            <a:r>
              <a:rPr lang="en-US" sz="1700" b="1" dirty="0">
                <a:solidFill>
                  <a:srgbClr val="0A2540"/>
                </a:solidFill>
                <a:latin typeface="Poppins "/>
                <a:ea typeface="Cambria" pitchFamily="34" charset="-122"/>
                <a:cs typeface="Cambria" pitchFamily="34" charset="-120"/>
              </a:rPr>
              <a:t>  </a:t>
            </a:r>
            <a:r>
              <a:rPr lang="en-US" sz="1700" b="1" dirty="0" err="1">
                <a:solidFill>
                  <a:srgbClr val="0A2540"/>
                </a:solidFill>
                <a:latin typeface="Poppins "/>
                <a:ea typeface="Cambria" pitchFamily="34" charset="-122"/>
                <a:cs typeface="Cambria" pitchFamily="34" charset="-120"/>
              </a:rPr>
              <a:t>FaultMonitorMode</a:t>
            </a:r>
            <a:endParaRPr lang="en-US" sz="1700" dirty="0">
              <a:latin typeface="Poppins "/>
            </a:endParaRPr>
          </a:p>
        </p:txBody>
      </p:sp>
      <p:sp>
        <p:nvSpPr>
          <p:cNvPr id="25" name="Shape 13">
            <a:extLst>
              <a:ext uri="{FF2B5EF4-FFF2-40B4-BE49-F238E27FC236}">
                <a16:creationId xmlns:a16="http://schemas.microsoft.com/office/drawing/2014/main" id="{DF1187BE-06B1-3220-17AB-B541B1370739}"/>
              </a:ext>
            </a:extLst>
          </p:cNvPr>
          <p:cNvSpPr/>
          <p:nvPr/>
        </p:nvSpPr>
        <p:spPr>
          <a:xfrm>
            <a:off x="8149235" y="2189941"/>
            <a:ext cx="3749040" cy="3799868"/>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26" name="Shape 14">
            <a:extLst>
              <a:ext uri="{FF2B5EF4-FFF2-40B4-BE49-F238E27FC236}">
                <a16:creationId xmlns:a16="http://schemas.microsoft.com/office/drawing/2014/main" id="{81B1B0AC-1002-AA96-B0D6-B2C157380740}"/>
              </a:ext>
            </a:extLst>
          </p:cNvPr>
          <p:cNvSpPr/>
          <p:nvPr/>
        </p:nvSpPr>
        <p:spPr>
          <a:xfrm>
            <a:off x="8149235" y="2189941"/>
            <a:ext cx="3749040" cy="109728"/>
          </a:xfrm>
          <a:prstGeom prst="rect">
            <a:avLst/>
          </a:prstGeom>
          <a:solidFill>
            <a:srgbClr val="065A82"/>
          </a:solidFill>
          <a:ln w="12700">
            <a:solidFill>
              <a:srgbClr val="065A82"/>
            </a:solidFill>
            <a:prstDash val="solid"/>
          </a:ln>
        </p:spPr>
        <p:txBody>
          <a:bodyPr/>
          <a:lstStyle/>
          <a:p>
            <a:endParaRPr lang="it-IT"/>
          </a:p>
        </p:txBody>
      </p:sp>
      <p:pic>
        <p:nvPicPr>
          <p:cNvPr id="27" name="Image 2" descr="preencoded.png">
            <a:extLst>
              <a:ext uri="{FF2B5EF4-FFF2-40B4-BE49-F238E27FC236}">
                <a16:creationId xmlns:a16="http://schemas.microsoft.com/office/drawing/2014/main" id="{E7B724F8-05D2-23F3-0EFE-09EF30E5300F}"/>
              </a:ext>
            </a:extLst>
          </p:cNvPr>
          <p:cNvPicPr>
            <a:picLocks noChangeAspect="1"/>
          </p:cNvPicPr>
          <p:nvPr/>
        </p:nvPicPr>
        <p:blipFill>
          <a:blip r:embed="rId8"/>
          <a:stretch>
            <a:fillRect/>
          </a:stretch>
        </p:blipFill>
        <p:spPr>
          <a:xfrm>
            <a:off x="604928" y="2464261"/>
            <a:ext cx="594360" cy="594360"/>
          </a:xfrm>
          <a:prstGeom prst="rect">
            <a:avLst/>
          </a:prstGeom>
        </p:spPr>
      </p:pic>
      <p:sp>
        <p:nvSpPr>
          <p:cNvPr id="28" name="Text 15">
            <a:extLst>
              <a:ext uri="{FF2B5EF4-FFF2-40B4-BE49-F238E27FC236}">
                <a16:creationId xmlns:a16="http://schemas.microsoft.com/office/drawing/2014/main" id="{4667FC51-5067-E4A3-F260-66C1A46E0AD6}"/>
              </a:ext>
            </a:extLst>
          </p:cNvPr>
          <p:cNvSpPr/>
          <p:nvPr/>
        </p:nvSpPr>
        <p:spPr>
          <a:xfrm>
            <a:off x="9063635" y="2445973"/>
            <a:ext cx="2743200" cy="320040"/>
          </a:xfrm>
          <a:prstGeom prst="rect">
            <a:avLst/>
          </a:prstGeom>
          <a:noFill/>
          <a:ln/>
        </p:spPr>
        <p:txBody>
          <a:bodyPr wrap="square" lIns="0" tIns="0" rIns="0" bIns="0" rtlCol="0" anchor="ctr"/>
          <a:lstStyle/>
          <a:p>
            <a:pPr marL="0" indent="0">
              <a:buNone/>
            </a:pPr>
            <a:r>
              <a:rPr lang="en-US" sz="1000" b="1" kern="0" spc="200" dirty="0">
                <a:solidFill>
                  <a:srgbClr val="E8A33D"/>
                </a:solidFill>
                <a:latin typeface="Poppins Black" panose="00000A00000000000000" pitchFamily="2" charset="0"/>
                <a:ea typeface="Calibri" pitchFamily="34" charset="-122"/>
                <a:cs typeface="Poppins Black" panose="00000A00000000000000" pitchFamily="2" charset="0"/>
              </a:rPr>
              <a:t>GOVERNANCE</a:t>
            </a:r>
            <a:endParaRPr lang="en-US" sz="1000" dirty="0">
              <a:latin typeface="Poppins Black" panose="00000A00000000000000" pitchFamily="2" charset="0"/>
              <a:cs typeface="Poppins Black" panose="00000A00000000000000" pitchFamily="2" charset="0"/>
            </a:endParaRPr>
          </a:p>
        </p:txBody>
      </p:sp>
      <p:sp>
        <p:nvSpPr>
          <p:cNvPr id="29" name="Text 16">
            <a:extLst>
              <a:ext uri="{FF2B5EF4-FFF2-40B4-BE49-F238E27FC236}">
                <a16:creationId xmlns:a16="http://schemas.microsoft.com/office/drawing/2014/main" id="{7EF70B93-4833-87B7-4ACF-8E37A3629DE7}"/>
              </a:ext>
            </a:extLst>
          </p:cNvPr>
          <p:cNvSpPr/>
          <p:nvPr/>
        </p:nvSpPr>
        <p:spPr>
          <a:xfrm>
            <a:off x="9063635" y="2720293"/>
            <a:ext cx="2743200" cy="411480"/>
          </a:xfrm>
          <a:prstGeom prst="rect">
            <a:avLst/>
          </a:prstGeom>
          <a:noFill/>
          <a:ln/>
        </p:spPr>
        <p:txBody>
          <a:bodyPr wrap="square" lIns="0" tIns="0" rIns="0" bIns="0" rtlCol="0" anchor="ctr"/>
          <a:lstStyle/>
          <a:p>
            <a:pPr marL="0" indent="0">
              <a:buNone/>
            </a:pPr>
            <a:r>
              <a:rPr lang="en-US" sz="1700" b="1" dirty="0">
                <a:solidFill>
                  <a:srgbClr val="0A2540"/>
                </a:solidFill>
                <a:latin typeface="Poppins" panose="00000500000000000000" pitchFamily="2" charset="0"/>
                <a:ea typeface="Cambria" pitchFamily="34" charset="-122"/>
                <a:cs typeface="Poppins" panose="00000500000000000000" pitchFamily="2" charset="0"/>
              </a:rPr>
              <a:t>StateMachine (C++)</a:t>
            </a:r>
            <a:endParaRPr lang="en-US" sz="1700" dirty="0">
              <a:latin typeface="Poppins" panose="00000500000000000000" pitchFamily="2" charset="0"/>
              <a:cs typeface="Poppins" panose="00000500000000000000" pitchFamily="2" charset="0"/>
            </a:endParaRPr>
          </a:p>
        </p:txBody>
      </p:sp>
      <p:sp>
        <p:nvSpPr>
          <p:cNvPr id="30" name="Text 17">
            <a:extLst>
              <a:ext uri="{FF2B5EF4-FFF2-40B4-BE49-F238E27FC236}">
                <a16:creationId xmlns:a16="http://schemas.microsoft.com/office/drawing/2014/main" id="{C2B5EB52-E55E-0607-1604-2E88F5E30F5B}"/>
              </a:ext>
            </a:extLst>
          </p:cNvPr>
          <p:cNvSpPr/>
          <p:nvPr/>
        </p:nvSpPr>
        <p:spPr>
          <a:xfrm>
            <a:off x="8377835" y="3287221"/>
            <a:ext cx="3291840" cy="1828800"/>
          </a:xfrm>
          <a:prstGeom prst="rect">
            <a:avLst/>
          </a:prstGeom>
          <a:noFill/>
          <a:ln/>
        </p:spPr>
        <p:txBody>
          <a:bodyPr wrap="square" rtlCol="0" anchor="ctr"/>
          <a:lstStyle/>
          <a:p>
            <a:pPr marL="342900" indent="-342900">
              <a:spcAft>
                <a:spcPts val="400"/>
              </a:spcAft>
              <a:buSzPct val="100000"/>
              <a:buChar char="•"/>
            </a:pPr>
            <a:endParaRPr lang="en-US" sz="1100" dirty="0"/>
          </a:p>
        </p:txBody>
      </p:sp>
      <p:pic>
        <p:nvPicPr>
          <p:cNvPr id="13" name="Image 0" descr="preencoded.png">
            <a:extLst>
              <a:ext uri="{FF2B5EF4-FFF2-40B4-BE49-F238E27FC236}">
                <a16:creationId xmlns:a16="http://schemas.microsoft.com/office/drawing/2014/main" id="{EAF735B8-BF3E-BB4B-5BBE-1849CB297164}"/>
              </a:ext>
            </a:extLst>
          </p:cNvPr>
          <p:cNvPicPr>
            <a:picLocks noChangeAspect="1"/>
          </p:cNvPicPr>
          <p:nvPr/>
        </p:nvPicPr>
        <p:blipFill>
          <a:blip r:embed="rId9"/>
          <a:stretch>
            <a:fillRect/>
          </a:stretch>
        </p:blipFill>
        <p:spPr>
          <a:xfrm>
            <a:off x="8377835" y="2487657"/>
            <a:ext cx="594360" cy="594360"/>
          </a:xfrm>
          <a:prstGeom prst="rect">
            <a:avLst/>
          </a:prstGeom>
        </p:spPr>
      </p:pic>
      <p:sp>
        <p:nvSpPr>
          <p:cNvPr id="39" name="Rectangle 4">
            <a:extLst>
              <a:ext uri="{FF2B5EF4-FFF2-40B4-BE49-F238E27FC236}">
                <a16:creationId xmlns:a16="http://schemas.microsoft.com/office/drawing/2014/main" id="{B998643C-B4AC-F821-40CA-1619730129F9}"/>
              </a:ext>
            </a:extLst>
          </p:cNvPr>
          <p:cNvSpPr>
            <a:spLocks noChangeArrowheads="1"/>
          </p:cNvSpPr>
          <p:nvPr/>
        </p:nvSpPr>
        <p:spPr bwMode="auto">
          <a:xfrm>
            <a:off x="487266" y="3114646"/>
            <a:ext cx="352817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it-IT" altLang="it-IT" sz="10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Gateway node </a:t>
            </a: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mediating</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 </a:t>
            </a: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all</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 </a:t>
            </a: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control signals </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between controllers and plant, inserted transparently via ROS 2 topic remapping.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Runs at </a:t>
            </a: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200 Hz</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 functional even if higher-level supervision is unavailable.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Four operating modes </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(nominal, compliant, torque_limit, stop) applying mode-dependent torque and trajectory clamping.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Per-channel watchdogs </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on torque, trajectory, joint states, and external force.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Publishes a 200 Hz </a:t>
            </a: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status vector </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including both pre- and post-clamp torque to support downgrade logic</a:t>
            </a:r>
            <a:r>
              <a:rPr kumimoji="0" lang="it-IT" altLang="it-IT" sz="1000" b="0" i="0" u="none" strike="noStrike" cap="none" normalizeH="0" baseline="0" dirty="0">
                <a:ln>
                  <a:noFill/>
                </a:ln>
                <a:solidFill>
                  <a:srgbClr val="193C6A"/>
                </a:solidFill>
                <a:effectLst/>
                <a:latin typeface="Arial" panose="020B0604020202020204" pitchFamily="34" charset="0"/>
              </a:rPr>
              <a:t>. </a:t>
            </a:r>
          </a:p>
        </p:txBody>
      </p:sp>
      <p:sp>
        <p:nvSpPr>
          <p:cNvPr id="40" name="Rectangle 5">
            <a:extLst>
              <a:ext uri="{FF2B5EF4-FFF2-40B4-BE49-F238E27FC236}">
                <a16:creationId xmlns:a16="http://schemas.microsoft.com/office/drawing/2014/main" id="{9F034C91-910B-96D3-DAFE-E2CA082E52E5}"/>
              </a:ext>
            </a:extLst>
          </p:cNvPr>
          <p:cNvSpPr>
            <a:spLocks noChangeArrowheads="1"/>
          </p:cNvSpPr>
          <p:nvPr/>
        </p:nvSpPr>
        <p:spPr bwMode="auto">
          <a:xfrm>
            <a:off x="8369713" y="3058621"/>
            <a:ext cx="3445452"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0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Plugin-based</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 C++ state machine (pluginlib) managing four safety states with a well-defined transition graph.</a:t>
            </a:r>
          </a:p>
          <a:p>
            <a:pPr marR="0" lvl="0" algn="l" defTabSz="914400" rtl="0" eaLnBrk="0" fontAlgn="base" latinLnBrk="0" hangingPunct="0">
              <a:lnSpc>
                <a:spcPct val="100000"/>
              </a:lnSpc>
              <a:spcBef>
                <a:spcPct val="0"/>
              </a:spcBef>
              <a:spcAft>
                <a:spcPct val="0"/>
              </a:spcAft>
              <a:buClrTx/>
              <a:buSzTx/>
              <a:tabLst/>
            </a:pP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Fault latching </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on SAFE_STOP, requiring explicit operator reset.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Bridge supervision through </a:t>
            </a: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liveness monitoring </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and mode coherence checks.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Four ROS 2 services for external requests; consolidated </a:t>
            </a: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SafetyStatus</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 diagnostic published at 10 Hz.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Optional automatic downgrade </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for controlled de-escalation from degraded states. </a:t>
            </a:r>
          </a:p>
        </p:txBody>
      </p:sp>
      <p:sp>
        <p:nvSpPr>
          <p:cNvPr id="41" name="Rectangle 6">
            <a:extLst>
              <a:ext uri="{FF2B5EF4-FFF2-40B4-BE49-F238E27FC236}">
                <a16:creationId xmlns:a16="http://schemas.microsoft.com/office/drawing/2014/main" id="{0E7B868A-359D-129A-A036-46ED4DB7D42E}"/>
              </a:ext>
            </a:extLst>
          </p:cNvPr>
          <p:cNvSpPr>
            <a:spLocks noChangeArrowheads="1"/>
          </p:cNvSpPr>
          <p:nvPr/>
        </p:nvSpPr>
        <p:spPr bwMode="auto">
          <a:xfrm>
            <a:off x="4459015" y="3131773"/>
            <a:ext cx="3445168"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0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Primary </a:t>
            </a: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software-based detection plugin</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 active during nominal operation.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Four-level severity classification on post-clamp torque and crank velocity, evaluated at 200 Hz.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Debounced escalation </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to suppress spurious threshold crossings, with a startup grace period.</a:t>
            </a:r>
          </a:p>
          <a:p>
            <a:pPr marR="0" lvl="0" algn="l" defTabSz="914400" rtl="0" eaLnBrk="0" fontAlgn="base" latinLnBrk="0" hangingPunct="0">
              <a:lnSpc>
                <a:spcPct val="100000"/>
              </a:lnSpc>
              <a:spcBef>
                <a:spcPct val="0"/>
              </a:spcBef>
              <a:spcAft>
                <a:spcPct val="0"/>
              </a:spcAft>
              <a:buClrTx/>
              <a:buSzTx/>
              <a:tabLst/>
            </a:pP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1" i="0" u="none" strike="noStrike" cap="none" normalizeH="0" baseline="0" dirty="0">
                <a:ln>
                  <a:noFill/>
                </a:ln>
                <a:solidFill>
                  <a:srgbClr val="193C6A"/>
                </a:solidFill>
                <a:effectLst/>
                <a:latin typeface="Poppins" panose="00000500000000000000" pitchFamily="2" charset="0"/>
                <a:cs typeface="Poppins" panose="00000500000000000000" pitchFamily="2" charset="0"/>
              </a:rPr>
              <a:t>Asynchronous service requests</a:t>
            </a: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 to the state machine, preserving real-time responsiveness.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000" b="0" i="0" u="none" strike="noStrike" cap="none" normalizeH="0" baseline="0" dirty="0">
                <a:ln>
                  <a:noFill/>
                </a:ln>
                <a:solidFill>
                  <a:srgbClr val="193C6A"/>
                </a:solidFill>
                <a:effectLst/>
                <a:latin typeface="Poppins" panose="00000500000000000000" pitchFamily="2" charset="0"/>
                <a:cs typeface="Poppins" panose="00000500000000000000" pitchFamily="2" charset="0"/>
              </a:rPr>
              <a:t>All thresholds and timeouts tunable via safety_params.yaml without recompilation. </a:t>
            </a:r>
          </a:p>
        </p:txBody>
      </p:sp>
    </p:spTree>
    <p:extLst>
      <p:ext uri="{BB962C8B-B14F-4D97-AF65-F5344CB8AC3E}">
        <p14:creationId xmlns:p14="http://schemas.microsoft.com/office/powerpoint/2010/main" val="1240917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FB161-6BDD-7240-E588-0400510130C0}"/>
            </a:ext>
          </a:extLst>
        </p:cNvPr>
        <p:cNvGrpSpPr/>
        <p:nvPr/>
      </p:nvGrpSpPr>
      <p:grpSpPr>
        <a:xfrm>
          <a:off x="0" y="0"/>
          <a:ext cx="0" cy="0"/>
          <a:chOff x="0" y="0"/>
          <a:chExt cx="0" cy="0"/>
        </a:xfrm>
      </p:grpSpPr>
      <p:sp>
        <p:nvSpPr>
          <p:cNvPr id="47" name="Shape 3">
            <a:extLst>
              <a:ext uri="{FF2B5EF4-FFF2-40B4-BE49-F238E27FC236}">
                <a16:creationId xmlns:a16="http://schemas.microsoft.com/office/drawing/2014/main" id="{9DDEFA8C-E8F1-348E-9D3A-01B3E492BBD5}"/>
              </a:ext>
            </a:extLst>
          </p:cNvPr>
          <p:cNvSpPr>
            <a:spLocks/>
          </p:cNvSpPr>
          <p:nvPr/>
        </p:nvSpPr>
        <p:spPr>
          <a:xfrm>
            <a:off x="525933" y="2567497"/>
            <a:ext cx="6318637" cy="3748841"/>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42" name="Google Shape;259;p29">
            <a:extLst>
              <a:ext uri="{FF2B5EF4-FFF2-40B4-BE49-F238E27FC236}">
                <a16:creationId xmlns:a16="http://schemas.microsoft.com/office/drawing/2014/main" id="{D4727B85-7536-7E02-D292-DD0446B73723}"/>
              </a:ext>
            </a:extLst>
          </p:cNvPr>
          <p:cNvSpPr/>
          <p:nvPr/>
        </p:nvSpPr>
        <p:spPr>
          <a:xfrm>
            <a:off x="525933" y="1433398"/>
            <a:ext cx="7231228"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Sottotitolo 2">
            <a:extLst>
              <a:ext uri="{FF2B5EF4-FFF2-40B4-BE49-F238E27FC236}">
                <a16:creationId xmlns:a16="http://schemas.microsoft.com/office/drawing/2014/main" id="{CCA38137-F7D2-DE70-CE5E-AFA2D2289C0F}"/>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ED1FFE0F-12EA-88CA-529A-DCE591243AF1}"/>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52880B31-DA29-F689-65AA-420F089C6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8550445A-B923-D758-40A5-9B6964593F17}"/>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8550445A-B923-D758-40A5-9B6964593F17}"/>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C114F14B-36B7-2586-A7B1-62BF67DF261C}"/>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C114F14B-36B7-2586-A7B1-62BF67DF261C}"/>
                  </a:ext>
                </a:extLst>
              </p:cNvPr>
              <p:cNvPicPr/>
              <p:nvPr/>
            </p:nvPicPr>
            <p:blipFill>
              <a:blip r:embed="rId6"/>
              <a:stretch>
                <a:fillRect/>
              </a:stretch>
            </p:blipFill>
            <p:spPr>
              <a:xfrm>
                <a:off x="5259213" y="963076"/>
                <a:ext cx="1950120" cy="351561"/>
              </a:xfrm>
              <a:prstGeom prst="rect">
                <a:avLst/>
              </a:prstGeom>
            </p:spPr>
          </p:pic>
        </mc:Fallback>
      </mc:AlternateContent>
      <p:sp>
        <p:nvSpPr>
          <p:cNvPr id="14" name="Google Shape;259;p29">
            <a:extLst>
              <a:ext uri="{FF2B5EF4-FFF2-40B4-BE49-F238E27FC236}">
                <a16:creationId xmlns:a16="http://schemas.microsoft.com/office/drawing/2014/main" id="{3272525E-71F2-A55B-594D-2B6057504134}"/>
              </a:ext>
            </a:extLst>
          </p:cNvPr>
          <p:cNvSpPr/>
          <p:nvPr/>
        </p:nvSpPr>
        <p:spPr>
          <a:xfrm>
            <a:off x="525933" y="1433398"/>
            <a:ext cx="7139788"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4C99F0F6-2F4D-7526-5F0A-A0F5405523B2}"/>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Functional Safety Architecture</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CB144B67-2453-BC05-E17D-484D8AA81F91}"/>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23C95822-E98E-7AF1-CEC7-A019CD48510D}"/>
              </a:ext>
            </a:extLst>
          </p:cNvPr>
          <p:cNvSpPr txBox="1"/>
          <p:nvPr/>
        </p:nvSpPr>
        <p:spPr>
          <a:xfrm>
            <a:off x="604929" y="1705798"/>
            <a:ext cx="6109138" cy="338554"/>
          </a:xfrm>
          <a:prstGeom prst="rect">
            <a:avLst/>
          </a:prstGeom>
          <a:noFill/>
        </p:spPr>
        <p:txBody>
          <a:bodyPr wrap="square">
            <a:spAutoFit/>
          </a:bodyPr>
          <a:lstStyle/>
          <a:p>
            <a:r>
              <a:rPr lang="en-US" sz="1600" i="1" dirty="0">
                <a:solidFill>
                  <a:srgbClr val="64748B"/>
                </a:solidFill>
                <a:latin typeface="Poppins" panose="00000500000000000000" pitchFamily="2" charset="0"/>
                <a:ea typeface="Calibri" pitchFamily="34" charset="-122"/>
                <a:cs typeface="Poppins" panose="00000500000000000000" pitchFamily="2" charset="0"/>
              </a:rPr>
              <a:t>Defense-in-depth across three cooperating layers</a:t>
            </a:r>
            <a:endParaRPr lang="en-US" sz="1600" dirty="0">
              <a:latin typeface="Poppins" panose="00000500000000000000" pitchFamily="2" charset="0"/>
              <a:cs typeface="Poppins" panose="00000500000000000000" pitchFamily="2" charset="0"/>
            </a:endParaRPr>
          </a:p>
        </p:txBody>
      </p:sp>
      <p:sp>
        <p:nvSpPr>
          <p:cNvPr id="48" name="TextBox 47">
            <a:extLst>
              <a:ext uri="{FF2B5EF4-FFF2-40B4-BE49-F238E27FC236}">
                <a16:creationId xmlns:a16="http://schemas.microsoft.com/office/drawing/2014/main" id="{98476CA5-2A92-B478-40DE-BB81529DEF45}"/>
              </a:ext>
            </a:extLst>
          </p:cNvPr>
          <p:cNvSpPr txBox="1"/>
          <p:nvPr/>
        </p:nvSpPr>
        <p:spPr>
          <a:xfrm>
            <a:off x="604928" y="2195850"/>
            <a:ext cx="6236003" cy="369332"/>
          </a:xfrm>
          <a:prstGeom prst="rect">
            <a:avLst/>
          </a:prstGeom>
          <a:noFill/>
        </p:spPr>
        <p:txBody>
          <a:bodyPr wrap="none" rtlCol="0">
            <a:spAutoFit/>
          </a:bodyPr>
          <a:lstStyle/>
          <a:p>
            <a:r>
              <a:rPr lang="it-IT" b="1" u="sng" dirty="0">
                <a:solidFill>
                  <a:schemeClr val="tx2"/>
                </a:solidFill>
                <a:latin typeface="Poppins" panose="00000500000000000000" pitchFamily="2" charset="0"/>
                <a:cs typeface="Poppins" panose="00000500000000000000" pitchFamily="2" charset="0"/>
              </a:rPr>
              <a:t>Scenario</a:t>
            </a:r>
            <a:r>
              <a:rPr lang="it-IT" dirty="0">
                <a:solidFill>
                  <a:schemeClr val="tx2"/>
                </a:solidFill>
                <a:latin typeface="Poppins" panose="00000500000000000000" pitchFamily="2" charset="0"/>
                <a:cs typeface="Poppins" panose="00000500000000000000" pitchFamily="2" charset="0"/>
              </a:rPr>
              <a:t>: </a:t>
            </a:r>
            <a:r>
              <a:rPr lang="it-IT" sz="1400" dirty="0">
                <a:solidFill>
                  <a:schemeClr val="tx2"/>
                </a:solidFill>
                <a:latin typeface="Poppins" panose="00000500000000000000" pitchFamily="2" charset="0"/>
                <a:cs typeface="Poppins" panose="00000500000000000000" pitchFamily="2" charset="0"/>
              </a:rPr>
              <a:t>offset on /torque greater than </a:t>
            </a:r>
            <a:r>
              <a:rPr lang="it-IT" sz="1400" b="1" dirty="0">
                <a:solidFill>
                  <a:schemeClr val="tx2"/>
                </a:solidFill>
                <a:latin typeface="Consolas" panose="020B0609020204030204" pitchFamily="49" charset="0"/>
                <a:cs typeface="Poppins" panose="00000500000000000000" pitchFamily="2" charset="0"/>
              </a:rPr>
              <a:t>TORQUE_LIMIT </a:t>
            </a:r>
            <a:r>
              <a:rPr lang="it-IT" sz="1400" dirty="0">
                <a:solidFill>
                  <a:schemeClr val="tx2"/>
                </a:solidFill>
                <a:latin typeface="Poppins" panose="00000500000000000000" pitchFamily="2" charset="0"/>
                <a:cs typeface="Poppins" panose="00000500000000000000" pitchFamily="2" charset="0"/>
              </a:rPr>
              <a:t>threshold</a:t>
            </a:r>
            <a:endParaRPr lang="it-IT" b="1" u="sng" dirty="0">
              <a:solidFill>
                <a:schemeClr val="tx2"/>
              </a:solidFill>
              <a:latin typeface="Poppins" panose="00000500000000000000" pitchFamily="2" charset="0"/>
              <a:cs typeface="Poppins" panose="00000500000000000000" pitchFamily="2" charset="0"/>
            </a:endParaRPr>
          </a:p>
        </p:txBody>
      </p:sp>
      <p:sp>
        <p:nvSpPr>
          <p:cNvPr id="52" name="TextBox 51">
            <a:extLst>
              <a:ext uri="{FF2B5EF4-FFF2-40B4-BE49-F238E27FC236}">
                <a16:creationId xmlns:a16="http://schemas.microsoft.com/office/drawing/2014/main" id="{0EA2877F-69AF-319C-2FE1-201B4197413D}"/>
              </a:ext>
            </a:extLst>
          </p:cNvPr>
          <p:cNvSpPr txBox="1"/>
          <p:nvPr/>
        </p:nvSpPr>
        <p:spPr>
          <a:xfrm>
            <a:off x="6970602" y="3127881"/>
            <a:ext cx="4927673" cy="1261884"/>
          </a:xfrm>
          <a:prstGeom prst="rect">
            <a:avLst/>
          </a:prstGeom>
          <a:noFill/>
        </p:spPr>
        <p:txBody>
          <a:bodyPr wrap="square">
            <a:spAutoFit/>
          </a:bodyPr>
          <a:lstStyle/>
          <a:p>
            <a:pPr>
              <a:buNone/>
            </a:pPr>
            <a:r>
              <a:rPr lang="en-US" sz="1400" dirty="0">
                <a:solidFill>
                  <a:schemeClr val="tx2"/>
                </a:solidFill>
                <a:latin typeface="Poppins Black" panose="00000A00000000000000" pitchFamily="2" charset="0"/>
                <a:cs typeface="Poppins Black" panose="00000A00000000000000" pitchFamily="2" charset="0"/>
              </a:rPr>
              <a:t>t = 0 s — nominal operation</a:t>
            </a:r>
          </a:p>
          <a:p>
            <a:pPr>
              <a:buNone/>
            </a:pPr>
            <a:r>
              <a:rPr lang="en-US" sz="1200" dirty="0">
                <a:solidFill>
                  <a:schemeClr val="tx2">
                    <a:lumMod val="90000"/>
                    <a:lumOff val="10000"/>
                  </a:schemeClr>
                </a:solidFill>
                <a:latin typeface="Poppins" panose="00000500000000000000" pitchFamily="2" charset="0"/>
                <a:cs typeface="Poppins" panose="00000500000000000000" pitchFamily="2" charset="0"/>
              </a:rPr>
              <a:t>The system runs in </a:t>
            </a:r>
            <a:r>
              <a:rPr lang="en-US" sz="1200" b="1" dirty="0">
                <a:solidFill>
                  <a:schemeClr val="tx2">
                    <a:lumMod val="90000"/>
                    <a:lumOff val="10000"/>
                  </a:schemeClr>
                </a:solidFill>
                <a:latin typeface="Consolas" panose="020B0609020204030204" pitchFamily="49" charset="0"/>
                <a:cs typeface="Poppins" panose="00000500000000000000" pitchFamily="2" charset="0"/>
              </a:rPr>
              <a:t>FAULT_MONITOR</a:t>
            </a:r>
            <a:r>
              <a:rPr lang="en-US" sz="1200" dirty="0">
                <a:solidFill>
                  <a:schemeClr val="tx2">
                    <a:lumMod val="90000"/>
                    <a:lumOff val="10000"/>
                  </a:schemeClr>
                </a:solidFill>
                <a:latin typeface="Poppins" panose="00000500000000000000" pitchFamily="2" charset="0"/>
                <a:cs typeface="Poppins" panose="00000500000000000000" pitchFamily="2" charset="0"/>
              </a:rPr>
              <a:t>. The </a:t>
            </a:r>
            <a:r>
              <a:rPr lang="en-US" sz="1200" b="1" dirty="0" err="1">
                <a:solidFill>
                  <a:schemeClr val="tx2">
                    <a:lumMod val="90000"/>
                    <a:lumOff val="10000"/>
                  </a:schemeClr>
                </a:solidFill>
                <a:latin typeface="Consolas" panose="020B0609020204030204" pitchFamily="49" charset="0"/>
                <a:cs typeface="Poppins" panose="00000500000000000000" pitchFamily="2" charset="0"/>
              </a:rPr>
              <a:t>FaultMonitorMode</a:t>
            </a:r>
            <a:r>
              <a:rPr lang="en-US" sz="1200" dirty="0">
                <a:solidFill>
                  <a:schemeClr val="tx2">
                    <a:lumMod val="90000"/>
                    <a:lumOff val="10000"/>
                  </a:schemeClr>
                </a:solidFill>
                <a:latin typeface="Poppins" panose="00000500000000000000" pitchFamily="2" charset="0"/>
                <a:cs typeface="Poppins" panose="00000500000000000000" pitchFamily="2" charset="0"/>
              </a:rPr>
              <a:t> plugin reads </a:t>
            </a:r>
            <a:r>
              <a:rPr lang="en-US" sz="1200" dirty="0">
                <a:solidFill>
                  <a:schemeClr val="tx2">
                    <a:lumMod val="90000"/>
                    <a:lumOff val="10000"/>
                  </a:schemeClr>
                </a:solidFill>
                <a:latin typeface="Consolas" panose="020B0609020204030204" pitchFamily="49" charset="0"/>
                <a:cs typeface="Poppins" panose="00000500000000000000" pitchFamily="2" charset="0"/>
              </a:rPr>
              <a:t>/</a:t>
            </a:r>
            <a:r>
              <a:rPr lang="en-US" sz="1200" dirty="0" err="1">
                <a:solidFill>
                  <a:schemeClr val="tx2">
                    <a:lumMod val="90000"/>
                    <a:lumOff val="10000"/>
                  </a:schemeClr>
                </a:solidFill>
                <a:latin typeface="Consolas" panose="020B0609020204030204" pitchFamily="49" charset="0"/>
                <a:cs typeface="Poppins" panose="00000500000000000000" pitchFamily="2" charset="0"/>
              </a:rPr>
              <a:t>exo_bridge</a:t>
            </a:r>
            <a:r>
              <a:rPr lang="en-US" sz="1200" dirty="0">
                <a:solidFill>
                  <a:schemeClr val="tx2">
                    <a:lumMod val="90000"/>
                    <a:lumOff val="10000"/>
                  </a:schemeClr>
                </a:solidFill>
                <a:latin typeface="Consolas" panose="020B0609020204030204" pitchFamily="49" charset="0"/>
                <a:cs typeface="Poppins" panose="00000500000000000000" pitchFamily="2" charset="0"/>
              </a:rPr>
              <a:t>/status </a:t>
            </a:r>
            <a:r>
              <a:rPr lang="en-US" sz="1200" dirty="0">
                <a:solidFill>
                  <a:schemeClr val="tx2">
                    <a:lumMod val="90000"/>
                    <a:lumOff val="10000"/>
                  </a:schemeClr>
                </a:solidFill>
                <a:latin typeface="Poppins" panose="00000500000000000000" pitchFamily="2" charset="0"/>
                <a:cs typeface="Poppins" panose="00000500000000000000" pitchFamily="2" charset="0"/>
              </a:rPr>
              <a:t>at 200 Hz, </a:t>
            </a:r>
            <a:r>
              <a:rPr lang="en-US" sz="1200" b="1" dirty="0" err="1">
                <a:solidFill>
                  <a:schemeClr val="tx2">
                    <a:lumMod val="90000"/>
                    <a:lumOff val="10000"/>
                  </a:schemeClr>
                </a:solidFill>
                <a:latin typeface="Consolas" panose="020B0609020204030204" pitchFamily="49" charset="0"/>
                <a:cs typeface="Poppins" panose="00000500000000000000" pitchFamily="2" charset="0"/>
              </a:rPr>
              <a:t>tau_out</a:t>
            </a:r>
            <a:r>
              <a:rPr lang="en-US" sz="1200" b="1" dirty="0">
                <a:solidFill>
                  <a:schemeClr val="tx2">
                    <a:lumMod val="90000"/>
                    <a:lumOff val="10000"/>
                  </a:schemeClr>
                </a:solidFill>
                <a:latin typeface="Consolas" panose="020B0609020204030204" pitchFamily="49" charset="0"/>
                <a:cs typeface="Poppins" panose="00000500000000000000" pitchFamily="2" charset="0"/>
              </a:rPr>
              <a:t> </a:t>
            </a:r>
            <a:r>
              <a:rPr lang="en-US" sz="1200" dirty="0">
                <a:solidFill>
                  <a:schemeClr val="tx2">
                    <a:lumMod val="90000"/>
                    <a:lumOff val="10000"/>
                  </a:schemeClr>
                </a:solidFill>
                <a:latin typeface="Poppins" panose="00000500000000000000" pitchFamily="2" charset="0"/>
                <a:cs typeface="Poppins" panose="00000500000000000000" pitchFamily="2" charset="0"/>
              </a:rPr>
              <a:t>is within all thresholds, and all debounce counters are at zero. The bridge operates in </a:t>
            </a:r>
            <a:r>
              <a:rPr lang="en-US" sz="1200" b="1" dirty="0">
                <a:solidFill>
                  <a:schemeClr val="tx2">
                    <a:lumMod val="90000"/>
                    <a:lumOff val="10000"/>
                  </a:schemeClr>
                </a:solidFill>
                <a:latin typeface="Consolas" panose="020B0609020204030204" pitchFamily="49" charset="0"/>
                <a:cs typeface="Poppins" panose="00000500000000000000" pitchFamily="2" charset="0"/>
              </a:rPr>
              <a:t>nominal</a:t>
            </a:r>
            <a:r>
              <a:rPr lang="en-US" sz="1200" dirty="0">
                <a:solidFill>
                  <a:schemeClr val="tx2">
                    <a:lumMod val="90000"/>
                    <a:lumOff val="10000"/>
                  </a:schemeClr>
                </a:solidFill>
                <a:latin typeface="Poppins" panose="00000500000000000000" pitchFamily="2" charset="0"/>
                <a:cs typeface="Poppins" panose="00000500000000000000" pitchFamily="2" charset="0"/>
              </a:rPr>
              <a:t> mode — signals pass through unmodified</a:t>
            </a:r>
            <a:r>
              <a:rPr lang="en-US" sz="1400" dirty="0">
                <a:solidFill>
                  <a:schemeClr val="tx2">
                    <a:lumMod val="90000"/>
                    <a:lumOff val="10000"/>
                  </a:schemeClr>
                </a:solidFill>
                <a:latin typeface="Poppins" panose="00000500000000000000" pitchFamily="2" charset="0"/>
                <a:cs typeface="Poppins" panose="00000500000000000000" pitchFamily="2" charset="0"/>
              </a:rPr>
              <a:t>.</a:t>
            </a:r>
          </a:p>
        </p:txBody>
      </p:sp>
      <p:pic>
        <p:nvPicPr>
          <p:cNvPr id="53" name="Picture 52">
            <a:extLst>
              <a:ext uri="{FF2B5EF4-FFF2-40B4-BE49-F238E27FC236}">
                <a16:creationId xmlns:a16="http://schemas.microsoft.com/office/drawing/2014/main" id="{9BB3851B-C686-3CBF-0689-7B52807F65B4}"/>
              </a:ext>
            </a:extLst>
          </p:cNvPr>
          <p:cNvPicPr>
            <a:picLocks noChangeAspect="1"/>
          </p:cNvPicPr>
          <p:nvPr/>
        </p:nvPicPr>
        <p:blipFill>
          <a:blip r:embed="rId7"/>
          <a:stretch>
            <a:fillRect/>
          </a:stretch>
        </p:blipFill>
        <p:spPr>
          <a:xfrm>
            <a:off x="771498" y="2753187"/>
            <a:ext cx="5824395" cy="3377460"/>
          </a:xfrm>
          <a:prstGeom prst="rect">
            <a:avLst/>
          </a:prstGeom>
        </p:spPr>
      </p:pic>
    </p:spTree>
    <p:extLst>
      <p:ext uri="{BB962C8B-B14F-4D97-AF65-F5344CB8AC3E}">
        <p14:creationId xmlns:p14="http://schemas.microsoft.com/office/powerpoint/2010/main" val="1189775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F21E5-BEF2-2738-0EBE-3BEC3866692C}"/>
            </a:ext>
          </a:extLst>
        </p:cNvPr>
        <p:cNvGrpSpPr/>
        <p:nvPr/>
      </p:nvGrpSpPr>
      <p:grpSpPr>
        <a:xfrm>
          <a:off x="0" y="0"/>
          <a:ext cx="0" cy="0"/>
          <a:chOff x="0" y="0"/>
          <a:chExt cx="0" cy="0"/>
        </a:xfrm>
      </p:grpSpPr>
      <p:sp>
        <p:nvSpPr>
          <p:cNvPr id="47" name="Shape 3">
            <a:extLst>
              <a:ext uri="{FF2B5EF4-FFF2-40B4-BE49-F238E27FC236}">
                <a16:creationId xmlns:a16="http://schemas.microsoft.com/office/drawing/2014/main" id="{510BAB3C-AE8E-9996-C5FC-BB0D6FA2F3D6}"/>
              </a:ext>
            </a:extLst>
          </p:cNvPr>
          <p:cNvSpPr>
            <a:spLocks/>
          </p:cNvSpPr>
          <p:nvPr/>
        </p:nvSpPr>
        <p:spPr>
          <a:xfrm>
            <a:off x="525933" y="2567497"/>
            <a:ext cx="6318637" cy="3748841"/>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42" name="Google Shape;259;p29">
            <a:extLst>
              <a:ext uri="{FF2B5EF4-FFF2-40B4-BE49-F238E27FC236}">
                <a16:creationId xmlns:a16="http://schemas.microsoft.com/office/drawing/2014/main" id="{2CF19E89-5417-F396-671C-76AA88F3600E}"/>
              </a:ext>
            </a:extLst>
          </p:cNvPr>
          <p:cNvSpPr/>
          <p:nvPr/>
        </p:nvSpPr>
        <p:spPr>
          <a:xfrm>
            <a:off x="525933" y="1433398"/>
            <a:ext cx="7231228"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Sottotitolo 2">
            <a:extLst>
              <a:ext uri="{FF2B5EF4-FFF2-40B4-BE49-F238E27FC236}">
                <a16:creationId xmlns:a16="http://schemas.microsoft.com/office/drawing/2014/main" id="{FAD5A642-EA21-E919-6F3C-3C526A9214AB}"/>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39BF0196-8BF3-A619-40DF-00B6798FE529}"/>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93CA1B65-44E5-BB39-4AC8-2B4BD1E509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0A483E92-F279-9946-F9D9-2ACD7ACA0095}"/>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0A483E92-F279-9946-F9D9-2ACD7ACA0095}"/>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2F0EFB26-16BE-02EE-F8F2-E3859C9C537B}"/>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2F0EFB26-16BE-02EE-F8F2-E3859C9C537B}"/>
                  </a:ext>
                </a:extLst>
              </p:cNvPr>
              <p:cNvPicPr/>
              <p:nvPr/>
            </p:nvPicPr>
            <p:blipFill>
              <a:blip r:embed="rId6"/>
              <a:stretch>
                <a:fillRect/>
              </a:stretch>
            </p:blipFill>
            <p:spPr>
              <a:xfrm>
                <a:off x="5259213" y="963076"/>
                <a:ext cx="1950120" cy="351561"/>
              </a:xfrm>
              <a:prstGeom prst="rect">
                <a:avLst/>
              </a:prstGeom>
            </p:spPr>
          </p:pic>
        </mc:Fallback>
      </mc:AlternateContent>
      <p:sp>
        <p:nvSpPr>
          <p:cNvPr id="14" name="Google Shape;259;p29">
            <a:extLst>
              <a:ext uri="{FF2B5EF4-FFF2-40B4-BE49-F238E27FC236}">
                <a16:creationId xmlns:a16="http://schemas.microsoft.com/office/drawing/2014/main" id="{1FAA9B20-A1BD-CC7E-FCA3-53CE535CE670}"/>
              </a:ext>
            </a:extLst>
          </p:cNvPr>
          <p:cNvSpPr/>
          <p:nvPr/>
        </p:nvSpPr>
        <p:spPr>
          <a:xfrm>
            <a:off x="525933" y="1433398"/>
            <a:ext cx="7139788"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6191A973-626F-1C16-6F31-E3881D47F6B8}"/>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Functional Safety Architecture</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8B78DD3A-ECDB-E6D2-5A35-DE22AC24D8A1}"/>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4CBEDCA5-DFBD-EFAF-65E7-7B767E95F88F}"/>
              </a:ext>
            </a:extLst>
          </p:cNvPr>
          <p:cNvSpPr txBox="1"/>
          <p:nvPr/>
        </p:nvSpPr>
        <p:spPr>
          <a:xfrm>
            <a:off x="604929" y="1705798"/>
            <a:ext cx="6109138" cy="338554"/>
          </a:xfrm>
          <a:prstGeom prst="rect">
            <a:avLst/>
          </a:prstGeom>
          <a:noFill/>
        </p:spPr>
        <p:txBody>
          <a:bodyPr wrap="square">
            <a:spAutoFit/>
          </a:bodyPr>
          <a:lstStyle/>
          <a:p>
            <a:r>
              <a:rPr lang="en-US" sz="1600" i="1" dirty="0">
                <a:solidFill>
                  <a:srgbClr val="64748B"/>
                </a:solidFill>
                <a:latin typeface="Poppins" panose="00000500000000000000" pitchFamily="2" charset="0"/>
                <a:ea typeface="Calibri" pitchFamily="34" charset="-122"/>
                <a:cs typeface="Poppins" panose="00000500000000000000" pitchFamily="2" charset="0"/>
              </a:rPr>
              <a:t>Defense-in-depth across three cooperating layers</a:t>
            </a:r>
            <a:endParaRPr lang="en-US" sz="1600" dirty="0">
              <a:latin typeface="Poppins" panose="00000500000000000000" pitchFamily="2" charset="0"/>
              <a:cs typeface="Poppins" panose="00000500000000000000" pitchFamily="2" charset="0"/>
            </a:endParaRPr>
          </a:p>
        </p:txBody>
      </p:sp>
      <p:sp>
        <p:nvSpPr>
          <p:cNvPr id="48" name="TextBox 47">
            <a:extLst>
              <a:ext uri="{FF2B5EF4-FFF2-40B4-BE49-F238E27FC236}">
                <a16:creationId xmlns:a16="http://schemas.microsoft.com/office/drawing/2014/main" id="{6D353845-409B-8696-4473-07EB728CB755}"/>
              </a:ext>
            </a:extLst>
          </p:cNvPr>
          <p:cNvSpPr txBox="1"/>
          <p:nvPr/>
        </p:nvSpPr>
        <p:spPr>
          <a:xfrm>
            <a:off x="604928" y="2195850"/>
            <a:ext cx="6236003" cy="369332"/>
          </a:xfrm>
          <a:prstGeom prst="rect">
            <a:avLst/>
          </a:prstGeom>
          <a:noFill/>
        </p:spPr>
        <p:txBody>
          <a:bodyPr wrap="none" rtlCol="0">
            <a:spAutoFit/>
          </a:bodyPr>
          <a:lstStyle/>
          <a:p>
            <a:r>
              <a:rPr lang="it-IT" b="1" u="sng" dirty="0">
                <a:solidFill>
                  <a:schemeClr val="tx2"/>
                </a:solidFill>
                <a:latin typeface="Poppins" panose="00000500000000000000" pitchFamily="2" charset="0"/>
                <a:cs typeface="Poppins" panose="00000500000000000000" pitchFamily="2" charset="0"/>
              </a:rPr>
              <a:t>Scenario</a:t>
            </a:r>
            <a:r>
              <a:rPr lang="it-IT" dirty="0">
                <a:solidFill>
                  <a:schemeClr val="tx2"/>
                </a:solidFill>
                <a:latin typeface="Poppins" panose="00000500000000000000" pitchFamily="2" charset="0"/>
                <a:cs typeface="Poppins" panose="00000500000000000000" pitchFamily="2" charset="0"/>
              </a:rPr>
              <a:t>: </a:t>
            </a:r>
            <a:r>
              <a:rPr lang="it-IT" sz="1400" dirty="0">
                <a:solidFill>
                  <a:schemeClr val="tx2"/>
                </a:solidFill>
                <a:latin typeface="Poppins" panose="00000500000000000000" pitchFamily="2" charset="0"/>
                <a:cs typeface="Poppins" panose="00000500000000000000" pitchFamily="2" charset="0"/>
              </a:rPr>
              <a:t>offset on /torque greater than </a:t>
            </a:r>
            <a:r>
              <a:rPr lang="it-IT" sz="1400" b="1" dirty="0">
                <a:solidFill>
                  <a:schemeClr val="tx2"/>
                </a:solidFill>
                <a:latin typeface="Consolas" panose="020B0609020204030204" pitchFamily="49" charset="0"/>
                <a:cs typeface="Poppins" panose="00000500000000000000" pitchFamily="2" charset="0"/>
              </a:rPr>
              <a:t>TORQUE_LIMIT </a:t>
            </a:r>
            <a:r>
              <a:rPr lang="it-IT" sz="1400" dirty="0">
                <a:solidFill>
                  <a:schemeClr val="tx2"/>
                </a:solidFill>
                <a:latin typeface="Poppins" panose="00000500000000000000" pitchFamily="2" charset="0"/>
                <a:cs typeface="Poppins" panose="00000500000000000000" pitchFamily="2" charset="0"/>
              </a:rPr>
              <a:t>threshold</a:t>
            </a:r>
            <a:endParaRPr lang="it-IT" b="1" u="sng" dirty="0">
              <a:solidFill>
                <a:schemeClr val="tx2"/>
              </a:solidFill>
              <a:latin typeface="Poppins" panose="00000500000000000000" pitchFamily="2" charset="0"/>
              <a:cs typeface="Poppins" panose="00000500000000000000" pitchFamily="2" charset="0"/>
            </a:endParaRPr>
          </a:p>
        </p:txBody>
      </p:sp>
      <p:sp>
        <p:nvSpPr>
          <p:cNvPr id="52" name="TextBox 51">
            <a:extLst>
              <a:ext uri="{FF2B5EF4-FFF2-40B4-BE49-F238E27FC236}">
                <a16:creationId xmlns:a16="http://schemas.microsoft.com/office/drawing/2014/main" id="{5E91F07C-392A-278D-F260-977F4E408F0D}"/>
              </a:ext>
            </a:extLst>
          </p:cNvPr>
          <p:cNvSpPr txBox="1"/>
          <p:nvPr/>
        </p:nvSpPr>
        <p:spPr>
          <a:xfrm>
            <a:off x="6970602" y="3127881"/>
            <a:ext cx="4927673" cy="1292662"/>
          </a:xfrm>
          <a:prstGeom prst="rect">
            <a:avLst/>
          </a:prstGeom>
          <a:noFill/>
        </p:spPr>
        <p:txBody>
          <a:bodyPr wrap="square">
            <a:spAutoFit/>
          </a:bodyPr>
          <a:lstStyle/>
          <a:p>
            <a:pPr>
              <a:buNone/>
            </a:pPr>
            <a:r>
              <a:rPr lang="it-IT" sz="1400" dirty="0">
                <a:solidFill>
                  <a:schemeClr val="tx2"/>
                </a:solidFill>
                <a:latin typeface="Poppins Black" panose="00000A00000000000000" pitchFamily="2" charset="0"/>
                <a:cs typeface="Poppins Black" panose="00000A00000000000000" pitchFamily="2" charset="0"/>
              </a:rPr>
              <a:t>t = N s — fault injector activated</a:t>
            </a:r>
          </a:p>
          <a:p>
            <a:pPr>
              <a:buNone/>
            </a:pPr>
            <a:endParaRPr lang="it-IT" dirty="0">
              <a:solidFill>
                <a:schemeClr val="tx2">
                  <a:lumMod val="90000"/>
                  <a:lumOff val="10000"/>
                </a:schemeClr>
              </a:solidFill>
              <a:latin typeface="Poppins Black" panose="00000A00000000000000" pitchFamily="2" charset="0"/>
              <a:cs typeface="Poppins Black" panose="00000A00000000000000" pitchFamily="2" charset="0"/>
            </a:endParaRPr>
          </a:p>
          <a:p>
            <a:pPr>
              <a:buNone/>
            </a:pPr>
            <a:r>
              <a:rPr lang="it-IT" sz="1100" dirty="0">
                <a:solidFill>
                  <a:schemeClr val="tx2">
                    <a:lumMod val="90000"/>
                    <a:lumOff val="10000"/>
                  </a:schemeClr>
                </a:solidFill>
                <a:latin typeface="Consolas" panose="020B0609020204030204" pitchFamily="49" charset="0"/>
              </a:rPr>
              <a:t>ros2 param set /fault_injector fault_type offset </a:t>
            </a:r>
          </a:p>
          <a:p>
            <a:pPr>
              <a:buNone/>
            </a:pPr>
            <a:r>
              <a:rPr lang="it-IT" sz="1100" dirty="0">
                <a:solidFill>
                  <a:schemeClr val="tx2">
                    <a:lumMod val="90000"/>
                    <a:lumOff val="10000"/>
                  </a:schemeClr>
                </a:solidFill>
                <a:latin typeface="Consolas" panose="020B0609020204030204" pitchFamily="49" charset="0"/>
              </a:rPr>
              <a:t>ros2 param set /fault_injector fault_magnitude 3.0 </a:t>
            </a:r>
          </a:p>
          <a:p>
            <a:pPr>
              <a:buNone/>
            </a:pPr>
            <a:r>
              <a:rPr lang="it-IT" sz="1100" dirty="0">
                <a:solidFill>
                  <a:schemeClr val="tx2">
                    <a:lumMod val="90000"/>
                    <a:lumOff val="10000"/>
                  </a:schemeClr>
                </a:solidFill>
                <a:latin typeface="Consolas" panose="020B0609020204030204" pitchFamily="49" charset="0"/>
              </a:rPr>
              <a:t>ros2 param set /fault_injector fault_active true</a:t>
            </a:r>
          </a:p>
          <a:p>
            <a:pPr>
              <a:buNone/>
            </a:pPr>
            <a:endParaRPr lang="it-IT" sz="1100" dirty="0">
              <a:latin typeface="Consolas" panose="020B0609020204030204" pitchFamily="49" charset="0"/>
              <a:cs typeface="Poppins Black" panose="00000A00000000000000" pitchFamily="2" charset="0"/>
            </a:endParaRPr>
          </a:p>
        </p:txBody>
      </p:sp>
      <p:pic>
        <p:nvPicPr>
          <p:cNvPr id="53" name="Picture 52">
            <a:extLst>
              <a:ext uri="{FF2B5EF4-FFF2-40B4-BE49-F238E27FC236}">
                <a16:creationId xmlns:a16="http://schemas.microsoft.com/office/drawing/2014/main" id="{D3964C88-50BC-BA8A-C962-9A31FC234C22}"/>
              </a:ext>
            </a:extLst>
          </p:cNvPr>
          <p:cNvPicPr>
            <a:picLocks noChangeAspect="1"/>
          </p:cNvPicPr>
          <p:nvPr/>
        </p:nvPicPr>
        <p:blipFill>
          <a:blip r:embed="rId7"/>
          <a:stretch>
            <a:fillRect/>
          </a:stretch>
        </p:blipFill>
        <p:spPr>
          <a:xfrm>
            <a:off x="771498" y="2753187"/>
            <a:ext cx="5824395" cy="3377460"/>
          </a:xfrm>
          <a:prstGeom prst="rect">
            <a:avLst/>
          </a:prstGeom>
        </p:spPr>
      </p:pic>
      <p:pic>
        <p:nvPicPr>
          <p:cNvPr id="7" name="Picture 6">
            <a:extLst>
              <a:ext uri="{FF2B5EF4-FFF2-40B4-BE49-F238E27FC236}">
                <a16:creationId xmlns:a16="http://schemas.microsoft.com/office/drawing/2014/main" id="{CC7B22FE-9127-4884-25C9-744DB678362F}"/>
              </a:ext>
            </a:extLst>
          </p:cNvPr>
          <p:cNvPicPr>
            <a:picLocks noChangeAspect="1"/>
          </p:cNvPicPr>
          <p:nvPr/>
        </p:nvPicPr>
        <p:blipFill>
          <a:blip r:embed="rId8"/>
          <a:stretch>
            <a:fillRect/>
          </a:stretch>
        </p:blipFill>
        <p:spPr>
          <a:xfrm>
            <a:off x="771498" y="2749617"/>
            <a:ext cx="5824395" cy="3381030"/>
          </a:xfrm>
          <a:prstGeom prst="rect">
            <a:avLst/>
          </a:prstGeom>
        </p:spPr>
      </p:pic>
    </p:spTree>
    <p:extLst>
      <p:ext uri="{BB962C8B-B14F-4D97-AF65-F5344CB8AC3E}">
        <p14:creationId xmlns:p14="http://schemas.microsoft.com/office/powerpoint/2010/main" val="3637699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E4B21-B9E6-C413-10E0-4128A49F0B20}"/>
            </a:ext>
          </a:extLst>
        </p:cNvPr>
        <p:cNvGrpSpPr/>
        <p:nvPr/>
      </p:nvGrpSpPr>
      <p:grpSpPr>
        <a:xfrm>
          <a:off x="0" y="0"/>
          <a:ext cx="0" cy="0"/>
          <a:chOff x="0" y="0"/>
          <a:chExt cx="0" cy="0"/>
        </a:xfrm>
      </p:grpSpPr>
      <p:sp>
        <p:nvSpPr>
          <p:cNvPr id="47" name="Shape 3">
            <a:extLst>
              <a:ext uri="{FF2B5EF4-FFF2-40B4-BE49-F238E27FC236}">
                <a16:creationId xmlns:a16="http://schemas.microsoft.com/office/drawing/2014/main" id="{0F6E8780-E709-CE43-884C-973F9BCCA381}"/>
              </a:ext>
            </a:extLst>
          </p:cNvPr>
          <p:cNvSpPr>
            <a:spLocks/>
          </p:cNvSpPr>
          <p:nvPr/>
        </p:nvSpPr>
        <p:spPr>
          <a:xfrm>
            <a:off x="525933" y="2567497"/>
            <a:ext cx="6318637" cy="3748841"/>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42" name="Google Shape;259;p29">
            <a:extLst>
              <a:ext uri="{FF2B5EF4-FFF2-40B4-BE49-F238E27FC236}">
                <a16:creationId xmlns:a16="http://schemas.microsoft.com/office/drawing/2014/main" id="{E3C5BE57-07A4-FD64-9EAC-650A3C94301A}"/>
              </a:ext>
            </a:extLst>
          </p:cNvPr>
          <p:cNvSpPr/>
          <p:nvPr/>
        </p:nvSpPr>
        <p:spPr>
          <a:xfrm>
            <a:off x="525933" y="1433398"/>
            <a:ext cx="7231228"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Sottotitolo 2">
            <a:extLst>
              <a:ext uri="{FF2B5EF4-FFF2-40B4-BE49-F238E27FC236}">
                <a16:creationId xmlns:a16="http://schemas.microsoft.com/office/drawing/2014/main" id="{D10BE33E-013D-D7CC-E9E0-6B2DF6B1CB1A}"/>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30FA0019-5290-1F3A-7578-47109B9E52C4}"/>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6F9C18E4-5AB2-0F69-12B9-4F4B9534F2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80F63D56-AD94-D0D9-BEB1-D40DCFAFB271}"/>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80F63D56-AD94-D0D9-BEB1-D40DCFAFB271}"/>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557EE4DB-6E4B-5B09-58E2-A990AD6B77FE}"/>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557EE4DB-6E4B-5B09-58E2-A990AD6B77FE}"/>
                  </a:ext>
                </a:extLst>
              </p:cNvPr>
              <p:cNvPicPr/>
              <p:nvPr/>
            </p:nvPicPr>
            <p:blipFill>
              <a:blip r:embed="rId6"/>
              <a:stretch>
                <a:fillRect/>
              </a:stretch>
            </p:blipFill>
            <p:spPr>
              <a:xfrm>
                <a:off x="5259213" y="963076"/>
                <a:ext cx="1950120" cy="351561"/>
              </a:xfrm>
              <a:prstGeom prst="rect">
                <a:avLst/>
              </a:prstGeom>
            </p:spPr>
          </p:pic>
        </mc:Fallback>
      </mc:AlternateContent>
      <p:sp>
        <p:nvSpPr>
          <p:cNvPr id="14" name="Google Shape;259;p29">
            <a:extLst>
              <a:ext uri="{FF2B5EF4-FFF2-40B4-BE49-F238E27FC236}">
                <a16:creationId xmlns:a16="http://schemas.microsoft.com/office/drawing/2014/main" id="{29F67E62-8737-65E6-B3D7-B8F504778153}"/>
              </a:ext>
            </a:extLst>
          </p:cNvPr>
          <p:cNvSpPr/>
          <p:nvPr/>
        </p:nvSpPr>
        <p:spPr>
          <a:xfrm>
            <a:off x="525933" y="1433398"/>
            <a:ext cx="7139788"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A3472C4C-6FF7-E6C4-48B7-7B9E8C58A4CA}"/>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Functional Safety Architecture</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9918457E-7F7D-A1E3-A9CA-E70093FF6210}"/>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CE4AC986-A21A-1EA7-27B3-7CAEA0EC1F5E}"/>
              </a:ext>
            </a:extLst>
          </p:cNvPr>
          <p:cNvSpPr txBox="1"/>
          <p:nvPr/>
        </p:nvSpPr>
        <p:spPr>
          <a:xfrm>
            <a:off x="604929" y="1705798"/>
            <a:ext cx="6109138" cy="338554"/>
          </a:xfrm>
          <a:prstGeom prst="rect">
            <a:avLst/>
          </a:prstGeom>
          <a:noFill/>
        </p:spPr>
        <p:txBody>
          <a:bodyPr wrap="square">
            <a:spAutoFit/>
          </a:bodyPr>
          <a:lstStyle/>
          <a:p>
            <a:r>
              <a:rPr lang="en-US" sz="1600" i="1" dirty="0">
                <a:solidFill>
                  <a:srgbClr val="64748B"/>
                </a:solidFill>
                <a:latin typeface="Poppins" panose="00000500000000000000" pitchFamily="2" charset="0"/>
                <a:ea typeface="Calibri" pitchFamily="34" charset="-122"/>
                <a:cs typeface="Poppins" panose="00000500000000000000" pitchFamily="2" charset="0"/>
              </a:rPr>
              <a:t>Defense-in-depth across three cooperating layers</a:t>
            </a:r>
            <a:endParaRPr lang="en-US" sz="1600" dirty="0">
              <a:latin typeface="Poppins" panose="00000500000000000000" pitchFamily="2" charset="0"/>
              <a:cs typeface="Poppins" panose="00000500000000000000" pitchFamily="2" charset="0"/>
            </a:endParaRPr>
          </a:p>
        </p:txBody>
      </p:sp>
      <p:sp>
        <p:nvSpPr>
          <p:cNvPr id="48" name="TextBox 47">
            <a:extLst>
              <a:ext uri="{FF2B5EF4-FFF2-40B4-BE49-F238E27FC236}">
                <a16:creationId xmlns:a16="http://schemas.microsoft.com/office/drawing/2014/main" id="{6A9FD8A4-A849-99F9-56ED-0828A500F60E}"/>
              </a:ext>
            </a:extLst>
          </p:cNvPr>
          <p:cNvSpPr txBox="1"/>
          <p:nvPr/>
        </p:nvSpPr>
        <p:spPr>
          <a:xfrm>
            <a:off x="604928" y="2195850"/>
            <a:ext cx="6236003" cy="369332"/>
          </a:xfrm>
          <a:prstGeom prst="rect">
            <a:avLst/>
          </a:prstGeom>
          <a:noFill/>
        </p:spPr>
        <p:txBody>
          <a:bodyPr wrap="none" rtlCol="0">
            <a:spAutoFit/>
          </a:bodyPr>
          <a:lstStyle/>
          <a:p>
            <a:r>
              <a:rPr lang="it-IT" b="1" u="sng" dirty="0">
                <a:solidFill>
                  <a:schemeClr val="tx2"/>
                </a:solidFill>
                <a:latin typeface="Poppins" panose="00000500000000000000" pitchFamily="2" charset="0"/>
                <a:cs typeface="Poppins" panose="00000500000000000000" pitchFamily="2" charset="0"/>
              </a:rPr>
              <a:t>Scenario</a:t>
            </a:r>
            <a:r>
              <a:rPr lang="it-IT" dirty="0">
                <a:solidFill>
                  <a:schemeClr val="tx2"/>
                </a:solidFill>
                <a:latin typeface="Poppins" panose="00000500000000000000" pitchFamily="2" charset="0"/>
                <a:cs typeface="Poppins" panose="00000500000000000000" pitchFamily="2" charset="0"/>
              </a:rPr>
              <a:t>: </a:t>
            </a:r>
            <a:r>
              <a:rPr lang="it-IT" sz="1400" dirty="0">
                <a:solidFill>
                  <a:schemeClr val="tx2"/>
                </a:solidFill>
                <a:latin typeface="Poppins" panose="00000500000000000000" pitchFamily="2" charset="0"/>
                <a:cs typeface="Poppins" panose="00000500000000000000" pitchFamily="2" charset="0"/>
              </a:rPr>
              <a:t>offset on /torque greater than </a:t>
            </a:r>
            <a:r>
              <a:rPr lang="it-IT" sz="1400" b="1" dirty="0">
                <a:solidFill>
                  <a:schemeClr val="tx2"/>
                </a:solidFill>
                <a:latin typeface="Consolas" panose="020B0609020204030204" pitchFamily="49" charset="0"/>
                <a:cs typeface="Poppins" panose="00000500000000000000" pitchFamily="2" charset="0"/>
              </a:rPr>
              <a:t>TORQUE_LIMIT </a:t>
            </a:r>
            <a:r>
              <a:rPr lang="it-IT" sz="1400" dirty="0">
                <a:solidFill>
                  <a:schemeClr val="tx2"/>
                </a:solidFill>
                <a:latin typeface="Poppins" panose="00000500000000000000" pitchFamily="2" charset="0"/>
                <a:cs typeface="Poppins" panose="00000500000000000000" pitchFamily="2" charset="0"/>
              </a:rPr>
              <a:t>threshold</a:t>
            </a:r>
            <a:endParaRPr lang="it-IT" b="1" u="sng" dirty="0">
              <a:solidFill>
                <a:schemeClr val="tx2"/>
              </a:solidFill>
              <a:latin typeface="Poppins" panose="00000500000000000000" pitchFamily="2" charset="0"/>
              <a:cs typeface="Poppins" panose="00000500000000000000" pitchFamily="2" charset="0"/>
            </a:endParaRPr>
          </a:p>
        </p:txBody>
      </p:sp>
      <p:sp>
        <p:nvSpPr>
          <p:cNvPr id="52" name="TextBox 51">
            <a:extLst>
              <a:ext uri="{FF2B5EF4-FFF2-40B4-BE49-F238E27FC236}">
                <a16:creationId xmlns:a16="http://schemas.microsoft.com/office/drawing/2014/main" id="{DC6E72FF-3203-F190-8750-390D65CFB52A}"/>
              </a:ext>
            </a:extLst>
          </p:cNvPr>
          <p:cNvSpPr txBox="1"/>
          <p:nvPr/>
        </p:nvSpPr>
        <p:spPr>
          <a:xfrm>
            <a:off x="7146693" y="2565182"/>
            <a:ext cx="4927673" cy="3908762"/>
          </a:xfrm>
          <a:prstGeom prst="rect">
            <a:avLst/>
          </a:prstGeom>
          <a:noFill/>
        </p:spPr>
        <p:txBody>
          <a:bodyPr wrap="square">
            <a:spAutoFit/>
          </a:bodyPr>
          <a:lstStyle/>
          <a:p>
            <a:r>
              <a:rPr lang="en-US" sz="1400" b="1" dirty="0">
                <a:solidFill>
                  <a:schemeClr val="tx2"/>
                </a:solidFill>
                <a:latin typeface="Poppins" panose="00000500000000000000" pitchFamily="2" charset="0"/>
                <a:cs typeface="Poppins" panose="00000500000000000000" pitchFamily="2" charset="0"/>
              </a:rPr>
              <a:t>t = N + 5 </a:t>
            </a:r>
            <a:r>
              <a:rPr lang="en-US" sz="1400" b="1" dirty="0" err="1">
                <a:solidFill>
                  <a:schemeClr val="tx2"/>
                </a:solidFill>
                <a:latin typeface="Poppins" panose="00000500000000000000" pitchFamily="2" charset="0"/>
                <a:cs typeface="Poppins" panose="00000500000000000000" pitchFamily="2" charset="0"/>
              </a:rPr>
              <a:t>ms</a:t>
            </a:r>
            <a:r>
              <a:rPr lang="en-US" sz="1400" b="1" dirty="0">
                <a:solidFill>
                  <a:schemeClr val="tx2"/>
                </a:solidFill>
                <a:latin typeface="Poppins" panose="00000500000000000000" pitchFamily="2" charset="0"/>
                <a:cs typeface="Poppins" panose="00000500000000000000" pitchFamily="2" charset="0"/>
              </a:rPr>
              <a:t> — first faulted sample reaches bridge</a:t>
            </a:r>
          </a:p>
          <a:p>
            <a:r>
              <a:rPr lang="en-US" sz="1000" dirty="0">
                <a:solidFill>
                  <a:schemeClr val="tx2">
                    <a:lumMod val="90000"/>
                    <a:lumOff val="10000"/>
                  </a:schemeClr>
                </a:solidFill>
                <a:latin typeface="Poppins" panose="00000500000000000000" pitchFamily="2" charset="0"/>
                <a:cs typeface="Poppins" panose="00000500000000000000" pitchFamily="2" charset="0"/>
              </a:rPr>
              <a:t>The bridge receives </a:t>
            </a:r>
            <a:r>
              <a:rPr lang="en-US" sz="1000" b="1" dirty="0">
                <a:solidFill>
                  <a:schemeClr val="tx2">
                    <a:lumMod val="90000"/>
                    <a:lumOff val="10000"/>
                  </a:schemeClr>
                </a:solidFill>
                <a:latin typeface="Consolas" panose="020B0609020204030204" pitchFamily="49" charset="0"/>
                <a:cs typeface="Poppins" panose="00000500000000000000" pitchFamily="2" charset="0"/>
              </a:rPr>
              <a:t>/</a:t>
            </a:r>
            <a:r>
              <a:rPr lang="en-US" sz="1000" b="1" dirty="0" err="1">
                <a:solidFill>
                  <a:schemeClr val="tx2">
                    <a:lumMod val="90000"/>
                    <a:lumOff val="10000"/>
                  </a:schemeClr>
                </a:solidFill>
                <a:latin typeface="Consolas" panose="020B0609020204030204" pitchFamily="49" charset="0"/>
                <a:cs typeface="Poppins" panose="00000500000000000000" pitchFamily="2" charset="0"/>
              </a:rPr>
              <a:t>torque_faulted</a:t>
            </a:r>
            <a:r>
              <a:rPr lang="en-US" sz="1000" b="1" dirty="0">
                <a:solidFill>
                  <a:schemeClr val="tx2">
                    <a:lumMod val="90000"/>
                    <a:lumOff val="10000"/>
                  </a:schemeClr>
                </a:solidFill>
                <a:latin typeface="Consolas" panose="020B0609020204030204" pitchFamily="49" charset="0"/>
                <a:cs typeface="Poppins" panose="00000500000000000000" pitchFamily="2" charset="0"/>
              </a:rPr>
              <a:t> </a:t>
            </a:r>
            <a:r>
              <a:rPr lang="en-US" sz="1000" dirty="0">
                <a:solidFill>
                  <a:schemeClr val="tx2">
                    <a:lumMod val="90000"/>
                    <a:lumOff val="10000"/>
                  </a:schemeClr>
                </a:solidFill>
                <a:latin typeface="Poppins" panose="00000500000000000000" pitchFamily="2" charset="0"/>
                <a:cs typeface="Poppins" panose="00000500000000000000" pitchFamily="2" charset="0"/>
              </a:rPr>
              <a:t>with the corrupted value and forwards it to the plant (still in nominal mode — no clamping applied). It then publishes </a:t>
            </a:r>
            <a:r>
              <a:rPr lang="en-US" sz="1000" b="1" dirty="0">
                <a:solidFill>
                  <a:schemeClr val="tx2">
                    <a:lumMod val="90000"/>
                    <a:lumOff val="10000"/>
                  </a:schemeClr>
                </a:solidFill>
                <a:latin typeface="Consolas" panose="020B0609020204030204" pitchFamily="49" charset="0"/>
                <a:cs typeface="Poppins" panose="00000500000000000000" pitchFamily="2" charset="0"/>
              </a:rPr>
              <a:t>/</a:t>
            </a:r>
            <a:r>
              <a:rPr lang="en-US" sz="1000" b="1" dirty="0" err="1">
                <a:solidFill>
                  <a:schemeClr val="tx2">
                    <a:lumMod val="90000"/>
                    <a:lumOff val="10000"/>
                  </a:schemeClr>
                </a:solidFill>
                <a:latin typeface="Consolas" panose="020B0609020204030204" pitchFamily="49" charset="0"/>
                <a:cs typeface="Poppins" panose="00000500000000000000" pitchFamily="2" charset="0"/>
              </a:rPr>
              <a:t>exo_bridge</a:t>
            </a:r>
            <a:r>
              <a:rPr lang="en-US" sz="1000" b="1" dirty="0">
                <a:solidFill>
                  <a:schemeClr val="tx2">
                    <a:lumMod val="90000"/>
                    <a:lumOff val="10000"/>
                  </a:schemeClr>
                </a:solidFill>
                <a:latin typeface="Consolas" panose="020B0609020204030204" pitchFamily="49" charset="0"/>
                <a:cs typeface="Poppins" panose="00000500000000000000" pitchFamily="2" charset="0"/>
              </a:rPr>
              <a:t>/status </a:t>
            </a:r>
            <a:r>
              <a:rPr lang="en-US" sz="1000" dirty="0">
                <a:solidFill>
                  <a:schemeClr val="tx2">
                    <a:lumMod val="90000"/>
                    <a:lumOff val="10000"/>
                  </a:schemeClr>
                </a:solidFill>
                <a:latin typeface="Poppins" panose="00000500000000000000" pitchFamily="2" charset="0"/>
                <a:cs typeface="Poppins" panose="00000500000000000000" pitchFamily="2" charset="0"/>
              </a:rPr>
              <a:t>with </a:t>
            </a:r>
            <a:r>
              <a:rPr lang="en-US" sz="1000" b="1" dirty="0" err="1">
                <a:solidFill>
                  <a:schemeClr val="tx2">
                    <a:lumMod val="90000"/>
                    <a:lumOff val="10000"/>
                  </a:schemeClr>
                </a:solidFill>
                <a:latin typeface="Consolas" panose="020B0609020204030204" pitchFamily="49" charset="0"/>
                <a:cs typeface="Poppins" panose="00000500000000000000" pitchFamily="2" charset="0"/>
              </a:rPr>
              <a:t>tau_out</a:t>
            </a:r>
            <a:r>
              <a:rPr lang="en-US" sz="1000" b="1" dirty="0">
                <a:solidFill>
                  <a:schemeClr val="tx2">
                    <a:lumMod val="90000"/>
                    <a:lumOff val="10000"/>
                  </a:schemeClr>
                </a:solidFill>
                <a:latin typeface="Consolas" panose="020B0609020204030204" pitchFamily="49" charset="0"/>
                <a:cs typeface="Poppins" panose="00000500000000000000" pitchFamily="2" charset="0"/>
              </a:rPr>
              <a:t> = </a:t>
            </a:r>
            <a:r>
              <a:rPr lang="en-US" sz="1000" b="1" dirty="0" err="1">
                <a:solidFill>
                  <a:schemeClr val="tx2">
                    <a:lumMod val="90000"/>
                    <a:lumOff val="10000"/>
                  </a:schemeClr>
                </a:solidFill>
                <a:latin typeface="Consolas" panose="020B0609020204030204" pitchFamily="49" charset="0"/>
                <a:cs typeface="Poppins" panose="00000500000000000000" pitchFamily="2" charset="0"/>
              </a:rPr>
              <a:t>real_value</a:t>
            </a:r>
            <a:r>
              <a:rPr lang="en-US" sz="1000" b="1" dirty="0">
                <a:solidFill>
                  <a:schemeClr val="tx2">
                    <a:lumMod val="90000"/>
                    <a:lumOff val="10000"/>
                  </a:schemeClr>
                </a:solidFill>
                <a:latin typeface="Consolas" panose="020B0609020204030204" pitchFamily="49" charset="0"/>
                <a:cs typeface="Poppins" panose="00000500000000000000" pitchFamily="2" charset="0"/>
              </a:rPr>
              <a:t> + 3.0 Nm</a:t>
            </a:r>
            <a:r>
              <a:rPr lang="en-US" sz="1000" dirty="0">
                <a:solidFill>
                  <a:schemeClr val="tx2">
                    <a:lumMod val="90000"/>
                    <a:lumOff val="10000"/>
                  </a:schemeClr>
                </a:solidFill>
                <a:latin typeface="Poppins" panose="00000500000000000000" pitchFamily="2" charset="0"/>
                <a:cs typeface="Poppins" panose="00000500000000000000" pitchFamily="2" charset="0"/>
              </a:rPr>
              <a:t>.</a:t>
            </a:r>
          </a:p>
          <a:p>
            <a:r>
              <a:rPr lang="en-US" sz="1000" b="1" dirty="0" err="1">
                <a:solidFill>
                  <a:schemeClr val="tx2">
                    <a:lumMod val="90000"/>
                    <a:lumOff val="10000"/>
                  </a:schemeClr>
                </a:solidFill>
                <a:latin typeface="Poppins" panose="00000500000000000000" pitchFamily="2" charset="0"/>
                <a:cs typeface="Poppins" panose="00000500000000000000" pitchFamily="2" charset="0"/>
              </a:rPr>
              <a:t>FaultMonitorMode</a:t>
            </a:r>
            <a:r>
              <a:rPr lang="en-US" sz="1000" dirty="0">
                <a:solidFill>
                  <a:schemeClr val="tx2">
                    <a:lumMod val="90000"/>
                    <a:lumOff val="10000"/>
                  </a:schemeClr>
                </a:solidFill>
                <a:latin typeface="Poppins" panose="00000500000000000000" pitchFamily="2" charset="0"/>
                <a:cs typeface="Poppins" panose="00000500000000000000" pitchFamily="2" charset="0"/>
              </a:rPr>
              <a:t> reads that message and evaluates:</a:t>
            </a:r>
          </a:p>
          <a:p>
            <a:pPr marL="171450" indent="-171450">
              <a:buFont typeface="Arial" panose="020B0604020202020204" pitchFamily="34" charset="0"/>
              <a:buChar char="•"/>
            </a:pPr>
            <a:r>
              <a:rPr lang="en-US" sz="900" b="1" dirty="0" err="1">
                <a:solidFill>
                  <a:schemeClr val="tx2">
                    <a:lumMod val="90000"/>
                    <a:lumOff val="10000"/>
                  </a:schemeClr>
                </a:solidFill>
                <a:latin typeface="Consolas" panose="020B0609020204030204" pitchFamily="49" charset="0"/>
                <a:cs typeface="Poppins" panose="00000500000000000000" pitchFamily="2" charset="0"/>
              </a:rPr>
              <a:t>tau_out</a:t>
            </a:r>
            <a:r>
              <a:rPr lang="en-US" sz="900" b="1" dirty="0">
                <a:solidFill>
                  <a:schemeClr val="tx2">
                    <a:lumMod val="90000"/>
                    <a:lumOff val="10000"/>
                  </a:schemeClr>
                </a:solidFill>
                <a:latin typeface="Consolas" panose="020B0609020204030204" pitchFamily="49" charset="0"/>
                <a:cs typeface="Poppins" panose="00000500000000000000" pitchFamily="2" charset="0"/>
              </a:rPr>
              <a:t> </a:t>
            </a:r>
            <a:r>
              <a:rPr lang="en-US" sz="900" dirty="0">
                <a:solidFill>
                  <a:schemeClr val="tx2">
                    <a:lumMod val="90000"/>
                    <a:lumOff val="10000"/>
                  </a:schemeClr>
                </a:solidFill>
                <a:latin typeface="Poppins" panose="00000500000000000000" pitchFamily="2" charset="0"/>
                <a:cs typeface="Poppins" panose="00000500000000000000" pitchFamily="2" charset="0"/>
              </a:rPr>
              <a:t>exceeds </a:t>
            </a:r>
            <a:r>
              <a:rPr lang="en-US" sz="900" b="1" dirty="0" err="1">
                <a:solidFill>
                  <a:schemeClr val="tx2">
                    <a:lumMod val="90000"/>
                    <a:lumOff val="10000"/>
                  </a:schemeClr>
                </a:solidFill>
                <a:latin typeface="Consolas" panose="020B0609020204030204" pitchFamily="49" charset="0"/>
                <a:cs typeface="Poppins" panose="00000500000000000000" pitchFamily="2" charset="0"/>
              </a:rPr>
              <a:t>tau_torque_limit_threshold</a:t>
            </a:r>
            <a:r>
              <a:rPr lang="en-US" sz="900" b="1" dirty="0">
                <a:solidFill>
                  <a:schemeClr val="tx2">
                    <a:lumMod val="90000"/>
                    <a:lumOff val="10000"/>
                  </a:schemeClr>
                </a:solidFill>
                <a:latin typeface="Consolas" panose="020B0609020204030204" pitchFamily="49" charset="0"/>
                <a:cs typeface="Poppins" panose="00000500000000000000" pitchFamily="2" charset="0"/>
              </a:rPr>
              <a:t> </a:t>
            </a:r>
            <a:r>
              <a:rPr lang="en-US" sz="900" dirty="0">
                <a:solidFill>
                  <a:schemeClr val="tx2">
                    <a:lumMod val="90000"/>
                    <a:lumOff val="10000"/>
                  </a:schemeClr>
                </a:solidFill>
                <a:latin typeface="Poppins" panose="00000500000000000000" pitchFamily="2" charset="0"/>
                <a:cs typeface="Poppins" panose="00000500000000000000" pitchFamily="2" charset="0"/>
              </a:rPr>
              <a:t>→ instantaneous severity = </a:t>
            </a:r>
            <a:r>
              <a:rPr lang="en-US" sz="900" b="1" dirty="0">
                <a:solidFill>
                  <a:schemeClr val="tx2">
                    <a:lumMod val="90000"/>
                    <a:lumOff val="10000"/>
                  </a:schemeClr>
                </a:solidFill>
                <a:latin typeface="Poppins" panose="00000500000000000000" pitchFamily="2" charset="0"/>
                <a:cs typeface="Poppins" panose="00000500000000000000" pitchFamily="2" charset="0"/>
              </a:rPr>
              <a:t>TORQUE_LIMIT</a:t>
            </a:r>
          </a:p>
          <a:p>
            <a:pPr marL="171450" indent="-171450">
              <a:buFont typeface="Arial" panose="020B0604020202020204" pitchFamily="34" charset="0"/>
              <a:buChar char="•"/>
            </a:pPr>
            <a:r>
              <a:rPr lang="en-US" sz="900" dirty="0">
                <a:solidFill>
                  <a:schemeClr val="tx2">
                    <a:lumMod val="90000"/>
                    <a:lumOff val="10000"/>
                  </a:schemeClr>
                </a:solidFill>
                <a:latin typeface="Poppins" panose="00000500000000000000" pitchFamily="2" charset="0"/>
                <a:cs typeface="Poppins" panose="00000500000000000000" pitchFamily="2" charset="0"/>
              </a:rPr>
              <a:t>counters are incremented: </a:t>
            </a:r>
            <a:r>
              <a:rPr lang="en-US" sz="900" dirty="0" err="1">
                <a:solidFill>
                  <a:schemeClr val="tx2">
                    <a:lumMod val="90000"/>
                    <a:lumOff val="10000"/>
                  </a:schemeClr>
                </a:solidFill>
                <a:latin typeface="Poppins" panose="00000500000000000000" pitchFamily="2" charset="0"/>
                <a:cs typeface="Poppins" panose="00000500000000000000" pitchFamily="2" charset="0"/>
              </a:rPr>
              <a:t>compliant_counter</a:t>
            </a:r>
            <a:r>
              <a:rPr lang="en-US" sz="900" dirty="0">
                <a:solidFill>
                  <a:schemeClr val="tx2">
                    <a:lumMod val="90000"/>
                    <a:lumOff val="10000"/>
                  </a:schemeClr>
                </a:solidFill>
                <a:latin typeface="Poppins" panose="00000500000000000000" pitchFamily="2" charset="0"/>
                <a:cs typeface="Poppins" panose="00000500000000000000" pitchFamily="2" charset="0"/>
              </a:rPr>
              <a:t>_ = 1, </a:t>
            </a:r>
            <a:r>
              <a:rPr lang="en-US" sz="900" dirty="0" err="1">
                <a:solidFill>
                  <a:schemeClr val="tx2">
                    <a:lumMod val="90000"/>
                    <a:lumOff val="10000"/>
                  </a:schemeClr>
                </a:solidFill>
                <a:latin typeface="Poppins" panose="00000500000000000000" pitchFamily="2" charset="0"/>
                <a:cs typeface="Poppins" panose="00000500000000000000" pitchFamily="2" charset="0"/>
              </a:rPr>
              <a:t>torque_counter</a:t>
            </a:r>
            <a:r>
              <a:rPr lang="en-US" sz="900" dirty="0">
                <a:solidFill>
                  <a:schemeClr val="tx2">
                    <a:lumMod val="90000"/>
                    <a:lumOff val="10000"/>
                  </a:schemeClr>
                </a:solidFill>
                <a:latin typeface="Poppins" panose="00000500000000000000" pitchFamily="2" charset="0"/>
                <a:cs typeface="Poppins" panose="00000500000000000000" pitchFamily="2" charset="0"/>
              </a:rPr>
              <a:t>_ = 1</a:t>
            </a:r>
          </a:p>
          <a:p>
            <a:pPr marL="171450" indent="-171450">
              <a:buFont typeface="Arial" panose="020B0604020202020204" pitchFamily="34" charset="0"/>
              <a:buChar char="•"/>
            </a:pPr>
            <a:r>
              <a:rPr lang="en-US" sz="900" dirty="0">
                <a:solidFill>
                  <a:schemeClr val="tx2">
                    <a:lumMod val="90000"/>
                    <a:lumOff val="10000"/>
                  </a:schemeClr>
                </a:solidFill>
                <a:latin typeface="Poppins" panose="00000500000000000000" pitchFamily="2" charset="0"/>
                <a:cs typeface="Poppins" panose="00000500000000000000" pitchFamily="2" charset="0"/>
              </a:rPr>
              <a:t>debounce threshold not yet reached — no escalation</a:t>
            </a:r>
          </a:p>
          <a:p>
            <a:br>
              <a:rPr lang="en-US" sz="1000" dirty="0">
                <a:latin typeface="Poppins" panose="00000500000000000000" pitchFamily="2" charset="0"/>
                <a:cs typeface="Poppins" panose="00000500000000000000" pitchFamily="2" charset="0"/>
              </a:rPr>
            </a:br>
            <a:endParaRPr lang="en-US" sz="1000" dirty="0">
              <a:latin typeface="Poppins" panose="00000500000000000000" pitchFamily="2" charset="0"/>
              <a:cs typeface="Poppins" panose="00000500000000000000" pitchFamily="2" charset="0"/>
            </a:endParaRPr>
          </a:p>
          <a:p>
            <a:r>
              <a:rPr lang="en-US" sz="1400" b="1" dirty="0">
                <a:solidFill>
                  <a:schemeClr val="tx2"/>
                </a:solidFill>
                <a:latin typeface="Poppins" panose="00000500000000000000" pitchFamily="2" charset="0"/>
                <a:cs typeface="Poppins" panose="00000500000000000000" pitchFamily="2" charset="0"/>
              </a:rPr>
              <a:t>t = N + 10 </a:t>
            </a:r>
            <a:r>
              <a:rPr lang="en-US" sz="1400" b="1" dirty="0" err="1">
                <a:solidFill>
                  <a:schemeClr val="tx2"/>
                </a:solidFill>
                <a:latin typeface="Poppins" panose="00000500000000000000" pitchFamily="2" charset="0"/>
                <a:cs typeface="Poppins" panose="00000500000000000000" pitchFamily="2" charset="0"/>
              </a:rPr>
              <a:t>ms</a:t>
            </a:r>
            <a:r>
              <a:rPr lang="en-US" sz="1400" b="1" dirty="0">
                <a:solidFill>
                  <a:schemeClr val="tx2"/>
                </a:solidFill>
                <a:latin typeface="Poppins" panose="00000500000000000000" pitchFamily="2" charset="0"/>
                <a:cs typeface="Poppins" panose="00000500000000000000" pitchFamily="2" charset="0"/>
              </a:rPr>
              <a:t> — second sample</a:t>
            </a:r>
          </a:p>
          <a:p>
            <a:r>
              <a:rPr lang="en-US" sz="1000" dirty="0">
                <a:solidFill>
                  <a:schemeClr val="tx2">
                    <a:lumMod val="90000"/>
                    <a:lumOff val="10000"/>
                  </a:schemeClr>
                </a:solidFill>
                <a:latin typeface="Poppins" panose="00000500000000000000" pitchFamily="2" charset="0"/>
                <a:cs typeface="Poppins" panose="00000500000000000000" pitchFamily="2" charset="0"/>
              </a:rPr>
              <a:t>Same result. </a:t>
            </a:r>
            <a:r>
              <a:rPr lang="en-US" sz="1000" b="1" dirty="0" err="1">
                <a:solidFill>
                  <a:schemeClr val="tx2">
                    <a:lumMod val="90000"/>
                    <a:lumOff val="10000"/>
                  </a:schemeClr>
                </a:solidFill>
                <a:latin typeface="Consolas" panose="020B0609020204030204" pitchFamily="49" charset="0"/>
                <a:cs typeface="Poppins" panose="00000500000000000000" pitchFamily="2" charset="0"/>
              </a:rPr>
              <a:t>compliant_counter</a:t>
            </a:r>
            <a:r>
              <a:rPr lang="en-US" sz="1000" b="1" dirty="0">
                <a:solidFill>
                  <a:schemeClr val="tx2">
                    <a:lumMod val="90000"/>
                    <a:lumOff val="10000"/>
                  </a:schemeClr>
                </a:solidFill>
                <a:latin typeface="Consolas" panose="020B0609020204030204" pitchFamily="49" charset="0"/>
                <a:cs typeface="Poppins" panose="00000500000000000000" pitchFamily="2" charset="0"/>
              </a:rPr>
              <a:t>_ </a:t>
            </a:r>
            <a:r>
              <a:rPr lang="en-US" sz="1000" dirty="0">
                <a:solidFill>
                  <a:schemeClr val="tx2">
                    <a:lumMod val="90000"/>
                    <a:lumOff val="10000"/>
                  </a:schemeClr>
                </a:solidFill>
                <a:latin typeface="Consolas" panose="020B0609020204030204" pitchFamily="49" charset="0"/>
                <a:cs typeface="Poppins" panose="00000500000000000000" pitchFamily="2" charset="0"/>
              </a:rPr>
              <a:t>= 2, </a:t>
            </a:r>
            <a:r>
              <a:rPr lang="en-US" sz="1000" b="1" dirty="0" err="1">
                <a:solidFill>
                  <a:schemeClr val="tx2">
                    <a:lumMod val="90000"/>
                    <a:lumOff val="10000"/>
                  </a:schemeClr>
                </a:solidFill>
                <a:latin typeface="Consolas" panose="020B0609020204030204" pitchFamily="49" charset="0"/>
                <a:cs typeface="Poppins" panose="00000500000000000000" pitchFamily="2" charset="0"/>
              </a:rPr>
              <a:t>torque_counter</a:t>
            </a:r>
            <a:r>
              <a:rPr lang="en-US" sz="1000" b="1" dirty="0">
                <a:solidFill>
                  <a:schemeClr val="tx2">
                    <a:lumMod val="90000"/>
                    <a:lumOff val="10000"/>
                  </a:schemeClr>
                </a:solidFill>
                <a:latin typeface="Consolas" panose="020B0609020204030204" pitchFamily="49" charset="0"/>
                <a:cs typeface="Poppins" panose="00000500000000000000" pitchFamily="2" charset="0"/>
              </a:rPr>
              <a:t>_ </a:t>
            </a:r>
            <a:r>
              <a:rPr lang="en-US" sz="1000" dirty="0">
                <a:solidFill>
                  <a:schemeClr val="tx2">
                    <a:lumMod val="90000"/>
                    <a:lumOff val="10000"/>
                  </a:schemeClr>
                </a:solidFill>
                <a:latin typeface="Consolas" panose="020B0609020204030204" pitchFamily="49" charset="0"/>
                <a:cs typeface="Poppins" panose="00000500000000000000" pitchFamily="2" charset="0"/>
              </a:rPr>
              <a:t>= 2</a:t>
            </a:r>
            <a:r>
              <a:rPr lang="en-US" sz="1000" dirty="0">
                <a:solidFill>
                  <a:schemeClr val="tx2">
                    <a:lumMod val="90000"/>
                    <a:lumOff val="10000"/>
                  </a:schemeClr>
                </a:solidFill>
                <a:latin typeface="Poppins" panose="00000500000000000000" pitchFamily="2" charset="0"/>
                <a:cs typeface="Poppins" panose="00000500000000000000" pitchFamily="2" charset="0"/>
              </a:rPr>
              <a:t>. Still below threshold.</a:t>
            </a:r>
          </a:p>
          <a:p>
            <a:br>
              <a:rPr lang="en-US" sz="1000" dirty="0">
                <a:latin typeface="Poppins" panose="00000500000000000000" pitchFamily="2" charset="0"/>
                <a:cs typeface="Poppins" panose="00000500000000000000" pitchFamily="2" charset="0"/>
              </a:rPr>
            </a:br>
            <a:endParaRPr lang="en-US" sz="1000" dirty="0">
              <a:latin typeface="Poppins" panose="00000500000000000000" pitchFamily="2" charset="0"/>
              <a:cs typeface="Poppins" panose="00000500000000000000" pitchFamily="2" charset="0"/>
            </a:endParaRPr>
          </a:p>
          <a:p>
            <a:r>
              <a:rPr lang="en-US" sz="1400" b="1" dirty="0">
                <a:solidFill>
                  <a:schemeClr val="tx2"/>
                </a:solidFill>
                <a:latin typeface="Poppins" panose="00000500000000000000" pitchFamily="2" charset="0"/>
                <a:cs typeface="Poppins" panose="00000500000000000000" pitchFamily="2" charset="0"/>
              </a:rPr>
              <a:t>t = N + 15 </a:t>
            </a:r>
            <a:r>
              <a:rPr lang="en-US" sz="1400" b="1" dirty="0" err="1">
                <a:solidFill>
                  <a:schemeClr val="tx2"/>
                </a:solidFill>
                <a:latin typeface="Poppins" panose="00000500000000000000" pitchFamily="2" charset="0"/>
                <a:cs typeface="Poppins" panose="00000500000000000000" pitchFamily="2" charset="0"/>
              </a:rPr>
              <a:t>ms</a:t>
            </a:r>
            <a:r>
              <a:rPr lang="en-US" sz="1400" b="1" dirty="0">
                <a:solidFill>
                  <a:schemeClr val="tx2"/>
                </a:solidFill>
                <a:latin typeface="Poppins" panose="00000500000000000000" pitchFamily="2" charset="0"/>
                <a:cs typeface="Poppins" panose="00000500000000000000" pitchFamily="2" charset="0"/>
              </a:rPr>
              <a:t> — third sample, debounce fires</a:t>
            </a:r>
          </a:p>
          <a:p>
            <a:r>
              <a:rPr lang="en-US" sz="1000" b="1" dirty="0" err="1">
                <a:solidFill>
                  <a:schemeClr val="tx2">
                    <a:lumMod val="90000"/>
                    <a:lumOff val="10000"/>
                  </a:schemeClr>
                </a:solidFill>
                <a:latin typeface="Consolas" panose="020B0609020204030204" pitchFamily="49" charset="0"/>
                <a:cs typeface="Poppins" panose="00000500000000000000" pitchFamily="2" charset="0"/>
              </a:rPr>
              <a:t>torque_counter</a:t>
            </a:r>
            <a:r>
              <a:rPr lang="en-US" sz="1000" b="1" dirty="0">
                <a:solidFill>
                  <a:schemeClr val="tx2">
                    <a:lumMod val="90000"/>
                    <a:lumOff val="10000"/>
                  </a:schemeClr>
                </a:solidFill>
                <a:latin typeface="Consolas" panose="020B0609020204030204" pitchFamily="49" charset="0"/>
                <a:cs typeface="Poppins" panose="00000500000000000000" pitchFamily="2" charset="0"/>
              </a:rPr>
              <a:t>_ </a:t>
            </a:r>
            <a:r>
              <a:rPr lang="en-US" sz="1000" dirty="0">
                <a:solidFill>
                  <a:schemeClr val="tx2">
                    <a:lumMod val="90000"/>
                    <a:lumOff val="10000"/>
                  </a:schemeClr>
                </a:solidFill>
                <a:latin typeface="Consolas" panose="020B0609020204030204" pitchFamily="49" charset="0"/>
                <a:cs typeface="Poppins" panose="00000500000000000000" pitchFamily="2" charset="0"/>
              </a:rPr>
              <a:t>= 3 </a:t>
            </a:r>
            <a:r>
              <a:rPr lang="en-US" sz="1000" dirty="0">
                <a:solidFill>
                  <a:schemeClr val="tx2">
                    <a:lumMod val="90000"/>
                    <a:lumOff val="10000"/>
                  </a:schemeClr>
                </a:solidFill>
                <a:latin typeface="Poppins" panose="00000500000000000000" pitchFamily="2" charset="0"/>
                <a:cs typeface="Poppins" panose="00000500000000000000" pitchFamily="2" charset="0"/>
              </a:rPr>
              <a:t>reaches the threshold. </a:t>
            </a:r>
            <a:r>
              <a:rPr lang="en-US" sz="1000" b="1" dirty="0" err="1">
                <a:solidFill>
                  <a:schemeClr val="tx2">
                    <a:lumMod val="90000"/>
                    <a:lumOff val="10000"/>
                  </a:schemeClr>
                </a:solidFill>
                <a:latin typeface="Consolas" panose="020B0609020204030204" pitchFamily="49" charset="0"/>
                <a:cs typeface="Poppins" panose="00000500000000000000" pitchFamily="2" charset="0"/>
              </a:rPr>
              <a:t>debounced_entry_level</a:t>
            </a:r>
            <a:r>
              <a:rPr lang="en-US" sz="1000" b="1" dirty="0">
                <a:solidFill>
                  <a:schemeClr val="tx2">
                    <a:lumMod val="90000"/>
                    <a:lumOff val="10000"/>
                  </a:schemeClr>
                </a:solidFill>
                <a:latin typeface="Consolas" panose="020B0609020204030204" pitchFamily="49" charset="0"/>
                <a:cs typeface="Poppins" panose="00000500000000000000" pitchFamily="2" charset="0"/>
              </a:rPr>
              <a:t>() </a:t>
            </a:r>
            <a:r>
              <a:rPr lang="en-US" sz="1000" dirty="0">
                <a:solidFill>
                  <a:schemeClr val="tx2">
                    <a:lumMod val="90000"/>
                    <a:lumOff val="10000"/>
                  </a:schemeClr>
                </a:solidFill>
                <a:latin typeface="Poppins" panose="00000500000000000000" pitchFamily="2" charset="0"/>
                <a:cs typeface="Poppins" panose="00000500000000000000" pitchFamily="2" charset="0"/>
              </a:rPr>
              <a:t>returns </a:t>
            </a:r>
            <a:r>
              <a:rPr lang="en-US" sz="1000" b="1" dirty="0">
                <a:solidFill>
                  <a:schemeClr val="tx2">
                    <a:lumMod val="90000"/>
                    <a:lumOff val="10000"/>
                  </a:schemeClr>
                </a:solidFill>
                <a:latin typeface="Poppins" panose="00000500000000000000" pitchFamily="2" charset="0"/>
                <a:cs typeface="Poppins" panose="00000500000000000000" pitchFamily="2" charset="0"/>
              </a:rPr>
              <a:t>TORQUE_LIMIT</a:t>
            </a:r>
            <a:r>
              <a:rPr lang="en-US" sz="1000" dirty="0">
                <a:solidFill>
                  <a:schemeClr val="tx2">
                    <a:lumMod val="90000"/>
                    <a:lumOff val="10000"/>
                  </a:schemeClr>
                </a:solidFill>
                <a:latin typeface="Poppins" panose="00000500000000000000" pitchFamily="2" charset="0"/>
                <a:cs typeface="Poppins" panose="00000500000000000000" pitchFamily="2" charset="0"/>
              </a:rPr>
              <a:t>. </a:t>
            </a:r>
          </a:p>
          <a:p>
            <a:r>
              <a:rPr lang="en-US" sz="1000" b="1" dirty="0" err="1">
                <a:solidFill>
                  <a:schemeClr val="tx2">
                    <a:lumMod val="90000"/>
                    <a:lumOff val="10000"/>
                  </a:schemeClr>
                </a:solidFill>
                <a:latin typeface="Poppins" panose="00000500000000000000" pitchFamily="2" charset="0"/>
                <a:cs typeface="Poppins" panose="00000500000000000000" pitchFamily="2" charset="0"/>
              </a:rPr>
              <a:t>FaultMonitorMode</a:t>
            </a:r>
            <a:r>
              <a:rPr lang="en-US" sz="1000" dirty="0">
                <a:solidFill>
                  <a:schemeClr val="tx2">
                    <a:lumMod val="90000"/>
                    <a:lumOff val="10000"/>
                  </a:schemeClr>
                </a:solidFill>
                <a:latin typeface="Poppins" panose="00000500000000000000" pitchFamily="2" charset="0"/>
                <a:cs typeface="Poppins" panose="00000500000000000000" pitchFamily="2" charset="0"/>
              </a:rPr>
              <a:t> checks that this is more severe than the last requested level (NOMINAL) and calls the </a:t>
            </a:r>
            <a:r>
              <a:rPr lang="en-US" sz="1000" b="1" dirty="0">
                <a:solidFill>
                  <a:schemeClr val="tx2">
                    <a:lumMod val="90000"/>
                    <a:lumOff val="10000"/>
                  </a:schemeClr>
                </a:solidFill>
                <a:latin typeface="Consolas" panose="020B0609020204030204" pitchFamily="49" charset="0"/>
                <a:cs typeface="Poppins" panose="00000500000000000000" pitchFamily="2" charset="0"/>
              </a:rPr>
              <a:t>/</a:t>
            </a:r>
            <a:r>
              <a:rPr lang="en-US" sz="1000" b="1" dirty="0" err="1">
                <a:solidFill>
                  <a:schemeClr val="tx2">
                    <a:lumMod val="90000"/>
                    <a:lumOff val="10000"/>
                  </a:schemeClr>
                </a:solidFill>
                <a:latin typeface="Consolas" panose="020B0609020204030204" pitchFamily="49" charset="0"/>
                <a:cs typeface="Poppins" panose="00000500000000000000" pitchFamily="2" charset="0"/>
              </a:rPr>
              <a:t>torque_limit_request</a:t>
            </a:r>
            <a:r>
              <a:rPr lang="en-US" sz="1000" b="1" dirty="0">
                <a:solidFill>
                  <a:schemeClr val="tx2">
                    <a:lumMod val="90000"/>
                    <a:lumOff val="10000"/>
                  </a:schemeClr>
                </a:solidFill>
                <a:latin typeface="Consolas" panose="020B0609020204030204" pitchFamily="49" charset="0"/>
                <a:cs typeface="Poppins" panose="00000500000000000000" pitchFamily="2" charset="0"/>
              </a:rPr>
              <a:t> </a:t>
            </a:r>
            <a:r>
              <a:rPr lang="en-US" sz="1000" dirty="0">
                <a:solidFill>
                  <a:schemeClr val="tx2">
                    <a:lumMod val="90000"/>
                    <a:lumOff val="10000"/>
                  </a:schemeClr>
                </a:solidFill>
                <a:latin typeface="Poppins" panose="00000500000000000000" pitchFamily="2" charset="0"/>
                <a:cs typeface="Poppins" panose="00000500000000000000" pitchFamily="2" charset="0"/>
              </a:rPr>
              <a:t>service on the </a:t>
            </a:r>
            <a:r>
              <a:rPr lang="en-US" sz="1000" b="1" dirty="0" err="1">
                <a:solidFill>
                  <a:schemeClr val="tx2">
                    <a:lumMod val="90000"/>
                    <a:lumOff val="10000"/>
                  </a:schemeClr>
                </a:solidFill>
                <a:latin typeface="Poppins" panose="00000500000000000000" pitchFamily="2" charset="0"/>
                <a:cs typeface="Poppins" panose="00000500000000000000" pitchFamily="2" charset="0"/>
              </a:rPr>
              <a:t>StateMachine</a:t>
            </a:r>
            <a:r>
              <a:rPr lang="en-US" sz="1000" dirty="0">
                <a:solidFill>
                  <a:schemeClr val="tx2">
                    <a:lumMod val="90000"/>
                    <a:lumOff val="10000"/>
                  </a:schemeClr>
                </a:solidFill>
                <a:latin typeface="Poppins" panose="00000500000000000000" pitchFamily="2" charset="0"/>
                <a:cs typeface="Poppins" panose="00000500000000000000" pitchFamily="2" charset="0"/>
              </a:rPr>
              <a:t> with </a:t>
            </a:r>
            <a:r>
              <a:rPr lang="en-US" sz="1000" b="1" dirty="0">
                <a:solidFill>
                  <a:schemeClr val="tx2">
                    <a:lumMod val="90000"/>
                    <a:lumOff val="10000"/>
                  </a:schemeClr>
                </a:solidFill>
                <a:latin typeface="Consolas" panose="020B0609020204030204" pitchFamily="49" charset="0"/>
                <a:cs typeface="Poppins" panose="00000500000000000000" pitchFamily="2" charset="0"/>
              </a:rPr>
              <a:t>data: true</a:t>
            </a:r>
            <a:r>
              <a:rPr lang="en-US" sz="1000" dirty="0">
                <a:solidFill>
                  <a:schemeClr val="tx2">
                    <a:lumMod val="90000"/>
                    <a:lumOff val="10000"/>
                  </a:schemeClr>
                </a:solidFill>
                <a:latin typeface="Poppins" panose="00000500000000000000" pitchFamily="2" charset="0"/>
                <a:cs typeface="Poppins" panose="00000500000000000000" pitchFamily="2" charset="0"/>
              </a:rPr>
              <a:t>. The call is </a:t>
            </a:r>
            <a:r>
              <a:rPr lang="en-US" sz="1000" b="1" dirty="0">
                <a:solidFill>
                  <a:schemeClr val="tx2">
                    <a:lumMod val="90000"/>
                    <a:lumOff val="10000"/>
                  </a:schemeClr>
                </a:solidFill>
                <a:latin typeface="Poppins" panose="00000500000000000000" pitchFamily="2" charset="0"/>
                <a:cs typeface="Poppins" panose="00000500000000000000" pitchFamily="2" charset="0"/>
              </a:rPr>
              <a:t>asynchronous</a:t>
            </a:r>
            <a:r>
              <a:rPr lang="en-US" sz="1000" dirty="0">
                <a:solidFill>
                  <a:schemeClr val="tx2">
                    <a:lumMod val="90000"/>
                    <a:lumOff val="10000"/>
                  </a:schemeClr>
                </a:solidFill>
                <a:latin typeface="Poppins" panose="00000500000000000000" pitchFamily="2" charset="0"/>
                <a:cs typeface="Poppins" panose="00000500000000000000" pitchFamily="2" charset="0"/>
              </a:rPr>
              <a:t> — it does not block the detection thread.</a:t>
            </a:r>
          </a:p>
          <a:p>
            <a:pPr>
              <a:buNone/>
            </a:pPr>
            <a:endParaRPr lang="it-IT" sz="1000" dirty="0">
              <a:latin typeface="Poppins" panose="00000500000000000000" pitchFamily="2" charset="0"/>
              <a:cs typeface="Poppins" panose="00000500000000000000" pitchFamily="2" charset="0"/>
            </a:endParaRPr>
          </a:p>
        </p:txBody>
      </p:sp>
      <p:pic>
        <p:nvPicPr>
          <p:cNvPr id="53" name="Picture 52">
            <a:extLst>
              <a:ext uri="{FF2B5EF4-FFF2-40B4-BE49-F238E27FC236}">
                <a16:creationId xmlns:a16="http://schemas.microsoft.com/office/drawing/2014/main" id="{32373F70-5BA8-637B-43FD-DE1E707C8CA1}"/>
              </a:ext>
            </a:extLst>
          </p:cNvPr>
          <p:cNvPicPr>
            <a:picLocks noChangeAspect="1"/>
          </p:cNvPicPr>
          <p:nvPr/>
        </p:nvPicPr>
        <p:blipFill>
          <a:blip r:embed="rId7"/>
          <a:stretch>
            <a:fillRect/>
          </a:stretch>
        </p:blipFill>
        <p:spPr>
          <a:xfrm>
            <a:off x="771498" y="2753187"/>
            <a:ext cx="5824395" cy="3377460"/>
          </a:xfrm>
          <a:prstGeom prst="rect">
            <a:avLst/>
          </a:prstGeom>
        </p:spPr>
      </p:pic>
      <p:pic>
        <p:nvPicPr>
          <p:cNvPr id="7" name="Picture 6">
            <a:extLst>
              <a:ext uri="{FF2B5EF4-FFF2-40B4-BE49-F238E27FC236}">
                <a16:creationId xmlns:a16="http://schemas.microsoft.com/office/drawing/2014/main" id="{7B1E9B8F-0AE6-011C-A007-F89089334589}"/>
              </a:ext>
            </a:extLst>
          </p:cNvPr>
          <p:cNvPicPr>
            <a:picLocks noChangeAspect="1"/>
          </p:cNvPicPr>
          <p:nvPr/>
        </p:nvPicPr>
        <p:blipFill>
          <a:blip r:embed="rId8"/>
          <a:srcRect/>
          <a:stretch/>
        </p:blipFill>
        <p:spPr>
          <a:xfrm>
            <a:off x="771498" y="2751901"/>
            <a:ext cx="5824395" cy="3376461"/>
          </a:xfrm>
          <a:prstGeom prst="rect">
            <a:avLst/>
          </a:prstGeom>
        </p:spPr>
      </p:pic>
    </p:spTree>
    <p:extLst>
      <p:ext uri="{BB962C8B-B14F-4D97-AF65-F5344CB8AC3E}">
        <p14:creationId xmlns:p14="http://schemas.microsoft.com/office/powerpoint/2010/main" val="2806783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62BCC-E05B-F2A5-F3C1-85B30997E8F7}"/>
            </a:ext>
          </a:extLst>
        </p:cNvPr>
        <p:cNvGrpSpPr/>
        <p:nvPr/>
      </p:nvGrpSpPr>
      <p:grpSpPr>
        <a:xfrm>
          <a:off x="0" y="0"/>
          <a:ext cx="0" cy="0"/>
          <a:chOff x="0" y="0"/>
          <a:chExt cx="0" cy="0"/>
        </a:xfrm>
      </p:grpSpPr>
      <p:sp>
        <p:nvSpPr>
          <p:cNvPr id="47" name="Shape 3">
            <a:extLst>
              <a:ext uri="{FF2B5EF4-FFF2-40B4-BE49-F238E27FC236}">
                <a16:creationId xmlns:a16="http://schemas.microsoft.com/office/drawing/2014/main" id="{EAFCC06D-C956-0384-8453-C327069E35A1}"/>
              </a:ext>
            </a:extLst>
          </p:cNvPr>
          <p:cNvSpPr>
            <a:spLocks/>
          </p:cNvSpPr>
          <p:nvPr/>
        </p:nvSpPr>
        <p:spPr>
          <a:xfrm>
            <a:off x="525933" y="2567497"/>
            <a:ext cx="6318637" cy="3748841"/>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42" name="Google Shape;259;p29">
            <a:extLst>
              <a:ext uri="{FF2B5EF4-FFF2-40B4-BE49-F238E27FC236}">
                <a16:creationId xmlns:a16="http://schemas.microsoft.com/office/drawing/2014/main" id="{3BDB597C-8944-FC30-689A-5BE0D1F00201}"/>
              </a:ext>
            </a:extLst>
          </p:cNvPr>
          <p:cNvSpPr/>
          <p:nvPr/>
        </p:nvSpPr>
        <p:spPr>
          <a:xfrm>
            <a:off x="525933" y="1433398"/>
            <a:ext cx="7231228"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Sottotitolo 2">
            <a:extLst>
              <a:ext uri="{FF2B5EF4-FFF2-40B4-BE49-F238E27FC236}">
                <a16:creationId xmlns:a16="http://schemas.microsoft.com/office/drawing/2014/main" id="{9081331A-9A5C-1C23-F5C4-27C2DEFA802F}"/>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15890AE1-7ED6-64CE-061C-C15477B102E4}"/>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39183E46-E19B-98AD-03BA-BD628C7929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642DF61C-5AC1-FAC7-4B66-9787872BA59B}"/>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642DF61C-5AC1-FAC7-4B66-9787872BA59B}"/>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0144F256-8FE0-3E8E-0175-80D93CCFDB44}"/>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0144F256-8FE0-3E8E-0175-80D93CCFDB44}"/>
                  </a:ext>
                </a:extLst>
              </p:cNvPr>
              <p:cNvPicPr/>
              <p:nvPr/>
            </p:nvPicPr>
            <p:blipFill>
              <a:blip r:embed="rId6"/>
              <a:stretch>
                <a:fillRect/>
              </a:stretch>
            </p:blipFill>
            <p:spPr>
              <a:xfrm>
                <a:off x="5259213" y="963076"/>
                <a:ext cx="1950120" cy="351561"/>
              </a:xfrm>
              <a:prstGeom prst="rect">
                <a:avLst/>
              </a:prstGeom>
            </p:spPr>
          </p:pic>
        </mc:Fallback>
      </mc:AlternateContent>
      <p:sp>
        <p:nvSpPr>
          <p:cNvPr id="14" name="Google Shape;259;p29">
            <a:extLst>
              <a:ext uri="{FF2B5EF4-FFF2-40B4-BE49-F238E27FC236}">
                <a16:creationId xmlns:a16="http://schemas.microsoft.com/office/drawing/2014/main" id="{25DA63AD-5CE9-4FCD-F347-FEB06413CEC3}"/>
              </a:ext>
            </a:extLst>
          </p:cNvPr>
          <p:cNvSpPr/>
          <p:nvPr/>
        </p:nvSpPr>
        <p:spPr>
          <a:xfrm>
            <a:off x="525933" y="1433398"/>
            <a:ext cx="7139788"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530ACE3C-9ADA-FEBD-5567-3360715B7FDB}"/>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Functional Safety Architecture</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65BEA888-32FD-848C-2114-6EE9F7621C86}"/>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24764487-C312-E66A-FF79-192C8E7F940C}"/>
              </a:ext>
            </a:extLst>
          </p:cNvPr>
          <p:cNvSpPr txBox="1"/>
          <p:nvPr/>
        </p:nvSpPr>
        <p:spPr>
          <a:xfrm>
            <a:off x="604929" y="1705798"/>
            <a:ext cx="6109138" cy="338554"/>
          </a:xfrm>
          <a:prstGeom prst="rect">
            <a:avLst/>
          </a:prstGeom>
          <a:noFill/>
        </p:spPr>
        <p:txBody>
          <a:bodyPr wrap="square">
            <a:spAutoFit/>
          </a:bodyPr>
          <a:lstStyle/>
          <a:p>
            <a:r>
              <a:rPr lang="en-US" sz="1600" i="1" dirty="0">
                <a:solidFill>
                  <a:srgbClr val="64748B"/>
                </a:solidFill>
                <a:latin typeface="Poppins" panose="00000500000000000000" pitchFamily="2" charset="0"/>
                <a:ea typeface="Calibri" pitchFamily="34" charset="-122"/>
                <a:cs typeface="Poppins" panose="00000500000000000000" pitchFamily="2" charset="0"/>
              </a:rPr>
              <a:t>Defense-in-depth across three cooperating layers</a:t>
            </a:r>
            <a:endParaRPr lang="en-US" sz="1600" dirty="0">
              <a:latin typeface="Poppins" panose="00000500000000000000" pitchFamily="2" charset="0"/>
              <a:cs typeface="Poppins" panose="00000500000000000000" pitchFamily="2" charset="0"/>
            </a:endParaRPr>
          </a:p>
        </p:txBody>
      </p:sp>
      <p:sp>
        <p:nvSpPr>
          <p:cNvPr id="48" name="TextBox 47">
            <a:extLst>
              <a:ext uri="{FF2B5EF4-FFF2-40B4-BE49-F238E27FC236}">
                <a16:creationId xmlns:a16="http://schemas.microsoft.com/office/drawing/2014/main" id="{745F8A5F-7145-A8DC-A136-7BB456F776E7}"/>
              </a:ext>
            </a:extLst>
          </p:cNvPr>
          <p:cNvSpPr txBox="1"/>
          <p:nvPr/>
        </p:nvSpPr>
        <p:spPr>
          <a:xfrm>
            <a:off x="604928" y="2195850"/>
            <a:ext cx="6236003" cy="369332"/>
          </a:xfrm>
          <a:prstGeom prst="rect">
            <a:avLst/>
          </a:prstGeom>
          <a:noFill/>
        </p:spPr>
        <p:txBody>
          <a:bodyPr wrap="none" rtlCol="0">
            <a:spAutoFit/>
          </a:bodyPr>
          <a:lstStyle/>
          <a:p>
            <a:r>
              <a:rPr lang="it-IT" b="1" u="sng" dirty="0">
                <a:solidFill>
                  <a:schemeClr val="tx2"/>
                </a:solidFill>
                <a:latin typeface="Poppins" panose="00000500000000000000" pitchFamily="2" charset="0"/>
                <a:cs typeface="Poppins" panose="00000500000000000000" pitchFamily="2" charset="0"/>
              </a:rPr>
              <a:t>Scenario</a:t>
            </a:r>
            <a:r>
              <a:rPr lang="it-IT" dirty="0">
                <a:solidFill>
                  <a:schemeClr val="tx2"/>
                </a:solidFill>
                <a:latin typeface="Poppins" panose="00000500000000000000" pitchFamily="2" charset="0"/>
                <a:cs typeface="Poppins" panose="00000500000000000000" pitchFamily="2" charset="0"/>
              </a:rPr>
              <a:t>: </a:t>
            </a:r>
            <a:r>
              <a:rPr lang="it-IT" sz="1400" dirty="0">
                <a:solidFill>
                  <a:schemeClr val="tx2"/>
                </a:solidFill>
                <a:latin typeface="Poppins" panose="00000500000000000000" pitchFamily="2" charset="0"/>
                <a:cs typeface="Poppins" panose="00000500000000000000" pitchFamily="2" charset="0"/>
              </a:rPr>
              <a:t>offset on /torque greater than </a:t>
            </a:r>
            <a:r>
              <a:rPr lang="it-IT" sz="1400" b="1" dirty="0">
                <a:solidFill>
                  <a:schemeClr val="tx2"/>
                </a:solidFill>
                <a:latin typeface="Consolas" panose="020B0609020204030204" pitchFamily="49" charset="0"/>
                <a:cs typeface="Poppins" panose="00000500000000000000" pitchFamily="2" charset="0"/>
              </a:rPr>
              <a:t>TORQUE_LIMIT </a:t>
            </a:r>
            <a:r>
              <a:rPr lang="it-IT" sz="1400" dirty="0">
                <a:solidFill>
                  <a:schemeClr val="tx2"/>
                </a:solidFill>
                <a:latin typeface="Poppins" panose="00000500000000000000" pitchFamily="2" charset="0"/>
                <a:cs typeface="Poppins" panose="00000500000000000000" pitchFamily="2" charset="0"/>
              </a:rPr>
              <a:t>threshold</a:t>
            </a:r>
            <a:endParaRPr lang="it-IT" b="1" u="sng" dirty="0">
              <a:solidFill>
                <a:schemeClr val="tx2"/>
              </a:solidFill>
              <a:latin typeface="Poppins" panose="00000500000000000000" pitchFamily="2" charset="0"/>
              <a:cs typeface="Poppins" panose="00000500000000000000" pitchFamily="2" charset="0"/>
            </a:endParaRPr>
          </a:p>
        </p:txBody>
      </p:sp>
      <p:sp>
        <p:nvSpPr>
          <p:cNvPr id="52" name="TextBox 51">
            <a:extLst>
              <a:ext uri="{FF2B5EF4-FFF2-40B4-BE49-F238E27FC236}">
                <a16:creationId xmlns:a16="http://schemas.microsoft.com/office/drawing/2014/main" id="{2EBC277C-16FD-E513-3788-1D7E627CF054}"/>
              </a:ext>
            </a:extLst>
          </p:cNvPr>
          <p:cNvSpPr txBox="1"/>
          <p:nvPr/>
        </p:nvSpPr>
        <p:spPr>
          <a:xfrm>
            <a:off x="7146693" y="2565182"/>
            <a:ext cx="4927673" cy="3046988"/>
          </a:xfrm>
          <a:prstGeom prst="rect">
            <a:avLst/>
          </a:prstGeom>
          <a:noFill/>
        </p:spPr>
        <p:txBody>
          <a:bodyPr wrap="square">
            <a:spAutoFit/>
          </a:bodyPr>
          <a:lstStyle/>
          <a:p>
            <a:r>
              <a:rPr lang="it-IT" sz="1400" dirty="0">
                <a:solidFill>
                  <a:schemeClr val="tx2"/>
                </a:solidFill>
                <a:latin typeface="Poppins Black" panose="00000A00000000000000" pitchFamily="2" charset="0"/>
                <a:cs typeface="Poppins Black" panose="00000A00000000000000" pitchFamily="2" charset="0"/>
              </a:rPr>
              <a:t>t = N + 15–17 ms — state transition</a:t>
            </a:r>
          </a:p>
          <a:p>
            <a:pPr>
              <a:buNone/>
            </a:pPr>
            <a:r>
              <a:rPr lang="en-US" sz="1200" dirty="0">
                <a:solidFill>
                  <a:schemeClr val="tx2">
                    <a:lumMod val="90000"/>
                    <a:lumOff val="10000"/>
                  </a:schemeClr>
                </a:solidFill>
                <a:latin typeface="Poppins" panose="00000500000000000000" pitchFamily="2" charset="0"/>
                <a:cs typeface="Poppins" panose="00000500000000000000" pitchFamily="2" charset="0"/>
              </a:rPr>
              <a:t>The </a:t>
            </a:r>
            <a:r>
              <a:rPr lang="en-US" sz="1200" b="1" dirty="0" err="1">
                <a:solidFill>
                  <a:schemeClr val="tx2">
                    <a:lumMod val="90000"/>
                    <a:lumOff val="10000"/>
                  </a:schemeClr>
                </a:solidFill>
                <a:latin typeface="Poppins" panose="00000500000000000000" pitchFamily="2" charset="0"/>
                <a:cs typeface="Poppins" panose="00000500000000000000" pitchFamily="2" charset="0"/>
              </a:rPr>
              <a:t>StateMachine</a:t>
            </a:r>
            <a:r>
              <a:rPr lang="en-US" sz="1200" dirty="0">
                <a:solidFill>
                  <a:schemeClr val="tx2">
                    <a:lumMod val="90000"/>
                    <a:lumOff val="10000"/>
                  </a:schemeClr>
                </a:solidFill>
                <a:latin typeface="Poppins" panose="00000500000000000000" pitchFamily="2" charset="0"/>
                <a:cs typeface="Poppins" panose="00000500000000000000" pitchFamily="2" charset="0"/>
              </a:rPr>
              <a:t> receives the request and processes it through </a:t>
            </a:r>
            <a:r>
              <a:rPr lang="en-US" sz="1200" b="1" dirty="0" err="1">
                <a:solidFill>
                  <a:schemeClr val="tx2">
                    <a:lumMod val="90000"/>
                    <a:lumOff val="10000"/>
                  </a:schemeClr>
                </a:solidFill>
                <a:latin typeface="Consolas" panose="020B0609020204030204" pitchFamily="49" charset="0"/>
                <a:cs typeface="Poppins" panose="00000500000000000000" pitchFamily="2" charset="0"/>
              </a:rPr>
              <a:t>request_state_change</a:t>
            </a:r>
            <a:r>
              <a:rPr lang="en-US" sz="1200" b="1" dirty="0">
                <a:solidFill>
                  <a:schemeClr val="tx2">
                    <a:lumMod val="90000"/>
                    <a:lumOff val="10000"/>
                  </a:schemeClr>
                </a:solidFill>
                <a:latin typeface="Consolas" panose="020B0609020204030204" pitchFamily="49" charset="0"/>
                <a:cs typeface="Poppins" panose="00000500000000000000" pitchFamily="2" charset="0"/>
              </a:rPr>
              <a:t>():</a:t>
            </a:r>
          </a:p>
          <a:p>
            <a:pPr>
              <a:buNone/>
            </a:pPr>
            <a:endParaRPr lang="en-US" sz="1200" b="1" dirty="0">
              <a:solidFill>
                <a:schemeClr val="tx2">
                  <a:lumMod val="90000"/>
                  <a:lumOff val="10000"/>
                </a:schemeClr>
              </a:solidFill>
              <a:latin typeface="Consolas" panose="020B0609020204030204" pitchFamily="49" charset="0"/>
              <a:cs typeface="Poppins" panose="00000500000000000000" pitchFamily="2" charset="0"/>
            </a:endParaRPr>
          </a:p>
          <a:p>
            <a:pPr marL="228600" indent="-228600">
              <a:buFont typeface="+mj-lt"/>
              <a:buAutoNum type="arabicPeriod"/>
            </a:pPr>
            <a:r>
              <a:rPr lang="en-US" sz="1200" b="1" dirty="0" err="1">
                <a:solidFill>
                  <a:schemeClr val="tx2">
                    <a:lumMod val="90000"/>
                    <a:lumOff val="10000"/>
                  </a:schemeClr>
                </a:solidFill>
                <a:latin typeface="Consolas" panose="020B0609020204030204" pitchFamily="49" charset="0"/>
                <a:cs typeface="Poppins" panose="00000500000000000000" pitchFamily="2" charset="0"/>
              </a:rPr>
              <a:t>can_transition_to</a:t>
            </a:r>
            <a:r>
              <a:rPr lang="en-US" sz="1200" b="1" dirty="0">
                <a:solidFill>
                  <a:schemeClr val="tx2">
                    <a:lumMod val="90000"/>
                    <a:lumOff val="10000"/>
                  </a:schemeClr>
                </a:solidFill>
                <a:latin typeface="Consolas" panose="020B0609020204030204" pitchFamily="49" charset="0"/>
                <a:cs typeface="Poppins" panose="00000500000000000000" pitchFamily="2" charset="0"/>
              </a:rPr>
              <a:t>(TORQUE_LIMIT_MODE) </a:t>
            </a:r>
            <a:r>
              <a:rPr lang="en-US" sz="1200" dirty="0">
                <a:solidFill>
                  <a:schemeClr val="tx2">
                    <a:lumMod val="90000"/>
                    <a:lumOff val="10000"/>
                  </a:schemeClr>
                </a:solidFill>
                <a:latin typeface="Poppins" panose="00000500000000000000" pitchFamily="2" charset="0"/>
                <a:cs typeface="Poppins" panose="00000500000000000000" pitchFamily="2" charset="0"/>
              </a:rPr>
              <a:t>→ true</a:t>
            </a:r>
          </a:p>
          <a:p>
            <a:pPr marL="228600" indent="-228600">
              <a:buFont typeface="+mj-lt"/>
              <a:buAutoNum type="arabicPeriod"/>
            </a:pPr>
            <a:r>
              <a:rPr lang="en-US" sz="1200" dirty="0">
                <a:solidFill>
                  <a:schemeClr val="tx2">
                    <a:lumMod val="90000"/>
                    <a:lumOff val="10000"/>
                  </a:schemeClr>
                </a:solidFill>
                <a:latin typeface="Poppins" panose="00000500000000000000" pitchFamily="2" charset="0"/>
                <a:cs typeface="Poppins" panose="00000500000000000000" pitchFamily="2" charset="0"/>
              </a:rPr>
              <a:t>The active plugin (</a:t>
            </a:r>
            <a:r>
              <a:rPr lang="en-US" sz="1200" b="1" dirty="0" err="1">
                <a:solidFill>
                  <a:schemeClr val="tx2">
                    <a:lumMod val="90000"/>
                    <a:lumOff val="10000"/>
                  </a:schemeClr>
                </a:solidFill>
                <a:latin typeface="Poppins" panose="00000500000000000000" pitchFamily="2" charset="0"/>
                <a:cs typeface="Poppins" panose="00000500000000000000" pitchFamily="2" charset="0"/>
              </a:rPr>
              <a:t>FaultMonitorMode</a:t>
            </a:r>
            <a:r>
              <a:rPr lang="en-US" sz="1200" dirty="0">
                <a:solidFill>
                  <a:schemeClr val="tx2">
                    <a:lumMod val="90000"/>
                    <a:lumOff val="10000"/>
                  </a:schemeClr>
                </a:solidFill>
                <a:latin typeface="Poppins" panose="00000500000000000000" pitchFamily="2" charset="0"/>
                <a:cs typeface="Poppins" panose="00000500000000000000" pitchFamily="2" charset="0"/>
              </a:rPr>
              <a:t>) is </a:t>
            </a:r>
            <a:r>
              <a:rPr lang="en-US" sz="1200" b="1" dirty="0">
                <a:solidFill>
                  <a:schemeClr val="tx2">
                    <a:lumMod val="90000"/>
                    <a:lumOff val="10000"/>
                  </a:schemeClr>
                </a:solidFill>
                <a:latin typeface="Poppins" panose="00000500000000000000" pitchFamily="2" charset="0"/>
                <a:cs typeface="Poppins" panose="00000500000000000000" pitchFamily="2" charset="0"/>
              </a:rPr>
              <a:t>stopped and destroyed</a:t>
            </a:r>
            <a:r>
              <a:rPr lang="en-US" sz="1200" dirty="0">
                <a:solidFill>
                  <a:schemeClr val="tx2">
                    <a:lumMod val="90000"/>
                    <a:lumOff val="10000"/>
                  </a:schemeClr>
                </a:solidFill>
                <a:latin typeface="Poppins" panose="00000500000000000000" pitchFamily="2" charset="0"/>
                <a:cs typeface="Poppins" panose="00000500000000000000" pitchFamily="2" charset="0"/>
              </a:rPr>
              <a:t>: </a:t>
            </a:r>
            <a:r>
              <a:rPr lang="en-US" sz="1200" dirty="0">
                <a:solidFill>
                  <a:schemeClr val="tx2">
                    <a:lumMod val="90000"/>
                    <a:lumOff val="10000"/>
                  </a:schemeClr>
                </a:solidFill>
                <a:latin typeface="Consolas" panose="020B0609020204030204" pitchFamily="49" charset="0"/>
                <a:cs typeface="Poppins" panose="00000500000000000000" pitchFamily="2" charset="0"/>
              </a:rPr>
              <a:t>obj_-&gt;stop(); </a:t>
            </a:r>
            <a:r>
              <a:rPr lang="en-US" sz="1200" dirty="0" err="1">
                <a:solidFill>
                  <a:schemeClr val="tx2">
                    <a:lumMod val="90000"/>
                    <a:lumOff val="10000"/>
                  </a:schemeClr>
                </a:solidFill>
                <a:latin typeface="Consolas" panose="020B0609020204030204" pitchFamily="49" charset="0"/>
                <a:cs typeface="Poppins" panose="00000500000000000000" pitchFamily="2" charset="0"/>
              </a:rPr>
              <a:t>obj_.reset</a:t>
            </a:r>
            <a:r>
              <a:rPr lang="en-US" sz="1200" dirty="0">
                <a:solidFill>
                  <a:schemeClr val="tx2">
                    <a:lumMod val="90000"/>
                    <a:lumOff val="10000"/>
                  </a:schemeClr>
                </a:solidFill>
                <a:latin typeface="Consolas" panose="020B0609020204030204" pitchFamily="49" charset="0"/>
                <a:cs typeface="Poppins" panose="00000500000000000000" pitchFamily="2" charset="0"/>
              </a:rPr>
              <a:t>()</a:t>
            </a:r>
          </a:p>
          <a:p>
            <a:pPr marL="228600" indent="-228600">
              <a:buFont typeface="+mj-lt"/>
              <a:buAutoNum type="arabicPeriod"/>
            </a:pPr>
            <a:r>
              <a:rPr lang="en-US" sz="1200" dirty="0">
                <a:solidFill>
                  <a:schemeClr val="tx2">
                    <a:lumMod val="90000"/>
                    <a:lumOff val="10000"/>
                  </a:schemeClr>
                </a:solidFill>
                <a:latin typeface="Poppins" panose="00000500000000000000" pitchFamily="2" charset="0"/>
                <a:cs typeface="Poppins" panose="00000500000000000000" pitchFamily="2" charset="0"/>
              </a:rPr>
              <a:t>A new instance of </a:t>
            </a:r>
            <a:r>
              <a:rPr lang="en-US" sz="1200" b="1" dirty="0" err="1">
                <a:solidFill>
                  <a:schemeClr val="tx2">
                    <a:lumMod val="90000"/>
                    <a:lumOff val="10000"/>
                  </a:schemeClr>
                </a:solidFill>
                <a:latin typeface="Poppins" panose="00000500000000000000" pitchFamily="2" charset="0"/>
                <a:cs typeface="Poppins" panose="00000500000000000000" pitchFamily="2" charset="0"/>
              </a:rPr>
              <a:t>TorqueLimitMode</a:t>
            </a:r>
            <a:r>
              <a:rPr lang="en-US" sz="1200" dirty="0">
                <a:solidFill>
                  <a:schemeClr val="tx2">
                    <a:lumMod val="90000"/>
                    <a:lumOff val="10000"/>
                  </a:schemeClr>
                </a:solidFill>
                <a:latin typeface="Poppins" panose="00000500000000000000" pitchFamily="2" charset="0"/>
                <a:cs typeface="Poppins" panose="00000500000000000000" pitchFamily="2" charset="0"/>
              </a:rPr>
              <a:t> is loaded via </a:t>
            </a:r>
            <a:r>
              <a:rPr lang="en-US" sz="1200" dirty="0" err="1">
                <a:solidFill>
                  <a:schemeClr val="tx2">
                    <a:lumMod val="90000"/>
                    <a:lumOff val="10000"/>
                  </a:schemeClr>
                </a:solidFill>
                <a:latin typeface="Poppins" panose="00000500000000000000" pitchFamily="2" charset="0"/>
                <a:cs typeface="Poppins" panose="00000500000000000000" pitchFamily="2" charset="0"/>
              </a:rPr>
              <a:t>pluginlib</a:t>
            </a:r>
            <a:endParaRPr lang="en-US" sz="1200" dirty="0">
              <a:solidFill>
                <a:schemeClr val="tx2">
                  <a:lumMod val="90000"/>
                  <a:lumOff val="10000"/>
                </a:schemeClr>
              </a:solidFill>
              <a:latin typeface="Poppins" panose="00000500000000000000" pitchFamily="2" charset="0"/>
              <a:cs typeface="Poppins" panose="00000500000000000000" pitchFamily="2" charset="0"/>
            </a:endParaRPr>
          </a:p>
          <a:p>
            <a:pPr marL="228600" indent="-228600">
              <a:buFont typeface="+mj-lt"/>
              <a:buAutoNum type="arabicPeriod"/>
            </a:pPr>
            <a:r>
              <a:rPr lang="en-US" sz="1200" b="1" dirty="0" err="1">
                <a:solidFill>
                  <a:schemeClr val="tx2">
                    <a:lumMod val="90000"/>
                    <a:lumOff val="10000"/>
                  </a:schemeClr>
                </a:solidFill>
                <a:latin typeface="Consolas" panose="020B0609020204030204" pitchFamily="49" charset="0"/>
                <a:cs typeface="Poppins" panose="00000500000000000000" pitchFamily="2" charset="0"/>
              </a:rPr>
              <a:t>TorqueLimitMode</a:t>
            </a:r>
            <a:r>
              <a:rPr lang="en-US" sz="1200" b="1" dirty="0">
                <a:solidFill>
                  <a:schemeClr val="tx2">
                    <a:lumMod val="90000"/>
                    <a:lumOff val="10000"/>
                  </a:schemeClr>
                </a:solidFill>
                <a:latin typeface="Consolas" panose="020B0609020204030204" pitchFamily="49" charset="0"/>
                <a:cs typeface="Poppins" panose="00000500000000000000" pitchFamily="2" charset="0"/>
              </a:rPr>
              <a:t>::initialize() </a:t>
            </a:r>
            <a:r>
              <a:rPr lang="en-US" sz="1200" dirty="0">
                <a:solidFill>
                  <a:schemeClr val="tx2">
                    <a:lumMod val="90000"/>
                    <a:lumOff val="10000"/>
                  </a:schemeClr>
                </a:solidFill>
                <a:latin typeface="Poppins" panose="00000500000000000000" pitchFamily="2" charset="0"/>
                <a:cs typeface="Poppins" panose="00000500000000000000" pitchFamily="2" charset="0"/>
              </a:rPr>
              <a:t>calls </a:t>
            </a:r>
            <a:r>
              <a:rPr lang="en-US" sz="1200" b="1" dirty="0">
                <a:solidFill>
                  <a:schemeClr val="tx2">
                    <a:lumMod val="90000"/>
                    <a:lumOff val="10000"/>
                  </a:schemeClr>
                </a:solidFill>
                <a:latin typeface="Consolas" panose="020B0609020204030204" pitchFamily="49" charset="0"/>
                <a:cs typeface="Poppins" panose="00000500000000000000" pitchFamily="2" charset="0"/>
              </a:rPr>
              <a:t>/bridge/</a:t>
            </a:r>
            <a:r>
              <a:rPr lang="en-US" sz="1200" b="1" dirty="0" err="1">
                <a:solidFill>
                  <a:schemeClr val="tx2">
                    <a:lumMod val="90000"/>
                    <a:lumOff val="10000"/>
                  </a:schemeClr>
                </a:solidFill>
                <a:latin typeface="Consolas" panose="020B0609020204030204" pitchFamily="49" charset="0"/>
                <a:cs typeface="Poppins" panose="00000500000000000000" pitchFamily="2" charset="0"/>
              </a:rPr>
              <a:t>set_mode</a:t>
            </a:r>
            <a:r>
              <a:rPr lang="en-US" sz="1200" b="1" dirty="0">
                <a:solidFill>
                  <a:schemeClr val="tx2">
                    <a:lumMod val="90000"/>
                    <a:lumOff val="10000"/>
                  </a:schemeClr>
                </a:solidFill>
                <a:latin typeface="Consolas" panose="020B0609020204030204" pitchFamily="49" charset="0"/>
                <a:cs typeface="Poppins" panose="00000500000000000000" pitchFamily="2" charset="0"/>
              </a:rPr>
              <a:t> </a:t>
            </a:r>
            <a:r>
              <a:rPr lang="en-US" sz="1200" dirty="0">
                <a:solidFill>
                  <a:schemeClr val="tx2">
                    <a:lumMod val="90000"/>
                    <a:lumOff val="10000"/>
                  </a:schemeClr>
                </a:solidFill>
                <a:latin typeface="Poppins" panose="00000500000000000000" pitchFamily="2" charset="0"/>
                <a:cs typeface="Poppins" panose="00000500000000000000" pitchFamily="2" charset="0"/>
              </a:rPr>
              <a:t>with "</a:t>
            </a:r>
            <a:r>
              <a:rPr lang="en-US" sz="1200" dirty="0" err="1">
                <a:solidFill>
                  <a:schemeClr val="tx2">
                    <a:lumMod val="90000"/>
                    <a:lumOff val="10000"/>
                  </a:schemeClr>
                </a:solidFill>
                <a:latin typeface="Poppins" panose="00000500000000000000" pitchFamily="2" charset="0"/>
                <a:cs typeface="Poppins" panose="00000500000000000000" pitchFamily="2" charset="0"/>
              </a:rPr>
              <a:t>torque_limit</a:t>
            </a:r>
            <a:r>
              <a:rPr lang="en-US" sz="1200" dirty="0">
                <a:solidFill>
                  <a:schemeClr val="tx2">
                    <a:lumMod val="90000"/>
                    <a:lumOff val="10000"/>
                  </a:schemeClr>
                </a:solidFill>
                <a:latin typeface="Poppins" panose="00000500000000000000" pitchFamily="2" charset="0"/>
                <a:cs typeface="Poppins" panose="00000500000000000000" pitchFamily="2" charset="0"/>
              </a:rPr>
              <a:t>"</a:t>
            </a:r>
          </a:p>
          <a:p>
            <a:pPr marL="228600" indent="-228600">
              <a:buFont typeface="+mj-lt"/>
              <a:buAutoNum type="arabicPeriod"/>
            </a:pPr>
            <a:r>
              <a:rPr lang="en-US" sz="1200" b="1" dirty="0" err="1">
                <a:solidFill>
                  <a:schemeClr val="tx2">
                    <a:lumMod val="90000"/>
                    <a:lumOff val="10000"/>
                  </a:schemeClr>
                </a:solidFill>
                <a:latin typeface="Consolas" panose="020B0609020204030204" pitchFamily="49" charset="0"/>
                <a:cs typeface="Poppins" panose="00000500000000000000" pitchFamily="2" charset="0"/>
              </a:rPr>
              <a:t>transition_in_progress</a:t>
            </a:r>
            <a:r>
              <a:rPr lang="en-US" sz="1200" b="1" dirty="0">
                <a:solidFill>
                  <a:schemeClr val="tx2">
                    <a:lumMod val="90000"/>
                    <a:lumOff val="10000"/>
                  </a:schemeClr>
                </a:solidFill>
                <a:latin typeface="Consolas" panose="020B0609020204030204" pitchFamily="49" charset="0"/>
                <a:cs typeface="Poppins" panose="00000500000000000000" pitchFamily="2" charset="0"/>
              </a:rPr>
              <a:t>_</a:t>
            </a:r>
            <a:r>
              <a:rPr lang="en-US" sz="1200" dirty="0">
                <a:solidFill>
                  <a:schemeClr val="tx2">
                    <a:lumMod val="90000"/>
                    <a:lumOff val="10000"/>
                  </a:schemeClr>
                </a:solidFill>
                <a:latin typeface="Poppins" panose="00000500000000000000" pitchFamily="2" charset="0"/>
                <a:cs typeface="Poppins" panose="00000500000000000000" pitchFamily="2" charset="0"/>
              </a:rPr>
              <a:t> is cleared, the mode mismatch counter is reset</a:t>
            </a:r>
          </a:p>
          <a:p>
            <a:endParaRPr lang="en-US" sz="1200" dirty="0">
              <a:solidFill>
                <a:schemeClr val="tx2">
                  <a:lumMod val="90000"/>
                  <a:lumOff val="10000"/>
                </a:schemeClr>
              </a:solidFill>
              <a:latin typeface="Poppins" panose="00000500000000000000" pitchFamily="2" charset="0"/>
              <a:cs typeface="Poppins" panose="00000500000000000000" pitchFamily="2" charset="0"/>
            </a:endParaRPr>
          </a:p>
          <a:p>
            <a:r>
              <a:rPr lang="en-US" sz="1200" b="1" dirty="0">
                <a:solidFill>
                  <a:schemeClr val="tx2">
                    <a:lumMod val="90000"/>
                    <a:lumOff val="10000"/>
                  </a:schemeClr>
                </a:solidFill>
                <a:latin typeface="Poppins" panose="00000500000000000000" pitchFamily="2" charset="0"/>
                <a:cs typeface="Poppins" panose="00000500000000000000" pitchFamily="2" charset="0"/>
              </a:rPr>
              <a:t>Layer 2 is now inactive</a:t>
            </a:r>
            <a:r>
              <a:rPr lang="en-US" sz="1200" dirty="0">
                <a:solidFill>
                  <a:schemeClr val="tx2">
                    <a:lumMod val="90000"/>
                    <a:lumOff val="10000"/>
                  </a:schemeClr>
                </a:solidFill>
                <a:latin typeface="Poppins" panose="00000500000000000000" pitchFamily="2" charset="0"/>
                <a:cs typeface="Poppins" panose="00000500000000000000" pitchFamily="2" charset="0"/>
              </a:rPr>
              <a:t>: no plugin is monitoring thresholds anymore.</a:t>
            </a:r>
          </a:p>
          <a:p>
            <a:pPr>
              <a:buNone/>
            </a:pPr>
            <a:endParaRPr lang="it-IT" sz="1000" dirty="0">
              <a:latin typeface="Poppins" panose="00000500000000000000" pitchFamily="2" charset="0"/>
              <a:cs typeface="Poppins" panose="00000500000000000000" pitchFamily="2" charset="0"/>
            </a:endParaRPr>
          </a:p>
        </p:txBody>
      </p:sp>
      <p:pic>
        <p:nvPicPr>
          <p:cNvPr id="53" name="Picture 52">
            <a:extLst>
              <a:ext uri="{FF2B5EF4-FFF2-40B4-BE49-F238E27FC236}">
                <a16:creationId xmlns:a16="http://schemas.microsoft.com/office/drawing/2014/main" id="{05F4EC8A-957A-6E1C-5808-C61F339CCF1D}"/>
              </a:ext>
            </a:extLst>
          </p:cNvPr>
          <p:cNvPicPr>
            <a:picLocks noChangeAspect="1"/>
          </p:cNvPicPr>
          <p:nvPr/>
        </p:nvPicPr>
        <p:blipFill>
          <a:blip r:embed="rId7"/>
          <a:stretch>
            <a:fillRect/>
          </a:stretch>
        </p:blipFill>
        <p:spPr>
          <a:xfrm>
            <a:off x="771498" y="2753187"/>
            <a:ext cx="5824395" cy="3377460"/>
          </a:xfrm>
          <a:prstGeom prst="rect">
            <a:avLst/>
          </a:prstGeom>
        </p:spPr>
      </p:pic>
      <p:pic>
        <p:nvPicPr>
          <p:cNvPr id="7" name="Picture 6">
            <a:extLst>
              <a:ext uri="{FF2B5EF4-FFF2-40B4-BE49-F238E27FC236}">
                <a16:creationId xmlns:a16="http://schemas.microsoft.com/office/drawing/2014/main" id="{DCEE6695-733A-CE18-A2D8-2C6ACA86858D}"/>
              </a:ext>
            </a:extLst>
          </p:cNvPr>
          <p:cNvPicPr>
            <a:picLocks noChangeAspect="1"/>
          </p:cNvPicPr>
          <p:nvPr/>
        </p:nvPicPr>
        <p:blipFill>
          <a:blip r:embed="rId8"/>
          <a:srcRect/>
          <a:stretch/>
        </p:blipFill>
        <p:spPr>
          <a:xfrm>
            <a:off x="771498" y="2757090"/>
            <a:ext cx="5824395" cy="3366083"/>
          </a:xfrm>
          <a:prstGeom prst="rect">
            <a:avLst/>
          </a:prstGeom>
        </p:spPr>
      </p:pic>
    </p:spTree>
    <p:extLst>
      <p:ext uri="{BB962C8B-B14F-4D97-AF65-F5344CB8AC3E}">
        <p14:creationId xmlns:p14="http://schemas.microsoft.com/office/powerpoint/2010/main" val="3060511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CD441-F356-A11B-E16B-3F0810428041}"/>
            </a:ext>
          </a:extLst>
        </p:cNvPr>
        <p:cNvGrpSpPr/>
        <p:nvPr/>
      </p:nvGrpSpPr>
      <p:grpSpPr>
        <a:xfrm>
          <a:off x="0" y="0"/>
          <a:ext cx="0" cy="0"/>
          <a:chOff x="0" y="0"/>
          <a:chExt cx="0" cy="0"/>
        </a:xfrm>
      </p:grpSpPr>
      <p:sp>
        <p:nvSpPr>
          <p:cNvPr id="47" name="Shape 3">
            <a:extLst>
              <a:ext uri="{FF2B5EF4-FFF2-40B4-BE49-F238E27FC236}">
                <a16:creationId xmlns:a16="http://schemas.microsoft.com/office/drawing/2014/main" id="{3ED29156-D362-6F36-CFEF-0D71E6301753}"/>
              </a:ext>
            </a:extLst>
          </p:cNvPr>
          <p:cNvSpPr>
            <a:spLocks/>
          </p:cNvSpPr>
          <p:nvPr/>
        </p:nvSpPr>
        <p:spPr>
          <a:xfrm>
            <a:off x="525933" y="2567497"/>
            <a:ext cx="6318637" cy="3748841"/>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42" name="Google Shape;259;p29">
            <a:extLst>
              <a:ext uri="{FF2B5EF4-FFF2-40B4-BE49-F238E27FC236}">
                <a16:creationId xmlns:a16="http://schemas.microsoft.com/office/drawing/2014/main" id="{916610D5-4334-A0D9-2C26-8827168A7D93}"/>
              </a:ext>
            </a:extLst>
          </p:cNvPr>
          <p:cNvSpPr/>
          <p:nvPr/>
        </p:nvSpPr>
        <p:spPr>
          <a:xfrm>
            <a:off x="525933" y="1433398"/>
            <a:ext cx="7231228"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Sottotitolo 2">
            <a:extLst>
              <a:ext uri="{FF2B5EF4-FFF2-40B4-BE49-F238E27FC236}">
                <a16:creationId xmlns:a16="http://schemas.microsoft.com/office/drawing/2014/main" id="{1049DA7E-66C4-544E-A498-9676B04C0F09}"/>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A37F43F9-092C-22C4-AC98-6AD24B9BE4B1}"/>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3B5FB60A-D372-1F5B-F4A2-F600E742F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ADC0EE6B-7E7E-2856-1509-448E7F742AD7}"/>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ADC0EE6B-7E7E-2856-1509-448E7F742AD7}"/>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0BC85CF4-D061-CEC9-8960-C820A161986A}"/>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0BC85CF4-D061-CEC9-8960-C820A161986A}"/>
                  </a:ext>
                </a:extLst>
              </p:cNvPr>
              <p:cNvPicPr/>
              <p:nvPr/>
            </p:nvPicPr>
            <p:blipFill>
              <a:blip r:embed="rId6"/>
              <a:stretch>
                <a:fillRect/>
              </a:stretch>
            </p:blipFill>
            <p:spPr>
              <a:xfrm>
                <a:off x="5259213" y="963076"/>
                <a:ext cx="1950120" cy="351561"/>
              </a:xfrm>
              <a:prstGeom prst="rect">
                <a:avLst/>
              </a:prstGeom>
            </p:spPr>
          </p:pic>
        </mc:Fallback>
      </mc:AlternateContent>
      <p:sp>
        <p:nvSpPr>
          <p:cNvPr id="14" name="Google Shape;259;p29">
            <a:extLst>
              <a:ext uri="{FF2B5EF4-FFF2-40B4-BE49-F238E27FC236}">
                <a16:creationId xmlns:a16="http://schemas.microsoft.com/office/drawing/2014/main" id="{903C7454-EEB2-3791-6286-7431803D8B19}"/>
              </a:ext>
            </a:extLst>
          </p:cNvPr>
          <p:cNvSpPr/>
          <p:nvPr/>
        </p:nvSpPr>
        <p:spPr>
          <a:xfrm>
            <a:off x="525933" y="1433398"/>
            <a:ext cx="7139788"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244;p28">
            <a:extLst>
              <a:ext uri="{FF2B5EF4-FFF2-40B4-BE49-F238E27FC236}">
                <a16:creationId xmlns:a16="http://schemas.microsoft.com/office/drawing/2014/main" id="{69347036-7F93-DB9E-F7F2-8DCE5D5FE462}"/>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Functional Safety Architecture</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B2A48C03-7BF9-88BD-C3A1-E049E1900CA7}"/>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A5E8FBE4-2FC1-36D7-631C-1E293237B275}"/>
              </a:ext>
            </a:extLst>
          </p:cNvPr>
          <p:cNvSpPr txBox="1"/>
          <p:nvPr/>
        </p:nvSpPr>
        <p:spPr>
          <a:xfrm>
            <a:off x="604929" y="1705798"/>
            <a:ext cx="6109138" cy="338554"/>
          </a:xfrm>
          <a:prstGeom prst="rect">
            <a:avLst/>
          </a:prstGeom>
          <a:noFill/>
        </p:spPr>
        <p:txBody>
          <a:bodyPr wrap="square">
            <a:spAutoFit/>
          </a:bodyPr>
          <a:lstStyle/>
          <a:p>
            <a:r>
              <a:rPr lang="en-US" sz="1600" i="1" dirty="0">
                <a:solidFill>
                  <a:srgbClr val="64748B"/>
                </a:solidFill>
                <a:latin typeface="Poppins" panose="00000500000000000000" pitchFamily="2" charset="0"/>
                <a:ea typeface="Calibri" pitchFamily="34" charset="-122"/>
                <a:cs typeface="Poppins" panose="00000500000000000000" pitchFamily="2" charset="0"/>
              </a:rPr>
              <a:t>Defense-in-depth across three cooperating layers</a:t>
            </a:r>
            <a:endParaRPr lang="en-US" sz="1600" dirty="0">
              <a:latin typeface="Poppins" panose="00000500000000000000" pitchFamily="2" charset="0"/>
              <a:cs typeface="Poppins" panose="00000500000000000000" pitchFamily="2" charset="0"/>
            </a:endParaRPr>
          </a:p>
        </p:txBody>
      </p:sp>
      <p:sp>
        <p:nvSpPr>
          <p:cNvPr id="48" name="TextBox 47">
            <a:extLst>
              <a:ext uri="{FF2B5EF4-FFF2-40B4-BE49-F238E27FC236}">
                <a16:creationId xmlns:a16="http://schemas.microsoft.com/office/drawing/2014/main" id="{F18E554D-7580-9DF4-F8CB-F94EC0995ECB}"/>
              </a:ext>
            </a:extLst>
          </p:cNvPr>
          <p:cNvSpPr txBox="1"/>
          <p:nvPr/>
        </p:nvSpPr>
        <p:spPr>
          <a:xfrm>
            <a:off x="604928" y="2195850"/>
            <a:ext cx="6236003" cy="369332"/>
          </a:xfrm>
          <a:prstGeom prst="rect">
            <a:avLst/>
          </a:prstGeom>
          <a:noFill/>
        </p:spPr>
        <p:txBody>
          <a:bodyPr wrap="none" rtlCol="0">
            <a:spAutoFit/>
          </a:bodyPr>
          <a:lstStyle/>
          <a:p>
            <a:r>
              <a:rPr lang="it-IT" b="1" u="sng" dirty="0">
                <a:solidFill>
                  <a:schemeClr val="tx2"/>
                </a:solidFill>
                <a:latin typeface="Poppins" panose="00000500000000000000" pitchFamily="2" charset="0"/>
                <a:cs typeface="Poppins" panose="00000500000000000000" pitchFamily="2" charset="0"/>
              </a:rPr>
              <a:t>Scenario</a:t>
            </a:r>
            <a:r>
              <a:rPr lang="it-IT" dirty="0">
                <a:solidFill>
                  <a:schemeClr val="tx2"/>
                </a:solidFill>
                <a:latin typeface="Poppins" panose="00000500000000000000" pitchFamily="2" charset="0"/>
                <a:cs typeface="Poppins" panose="00000500000000000000" pitchFamily="2" charset="0"/>
              </a:rPr>
              <a:t>: </a:t>
            </a:r>
            <a:r>
              <a:rPr lang="it-IT" sz="1400" dirty="0">
                <a:solidFill>
                  <a:schemeClr val="tx2"/>
                </a:solidFill>
                <a:latin typeface="Poppins" panose="00000500000000000000" pitchFamily="2" charset="0"/>
                <a:cs typeface="Poppins" panose="00000500000000000000" pitchFamily="2" charset="0"/>
              </a:rPr>
              <a:t>offset on /torque greater than </a:t>
            </a:r>
            <a:r>
              <a:rPr lang="it-IT" sz="1400" b="1" dirty="0">
                <a:solidFill>
                  <a:schemeClr val="tx2"/>
                </a:solidFill>
                <a:latin typeface="Consolas" panose="020B0609020204030204" pitchFamily="49" charset="0"/>
                <a:cs typeface="Poppins" panose="00000500000000000000" pitchFamily="2" charset="0"/>
              </a:rPr>
              <a:t>TORQUE_LIMIT </a:t>
            </a:r>
            <a:r>
              <a:rPr lang="it-IT" sz="1400" dirty="0">
                <a:solidFill>
                  <a:schemeClr val="tx2"/>
                </a:solidFill>
                <a:latin typeface="Poppins" panose="00000500000000000000" pitchFamily="2" charset="0"/>
                <a:cs typeface="Poppins" panose="00000500000000000000" pitchFamily="2" charset="0"/>
              </a:rPr>
              <a:t>threshold</a:t>
            </a:r>
            <a:endParaRPr lang="it-IT" b="1" u="sng" dirty="0">
              <a:solidFill>
                <a:schemeClr val="tx2"/>
              </a:solidFill>
              <a:latin typeface="Poppins" panose="00000500000000000000" pitchFamily="2" charset="0"/>
              <a:cs typeface="Poppins" panose="00000500000000000000" pitchFamily="2" charset="0"/>
            </a:endParaRPr>
          </a:p>
        </p:txBody>
      </p:sp>
      <p:sp>
        <p:nvSpPr>
          <p:cNvPr id="52" name="TextBox 51">
            <a:extLst>
              <a:ext uri="{FF2B5EF4-FFF2-40B4-BE49-F238E27FC236}">
                <a16:creationId xmlns:a16="http://schemas.microsoft.com/office/drawing/2014/main" id="{5BE90BA3-1D67-CF06-E40A-539B305C3236}"/>
              </a:ext>
            </a:extLst>
          </p:cNvPr>
          <p:cNvSpPr txBox="1"/>
          <p:nvPr/>
        </p:nvSpPr>
        <p:spPr>
          <a:xfrm>
            <a:off x="7146693" y="2565182"/>
            <a:ext cx="4927673" cy="4170372"/>
          </a:xfrm>
          <a:prstGeom prst="rect">
            <a:avLst/>
          </a:prstGeom>
          <a:noFill/>
        </p:spPr>
        <p:txBody>
          <a:bodyPr wrap="square">
            <a:spAutoFit/>
          </a:bodyPr>
          <a:lstStyle/>
          <a:p>
            <a:r>
              <a:rPr lang="en-US" sz="1400" dirty="0">
                <a:solidFill>
                  <a:schemeClr val="tx2"/>
                </a:solidFill>
                <a:latin typeface="Poppins Black" panose="00000A00000000000000" pitchFamily="2" charset="0"/>
                <a:cs typeface="Poppins Black" panose="00000A00000000000000" pitchFamily="2" charset="0"/>
              </a:rPr>
              <a:t>t = N + 17–19 </a:t>
            </a:r>
            <a:r>
              <a:rPr lang="en-US" sz="1400" dirty="0" err="1">
                <a:solidFill>
                  <a:schemeClr val="tx2"/>
                </a:solidFill>
                <a:latin typeface="Poppins Black" panose="00000A00000000000000" pitchFamily="2" charset="0"/>
                <a:cs typeface="Poppins Black" panose="00000A00000000000000" pitchFamily="2" charset="0"/>
              </a:rPr>
              <a:t>ms</a:t>
            </a:r>
            <a:r>
              <a:rPr lang="en-US" sz="1400" dirty="0">
                <a:solidFill>
                  <a:schemeClr val="tx2"/>
                </a:solidFill>
                <a:latin typeface="Poppins Black" panose="00000A00000000000000" pitchFamily="2" charset="0"/>
                <a:cs typeface="Poppins Black" panose="00000A00000000000000" pitchFamily="2" charset="0"/>
              </a:rPr>
              <a:t> — bridge updates operating mode </a:t>
            </a:r>
          </a:p>
          <a:p>
            <a:r>
              <a:rPr lang="en-US" sz="1200" dirty="0">
                <a:solidFill>
                  <a:schemeClr val="tx2">
                    <a:lumMod val="90000"/>
                    <a:lumOff val="10000"/>
                  </a:schemeClr>
                </a:solidFill>
                <a:latin typeface="Poppins" panose="00000500000000000000" pitchFamily="2" charset="0"/>
                <a:cs typeface="Poppins" panose="00000500000000000000" pitchFamily="2" charset="0"/>
              </a:rPr>
              <a:t>The bridge receives the </a:t>
            </a:r>
            <a:r>
              <a:rPr lang="en-US" sz="1200" b="1" dirty="0" err="1">
                <a:solidFill>
                  <a:schemeClr val="tx2">
                    <a:lumMod val="90000"/>
                    <a:lumOff val="10000"/>
                  </a:schemeClr>
                </a:solidFill>
                <a:latin typeface="Consolas" panose="020B0609020204030204" pitchFamily="49" charset="0"/>
                <a:cs typeface="Poppins" panose="00000500000000000000" pitchFamily="2" charset="0"/>
              </a:rPr>
              <a:t>set_mode</a:t>
            </a:r>
            <a:r>
              <a:rPr lang="en-US" sz="1200" b="1" dirty="0">
                <a:solidFill>
                  <a:schemeClr val="tx2">
                    <a:lumMod val="90000"/>
                    <a:lumOff val="10000"/>
                  </a:schemeClr>
                </a:solidFill>
                <a:latin typeface="Consolas" panose="020B0609020204030204" pitchFamily="49" charset="0"/>
                <a:cs typeface="Poppins" panose="00000500000000000000" pitchFamily="2" charset="0"/>
              </a:rPr>
              <a:t>("</a:t>
            </a:r>
            <a:r>
              <a:rPr lang="en-US" sz="1200" b="1" dirty="0" err="1">
                <a:solidFill>
                  <a:schemeClr val="tx2">
                    <a:lumMod val="90000"/>
                    <a:lumOff val="10000"/>
                  </a:schemeClr>
                </a:solidFill>
                <a:latin typeface="Consolas" panose="020B0609020204030204" pitchFamily="49" charset="0"/>
                <a:cs typeface="Poppins" panose="00000500000000000000" pitchFamily="2" charset="0"/>
              </a:rPr>
              <a:t>torque_limit</a:t>
            </a:r>
            <a:r>
              <a:rPr lang="en-US" sz="1200" b="1" dirty="0">
                <a:solidFill>
                  <a:schemeClr val="tx2">
                    <a:lumMod val="90000"/>
                    <a:lumOff val="10000"/>
                  </a:schemeClr>
                </a:solidFill>
                <a:latin typeface="Consolas" panose="020B0609020204030204" pitchFamily="49" charset="0"/>
                <a:cs typeface="Poppins" panose="00000500000000000000" pitchFamily="2" charset="0"/>
              </a:rPr>
              <a:t>") </a:t>
            </a:r>
            <a:r>
              <a:rPr lang="en-US" sz="1200" dirty="0">
                <a:solidFill>
                  <a:schemeClr val="tx2">
                    <a:lumMod val="90000"/>
                    <a:lumOff val="10000"/>
                  </a:schemeClr>
                </a:solidFill>
                <a:latin typeface="Poppins" panose="00000500000000000000" pitchFamily="2" charset="0"/>
                <a:cs typeface="Poppins" panose="00000500000000000000" pitchFamily="2" charset="0"/>
              </a:rPr>
              <a:t>service response and switches </a:t>
            </a:r>
            <a:r>
              <a:rPr lang="en-US" sz="1200" b="1" dirty="0" err="1">
                <a:solidFill>
                  <a:schemeClr val="tx2">
                    <a:lumMod val="90000"/>
                    <a:lumOff val="10000"/>
                  </a:schemeClr>
                </a:solidFill>
                <a:latin typeface="Consolas" panose="020B0609020204030204" pitchFamily="49" charset="0"/>
                <a:cs typeface="Poppins" panose="00000500000000000000" pitchFamily="2" charset="0"/>
              </a:rPr>
              <a:t>control_mode</a:t>
            </a:r>
            <a:r>
              <a:rPr lang="en-US" sz="1200" dirty="0">
                <a:solidFill>
                  <a:schemeClr val="tx2">
                    <a:lumMod val="90000"/>
                    <a:lumOff val="10000"/>
                  </a:schemeClr>
                </a:solidFill>
                <a:latin typeface="Poppins" panose="00000500000000000000" pitchFamily="2" charset="0"/>
                <a:cs typeface="Poppins" panose="00000500000000000000" pitchFamily="2" charset="0"/>
              </a:rPr>
              <a:t>. </a:t>
            </a:r>
          </a:p>
          <a:p>
            <a:r>
              <a:rPr lang="en-US" sz="1200" dirty="0">
                <a:solidFill>
                  <a:schemeClr val="tx2">
                    <a:lumMod val="90000"/>
                    <a:lumOff val="10000"/>
                  </a:schemeClr>
                </a:solidFill>
                <a:latin typeface="Poppins" panose="00000500000000000000" pitchFamily="2" charset="0"/>
                <a:cs typeface="Poppins" panose="00000500000000000000" pitchFamily="2" charset="0"/>
              </a:rPr>
              <a:t>From this point on, </a:t>
            </a:r>
            <a:r>
              <a:rPr lang="en-US" sz="1200" b="1" dirty="0">
                <a:solidFill>
                  <a:schemeClr val="tx2">
                    <a:lumMod val="90000"/>
                    <a:lumOff val="10000"/>
                  </a:schemeClr>
                </a:solidFill>
                <a:latin typeface="Poppins" panose="00000500000000000000" pitchFamily="2" charset="0"/>
                <a:cs typeface="Poppins" panose="00000500000000000000" pitchFamily="2" charset="0"/>
              </a:rPr>
              <a:t>every torque command is clamped</a:t>
            </a:r>
            <a:r>
              <a:rPr lang="en-US" sz="1200" dirty="0">
                <a:solidFill>
                  <a:schemeClr val="tx2">
                    <a:lumMod val="90000"/>
                    <a:lumOff val="10000"/>
                  </a:schemeClr>
                </a:solidFill>
                <a:latin typeface="Poppins" panose="00000500000000000000" pitchFamily="2" charset="0"/>
                <a:cs typeface="Poppins" panose="00000500000000000000" pitchFamily="2" charset="0"/>
              </a:rPr>
              <a:t> to </a:t>
            </a:r>
            <a:r>
              <a:rPr lang="en-US" sz="1200" b="1" dirty="0">
                <a:solidFill>
                  <a:schemeClr val="tx2">
                    <a:lumMod val="90000"/>
                    <a:lumOff val="10000"/>
                  </a:schemeClr>
                </a:solidFill>
                <a:latin typeface="Consolas" panose="020B0609020204030204" pitchFamily="49" charset="0"/>
                <a:cs typeface="Poppins" panose="00000500000000000000" pitchFamily="2" charset="0"/>
              </a:rPr>
              <a:t>±</a:t>
            </a:r>
            <a:r>
              <a:rPr lang="en-US" sz="1200" b="1" dirty="0" err="1">
                <a:solidFill>
                  <a:schemeClr val="tx2">
                    <a:lumMod val="90000"/>
                    <a:lumOff val="10000"/>
                  </a:schemeClr>
                </a:solidFill>
                <a:latin typeface="Consolas" panose="020B0609020204030204" pitchFamily="49" charset="0"/>
                <a:cs typeface="Poppins" panose="00000500000000000000" pitchFamily="2" charset="0"/>
              </a:rPr>
              <a:t>torque_limit_clamp</a:t>
            </a:r>
            <a:r>
              <a:rPr lang="en-US" sz="1200" dirty="0">
                <a:solidFill>
                  <a:schemeClr val="tx2">
                    <a:lumMod val="90000"/>
                    <a:lumOff val="10000"/>
                  </a:schemeClr>
                </a:solidFill>
                <a:latin typeface="Poppins" panose="00000500000000000000" pitchFamily="2" charset="0"/>
                <a:cs typeface="Poppins" panose="00000500000000000000" pitchFamily="2" charset="0"/>
              </a:rPr>
              <a:t>. </a:t>
            </a:r>
          </a:p>
          <a:p>
            <a:r>
              <a:rPr lang="en-US" sz="1200" dirty="0">
                <a:solidFill>
                  <a:schemeClr val="tx2">
                    <a:lumMod val="90000"/>
                    <a:lumOff val="10000"/>
                  </a:schemeClr>
                </a:solidFill>
                <a:latin typeface="Poppins" panose="00000500000000000000" pitchFamily="2" charset="0"/>
                <a:cs typeface="Poppins" panose="00000500000000000000" pitchFamily="2" charset="0"/>
              </a:rPr>
              <a:t>The </a:t>
            </a:r>
            <a:r>
              <a:rPr lang="en-US" sz="1200" b="1" dirty="0" err="1">
                <a:solidFill>
                  <a:schemeClr val="tx2">
                    <a:lumMod val="90000"/>
                    <a:lumOff val="10000"/>
                  </a:schemeClr>
                </a:solidFill>
                <a:latin typeface="Poppins" panose="00000500000000000000" pitchFamily="2" charset="0"/>
                <a:cs typeface="Poppins" panose="00000500000000000000" pitchFamily="2" charset="0"/>
              </a:rPr>
              <a:t>StateMachine</a:t>
            </a:r>
            <a:r>
              <a:rPr lang="en-US" sz="1200" dirty="0">
                <a:solidFill>
                  <a:schemeClr val="tx2">
                    <a:lumMod val="90000"/>
                    <a:lumOff val="10000"/>
                  </a:schemeClr>
                </a:solidFill>
                <a:latin typeface="Poppins" panose="00000500000000000000" pitchFamily="2" charset="0"/>
                <a:cs typeface="Poppins" panose="00000500000000000000" pitchFamily="2" charset="0"/>
              </a:rPr>
              <a:t> reads the next </a:t>
            </a:r>
            <a:r>
              <a:rPr lang="en-US" sz="1200" b="1" dirty="0">
                <a:solidFill>
                  <a:schemeClr val="tx2">
                    <a:lumMod val="90000"/>
                    <a:lumOff val="10000"/>
                  </a:schemeClr>
                </a:solidFill>
                <a:latin typeface="Consolas" panose="020B0609020204030204" pitchFamily="49" charset="0"/>
                <a:cs typeface="Poppins" panose="00000500000000000000" pitchFamily="2" charset="0"/>
              </a:rPr>
              <a:t>/</a:t>
            </a:r>
            <a:r>
              <a:rPr lang="en-US" sz="1200" b="1" dirty="0" err="1">
                <a:solidFill>
                  <a:schemeClr val="tx2">
                    <a:lumMod val="90000"/>
                    <a:lumOff val="10000"/>
                  </a:schemeClr>
                </a:solidFill>
                <a:latin typeface="Consolas" panose="020B0609020204030204" pitchFamily="49" charset="0"/>
                <a:cs typeface="Poppins" panose="00000500000000000000" pitchFamily="2" charset="0"/>
              </a:rPr>
              <a:t>exo_bridge</a:t>
            </a:r>
            <a:r>
              <a:rPr lang="en-US" sz="1200" b="1" dirty="0">
                <a:solidFill>
                  <a:schemeClr val="tx2">
                    <a:lumMod val="90000"/>
                    <a:lumOff val="10000"/>
                  </a:schemeClr>
                </a:solidFill>
                <a:latin typeface="Consolas" panose="020B0609020204030204" pitchFamily="49" charset="0"/>
                <a:cs typeface="Poppins" panose="00000500000000000000" pitchFamily="2" charset="0"/>
              </a:rPr>
              <a:t>/status </a:t>
            </a:r>
            <a:r>
              <a:rPr lang="en-US" sz="1200" dirty="0">
                <a:solidFill>
                  <a:schemeClr val="tx2">
                    <a:lumMod val="90000"/>
                    <a:lumOff val="10000"/>
                  </a:schemeClr>
                </a:solidFill>
                <a:latin typeface="Poppins" panose="00000500000000000000" pitchFamily="2" charset="0"/>
                <a:cs typeface="Poppins" panose="00000500000000000000" pitchFamily="2" charset="0"/>
              </a:rPr>
              <a:t>message and sees </a:t>
            </a:r>
            <a:r>
              <a:rPr lang="en-US" sz="1200" b="1" dirty="0" err="1">
                <a:solidFill>
                  <a:schemeClr val="tx2">
                    <a:lumMod val="90000"/>
                    <a:lumOff val="10000"/>
                  </a:schemeClr>
                </a:solidFill>
                <a:latin typeface="Consolas" panose="020B0609020204030204" pitchFamily="49" charset="0"/>
                <a:cs typeface="Poppins" panose="00000500000000000000" pitchFamily="2" charset="0"/>
              </a:rPr>
              <a:t>mode_id</a:t>
            </a:r>
            <a:r>
              <a:rPr lang="en-US" sz="1200" b="1" dirty="0">
                <a:solidFill>
                  <a:schemeClr val="tx2">
                    <a:lumMod val="90000"/>
                    <a:lumOff val="10000"/>
                  </a:schemeClr>
                </a:solidFill>
                <a:latin typeface="Consolas" panose="020B0609020204030204" pitchFamily="49" charset="0"/>
                <a:cs typeface="Poppins" panose="00000500000000000000" pitchFamily="2" charset="0"/>
              </a:rPr>
              <a:t> = 1 </a:t>
            </a:r>
            <a:r>
              <a:rPr lang="en-US" sz="1200" dirty="0">
                <a:solidFill>
                  <a:schemeClr val="tx2">
                    <a:lumMod val="90000"/>
                    <a:lumOff val="10000"/>
                  </a:schemeClr>
                </a:solidFill>
                <a:latin typeface="Poppins" panose="00000500000000000000" pitchFamily="2" charset="0"/>
                <a:cs typeface="Poppins" panose="00000500000000000000" pitchFamily="2" charset="0"/>
              </a:rPr>
              <a:t>(</a:t>
            </a:r>
            <a:r>
              <a:rPr lang="en-US" sz="1200" dirty="0" err="1">
                <a:solidFill>
                  <a:schemeClr val="tx2">
                    <a:lumMod val="90000"/>
                    <a:lumOff val="10000"/>
                  </a:schemeClr>
                </a:solidFill>
                <a:latin typeface="Poppins" panose="00000500000000000000" pitchFamily="2" charset="0"/>
                <a:cs typeface="Poppins" panose="00000500000000000000" pitchFamily="2" charset="0"/>
              </a:rPr>
              <a:t>torque_limit</a:t>
            </a:r>
            <a:r>
              <a:rPr lang="en-US" sz="1200" dirty="0">
                <a:solidFill>
                  <a:schemeClr val="tx2">
                    <a:lumMod val="90000"/>
                    <a:lumOff val="10000"/>
                  </a:schemeClr>
                </a:solidFill>
                <a:latin typeface="Poppins" panose="00000500000000000000" pitchFamily="2" charset="0"/>
                <a:cs typeface="Poppins" panose="00000500000000000000" pitchFamily="2" charset="0"/>
              </a:rPr>
              <a:t>): coherence confirmed, </a:t>
            </a:r>
            <a:r>
              <a:rPr lang="en-US" sz="1200" b="1" dirty="0" err="1">
                <a:solidFill>
                  <a:schemeClr val="tx2">
                    <a:lumMod val="90000"/>
                    <a:lumOff val="10000"/>
                  </a:schemeClr>
                </a:solidFill>
                <a:latin typeface="Consolas" panose="020B0609020204030204" pitchFamily="49" charset="0"/>
                <a:cs typeface="Poppins" panose="00000500000000000000" pitchFamily="2" charset="0"/>
              </a:rPr>
              <a:t>mode_mismatch_count</a:t>
            </a:r>
            <a:r>
              <a:rPr lang="en-US" sz="1200" b="1" dirty="0">
                <a:solidFill>
                  <a:schemeClr val="tx2">
                    <a:lumMod val="90000"/>
                    <a:lumOff val="10000"/>
                  </a:schemeClr>
                </a:solidFill>
                <a:latin typeface="Consolas" panose="020B0609020204030204" pitchFamily="49" charset="0"/>
                <a:cs typeface="Poppins" panose="00000500000000000000" pitchFamily="2" charset="0"/>
              </a:rPr>
              <a:t>_ </a:t>
            </a:r>
            <a:r>
              <a:rPr lang="en-US" sz="1200" dirty="0">
                <a:solidFill>
                  <a:schemeClr val="tx2">
                    <a:lumMod val="90000"/>
                    <a:lumOff val="10000"/>
                  </a:schemeClr>
                </a:solidFill>
                <a:latin typeface="Poppins" panose="00000500000000000000" pitchFamily="2" charset="0"/>
                <a:cs typeface="Poppins" panose="00000500000000000000" pitchFamily="2" charset="0"/>
              </a:rPr>
              <a:t>stays at zero.</a:t>
            </a:r>
          </a:p>
          <a:p>
            <a:endParaRPr lang="en-US" sz="1200" dirty="0">
              <a:latin typeface="Poppins" panose="00000500000000000000" pitchFamily="2" charset="0"/>
              <a:cs typeface="Poppins" panose="00000500000000000000" pitchFamily="2" charset="0"/>
            </a:endParaRPr>
          </a:p>
          <a:p>
            <a:r>
              <a:rPr lang="en-US" sz="1400" b="1" dirty="0">
                <a:solidFill>
                  <a:schemeClr val="tx2"/>
                </a:solidFill>
                <a:latin typeface="Poppins Black" panose="00000A00000000000000" pitchFamily="2" charset="0"/>
                <a:cs typeface="Poppins Black" panose="00000A00000000000000" pitchFamily="2" charset="0"/>
              </a:rPr>
              <a:t>t = N + 20 </a:t>
            </a:r>
            <a:r>
              <a:rPr lang="en-US" sz="1400" b="1" dirty="0" err="1">
                <a:solidFill>
                  <a:schemeClr val="tx2"/>
                </a:solidFill>
                <a:latin typeface="Poppins Black" panose="00000A00000000000000" pitchFamily="2" charset="0"/>
                <a:cs typeface="Poppins Black" panose="00000A00000000000000" pitchFamily="2" charset="0"/>
              </a:rPr>
              <a:t>ms</a:t>
            </a:r>
            <a:r>
              <a:rPr lang="en-US" sz="1400" b="1" dirty="0">
                <a:solidFill>
                  <a:schemeClr val="tx2"/>
                </a:solidFill>
                <a:latin typeface="Poppins Black" panose="00000A00000000000000" pitchFamily="2" charset="0"/>
                <a:cs typeface="Poppins Black" panose="00000A00000000000000" pitchFamily="2" charset="0"/>
              </a:rPr>
              <a:t> onwards — stable degraded operation</a:t>
            </a:r>
          </a:p>
          <a:p>
            <a:r>
              <a:rPr lang="en-US" sz="1200" dirty="0">
                <a:solidFill>
                  <a:schemeClr val="tx2">
                    <a:lumMod val="90000"/>
                    <a:lumOff val="10000"/>
                  </a:schemeClr>
                </a:solidFill>
                <a:latin typeface="Poppins" panose="00000500000000000000" pitchFamily="2" charset="0"/>
                <a:cs typeface="Poppins" panose="00000500000000000000" pitchFamily="2" charset="0"/>
              </a:rPr>
              <a:t>The system runs in </a:t>
            </a:r>
            <a:r>
              <a:rPr lang="en-US" sz="1200" b="1" dirty="0">
                <a:solidFill>
                  <a:schemeClr val="tx2">
                    <a:lumMod val="90000"/>
                    <a:lumOff val="10000"/>
                  </a:schemeClr>
                </a:solidFill>
                <a:latin typeface="Poppins" panose="00000500000000000000" pitchFamily="2" charset="0"/>
                <a:cs typeface="Poppins" panose="00000500000000000000" pitchFamily="2" charset="0"/>
              </a:rPr>
              <a:t>TORQUE_LIMIT_MODE</a:t>
            </a:r>
            <a:r>
              <a:rPr lang="en-US" sz="1200" dirty="0">
                <a:solidFill>
                  <a:schemeClr val="tx2">
                    <a:lumMod val="90000"/>
                    <a:lumOff val="10000"/>
                  </a:schemeClr>
                </a:solidFill>
                <a:latin typeface="Poppins" panose="00000500000000000000" pitchFamily="2" charset="0"/>
                <a:cs typeface="Poppins" panose="00000500000000000000" pitchFamily="2" charset="0"/>
              </a:rPr>
              <a:t>. The user receives less force than the controller intends to apply, but is protected. The bridge keeps publishing </a:t>
            </a:r>
            <a:r>
              <a:rPr lang="en-US" sz="1200" b="1" dirty="0">
                <a:solidFill>
                  <a:schemeClr val="tx2">
                    <a:lumMod val="90000"/>
                    <a:lumOff val="10000"/>
                  </a:schemeClr>
                </a:solidFill>
                <a:latin typeface="Poppins" panose="00000500000000000000" pitchFamily="2" charset="0"/>
                <a:cs typeface="Poppins" panose="00000500000000000000" pitchFamily="2" charset="0"/>
              </a:rPr>
              <a:t>status</a:t>
            </a:r>
            <a:r>
              <a:rPr lang="en-US" sz="1200" dirty="0">
                <a:solidFill>
                  <a:schemeClr val="tx2">
                    <a:lumMod val="90000"/>
                    <a:lumOff val="10000"/>
                  </a:schemeClr>
                </a:solidFill>
                <a:latin typeface="Poppins" panose="00000500000000000000" pitchFamily="2" charset="0"/>
                <a:cs typeface="Poppins" panose="00000500000000000000" pitchFamily="2" charset="0"/>
              </a:rPr>
              <a:t> at 200 Hz; the </a:t>
            </a:r>
            <a:r>
              <a:rPr lang="en-US" sz="1200" b="1" dirty="0" err="1">
                <a:solidFill>
                  <a:schemeClr val="tx2">
                    <a:lumMod val="90000"/>
                    <a:lumOff val="10000"/>
                  </a:schemeClr>
                </a:solidFill>
                <a:latin typeface="Poppins" panose="00000500000000000000" pitchFamily="2" charset="0"/>
                <a:cs typeface="Poppins" panose="00000500000000000000" pitchFamily="2" charset="0"/>
              </a:rPr>
              <a:t>StateMachine</a:t>
            </a:r>
            <a:r>
              <a:rPr lang="en-US" sz="1200" dirty="0">
                <a:solidFill>
                  <a:schemeClr val="tx2">
                    <a:lumMod val="90000"/>
                    <a:lumOff val="10000"/>
                  </a:schemeClr>
                </a:solidFill>
                <a:latin typeface="Poppins" panose="00000500000000000000" pitchFamily="2" charset="0"/>
                <a:cs typeface="Poppins" panose="00000500000000000000" pitchFamily="2" charset="0"/>
              </a:rPr>
              <a:t> reads it for coherence checks and, if enabled, for the automatic downgrade counter. </a:t>
            </a:r>
          </a:p>
          <a:p>
            <a:r>
              <a:rPr lang="en-US" sz="1200" b="1" dirty="0" err="1">
                <a:solidFill>
                  <a:schemeClr val="tx2">
                    <a:lumMod val="90000"/>
                    <a:lumOff val="10000"/>
                  </a:schemeClr>
                </a:solidFill>
                <a:latin typeface="Poppins" panose="00000500000000000000" pitchFamily="2" charset="0"/>
                <a:cs typeface="Poppins" panose="00000500000000000000" pitchFamily="2" charset="0"/>
              </a:rPr>
              <a:t>FaultMonitorMode</a:t>
            </a:r>
            <a:r>
              <a:rPr lang="en-US" sz="1200" dirty="0">
                <a:solidFill>
                  <a:schemeClr val="tx2">
                    <a:lumMod val="90000"/>
                    <a:lumOff val="10000"/>
                  </a:schemeClr>
                </a:solidFill>
                <a:latin typeface="Poppins" panose="00000500000000000000" pitchFamily="2" charset="0"/>
                <a:cs typeface="Poppins" panose="00000500000000000000" pitchFamily="2" charset="0"/>
              </a:rPr>
              <a:t> no longer exists in memory.</a:t>
            </a:r>
          </a:p>
          <a:p>
            <a:r>
              <a:rPr lang="en-US" sz="1200" dirty="0">
                <a:solidFill>
                  <a:schemeClr val="tx2">
                    <a:lumMod val="90000"/>
                    <a:lumOff val="10000"/>
                  </a:schemeClr>
                </a:solidFill>
                <a:latin typeface="Poppins" panose="00000500000000000000" pitchFamily="2" charset="0"/>
                <a:cs typeface="Poppins" panose="00000500000000000000" pitchFamily="2" charset="0"/>
              </a:rPr>
              <a:t>If automatic downgrade is </a:t>
            </a:r>
            <a:r>
              <a:rPr lang="en-US" sz="1200" b="1" dirty="0">
                <a:solidFill>
                  <a:schemeClr val="tx2">
                    <a:lumMod val="90000"/>
                    <a:lumOff val="10000"/>
                  </a:schemeClr>
                </a:solidFill>
                <a:latin typeface="Poppins" panose="00000500000000000000" pitchFamily="2" charset="0"/>
                <a:cs typeface="Poppins" panose="00000500000000000000" pitchFamily="2" charset="0"/>
              </a:rPr>
              <a:t>disabled</a:t>
            </a:r>
            <a:r>
              <a:rPr lang="en-US" sz="1200" dirty="0">
                <a:solidFill>
                  <a:schemeClr val="tx2">
                    <a:lumMod val="90000"/>
                    <a:lumOff val="10000"/>
                  </a:schemeClr>
                </a:solidFill>
                <a:latin typeface="Poppins" panose="00000500000000000000" pitchFamily="2" charset="0"/>
                <a:cs typeface="Poppins" panose="00000500000000000000" pitchFamily="2" charset="0"/>
              </a:rPr>
              <a:t> (default), the system stays in this state until the operator explicitly calls:</a:t>
            </a:r>
          </a:p>
          <a:p>
            <a:endParaRPr lang="en-US" sz="1200" dirty="0">
              <a:solidFill>
                <a:schemeClr val="tx2">
                  <a:lumMod val="90000"/>
                  <a:lumOff val="10000"/>
                </a:schemeClr>
              </a:solidFill>
              <a:latin typeface="Poppins" panose="00000500000000000000" pitchFamily="2" charset="0"/>
              <a:cs typeface="Poppins" panose="00000500000000000000" pitchFamily="2" charset="0"/>
            </a:endParaRPr>
          </a:p>
          <a:p>
            <a:r>
              <a:rPr lang="en-US" sz="1100" dirty="0">
                <a:solidFill>
                  <a:schemeClr val="tx2">
                    <a:lumMod val="90000"/>
                    <a:lumOff val="10000"/>
                  </a:schemeClr>
                </a:solidFill>
                <a:latin typeface="Consolas" panose="020B0609020204030204" pitchFamily="49" charset="0"/>
              </a:rPr>
              <a:t>ros2 service call /</a:t>
            </a:r>
            <a:r>
              <a:rPr lang="en-US" sz="1100" dirty="0" err="1">
                <a:solidFill>
                  <a:schemeClr val="tx2">
                    <a:lumMod val="90000"/>
                    <a:lumOff val="10000"/>
                  </a:schemeClr>
                </a:solidFill>
                <a:latin typeface="Consolas" panose="020B0609020204030204" pitchFamily="49" charset="0"/>
              </a:rPr>
              <a:t>reset_safety_request</a:t>
            </a:r>
            <a:r>
              <a:rPr lang="en-US" sz="1100" dirty="0">
                <a:solidFill>
                  <a:schemeClr val="tx2">
                    <a:lumMod val="90000"/>
                    <a:lumOff val="10000"/>
                  </a:schemeClr>
                </a:solidFill>
                <a:latin typeface="Consolas" panose="020B0609020204030204" pitchFamily="49" charset="0"/>
              </a:rPr>
              <a:t> </a:t>
            </a:r>
            <a:r>
              <a:rPr lang="en-US" sz="1100" dirty="0" err="1">
                <a:solidFill>
                  <a:schemeClr val="tx2">
                    <a:lumMod val="90000"/>
                    <a:lumOff val="10000"/>
                  </a:schemeClr>
                </a:solidFill>
                <a:latin typeface="Consolas" panose="020B0609020204030204" pitchFamily="49" charset="0"/>
              </a:rPr>
              <a:t>std_srvs</a:t>
            </a:r>
            <a:r>
              <a:rPr lang="en-US" sz="1100" dirty="0">
                <a:solidFill>
                  <a:schemeClr val="tx2">
                    <a:lumMod val="90000"/>
                    <a:lumOff val="10000"/>
                  </a:schemeClr>
                </a:solidFill>
                <a:latin typeface="Consolas" panose="020B0609020204030204" pitchFamily="49" charset="0"/>
              </a:rPr>
              <a:t>/</a:t>
            </a:r>
            <a:r>
              <a:rPr lang="en-US" sz="1100" dirty="0" err="1">
                <a:solidFill>
                  <a:schemeClr val="tx2">
                    <a:lumMod val="90000"/>
                    <a:lumOff val="10000"/>
                  </a:schemeClr>
                </a:solidFill>
                <a:latin typeface="Consolas" panose="020B0609020204030204" pitchFamily="49" charset="0"/>
              </a:rPr>
              <a:t>srv</a:t>
            </a:r>
            <a:r>
              <a:rPr lang="en-US" sz="1100" dirty="0">
                <a:solidFill>
                  <a:schemeClr val="tx2">
                    <a:lumMod val="90000"/>
                    <a:lumOff val="10000"/>
                  </a:schemeClr>
                </a:solidFill>
                <a:latin typeface="Consolas" panose="020B0609020204030204" pitchFamily="49" charset="0"/>
              </a:rPr>
              <a:t>/Trigger</a:t>
            </a:r>
            <a:endParaRPr lang="en-US" sz="1100" dirty="0">
              <a:solidFill>
                <a:schemeClr val="tx2">
                  <a:lumMod val="90000"/>
                  <a:lumOff val="10000"/>
                </a:schemeClr>
              </a:solidFill>
              <a:latin typeface="Consolas" panose="020B0609020204030204" pitchFamily="49" charset="0"/>
              <a:cs typeface="Poppins" panose="00000500000000000000" pitchFamily="2" charset="0"/>
            </a:endParaRPr>
          </a:p>
          <a:p>
            <a:endParaRPr lang="en-US" sz="1200" dirty="0">
              <a:latin typeface="Poppins" panose="00000500000000000000" pitchFamily="2" charset="0"/>
              <a:cs typeface="Poppins" panose="00000500000000000000" pitchFamily="2" charset="0"/>
            </a:endParaRPr>
          </a:p>
          <a:p>
            <a:pPr>
              <a:buNone/>
            </a:pPr>
            <a:endParaRPr lang="it-IT" sz="1000" dirty="0">
              <a:latin typeface="Poppins" panose="00000500000000000000" pitchFamily="2" charset="0"/>
              <a:cs typeface="Poppins" panose="00000500000000000000" pitchFamily="2" charset="0"/>
            </a:endParaRPr>
          </a:p>
        </p:txBody>
      </p:sp>
      <p:pic>
        <p:nvPicPr>
          <p:cNvPr id="53" name="Picture 52">
            <a:extLst>
              <a:ext uri="{FF2B5EF4-FFF2-40B4-BE49-F238E27FC236}">
                <a16:creationId xmlns:a16="http://schemas.microsoft.com/office/drawing/2014/main" id="{B916CA95-BC86-AADC-1B74-1B09C1FFBCA0}"/>
              </a:ext>
            </a:extLst>
          </p:cNvPr>
          <p:cNvPicPr>
            <a:picLocks noChangeAspect="1"/>
          </p:cNvPicPr>
          <p:nvPr/>
        </p:nvPicPr>
        <p:blipFill>
          <a:blip r:embed="rId7"/>
          <a:stretch>
            <a:fillRect/>
          </a:stretch>
        </p:blipFill>
        <p:spPr>
          <a:xfrm>
            <a:off x="771498" y="2753187"/>
            <a:ext cx="5824395" cy="3377460"/>
          </a:xfrm>
          <a:prstGeom prst="rect">
            <a:avLst/>
          </a:prstGeom>
        </p:spPr>
      </p:pic>
      <p:pic>
        <p:nvPicPr>
          <p:cNvPr id="7" name="Picture 6">
            <a:extLst>
              <a:ext uri="{FF2B5EF4-FFF2-40B4-BE49-F238E27FC236}">
                <a16:creationId xmlns:a16="http://schemas.microsoft.com/office/drawing/2014/main" id="{32D8661A-F7C6-30C0-A9A8-22CCEBF071E6}"/>
              </a:ext>
            </a:extLst>
          </p:cNvPr>
          <p:cNvPicPr>
            <a:picLocks noChangeAspect="1"/>
          </p:cNvPicPr>
          <p:nvPr/>
        </p:nvPicPr>
        <p:blipFill>
          <a:blip r:embed="rId8"/>
          <a:srcRect/>
          <a:stretch/>
        </p:blipFill>
        <p:spPr>
          <a:xfrm>
            <a:off x="778446" y="2757090"/>
            <a:ext cx="5810499" cy="3366083"/>
          </a:xfrm>
          <a:prstGeom prst="rect">
            <a:avLst/>
          </a:prstGeom>
        </p:spPr>
      </p:pic>
    </p:spTree>
    <p:extLst>
      <p:ext uri="{BB962C8B-B14F-4D97-AF65-F5344CB8AC3E}">
        <p14:creationId xmlns:p14="http://schemas.microsoft.com/office/powerpoint/2010/main" val="2187498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DA8CA-21AD-F54B-CC25-7EFCD732B0E9}"/>
            </a:ext>
          </a:extLst>
        </p:cNvPr>
        <p:cNvGrpSpPr/>
        <p:nvPr/>
      </p:nvGrpSpPr>
      <p:grpSpPr>
        <a:xfrm>
          <a:off x="0" y="0"/>
          <a:ext cx="0" cy="0"/>
          <a:chOff x="0" y="0"/>
          <a:chExt cx="0" cy="0"/>
        </a:xfrm>
      </p:grpSpPr>
      <p:sp>
        <p:nvSpPr>
          <p:cNvPr id="36" name="Shape 3">
            <a:extLst>
              <a:ext uri="{FF2B5EF4-FFF2-40B4-BE49-F238E27FC236}">
                <a16:creationId xmlns:a16="http://schemas.microsoft.com/office/drawing/2014/main" id="{9A5BFEA3-BD8A-F983-D903-E379E4D37887}"/>
              </a:ext>
            </a:extLst>
          </p:cNvPr>
          <p:cNvSpPr>
            <a:spLocks/>
          </p:cNvSpPr>
          <p:nvPr/>
        </p:nvSpPr>
        <p:spPr>
          <a:xfrm>
            <a:off x="7464561" y="3758385"/>
            <a:ext cx="4239706" cy="2468295"/>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24" name="Shape 33">
            <a:extLst>
              <a:ext uri="{FF2B5EF4-FFF2-40B4-BE49-F238E27FC236}">
                <a16:creationId xmlns:a16="http://schemas.microsoft.com/office/drawing/2014/main" id="{F87E55E4-7088-1747-C025-B0A7BF690E17}"/>
              </a:ext>
            </a:extLst>
          </p:cNvPr>
          <p:cNvSpPr/>
          <p:nvPr/>
        </p:nvSpPr>
        <p:spPr>
          <a:xfrm>
            <a:off x="335280" y="2097736"/>
            <a:ext cx="11064240" cy="1532551"/>
          </a:xfrm>
          <a:prstGeom prst="rect">
            <a:avLst/>
          </a:prstGeom>
          <a:solidFill>
            <a:srgbClr val="E8EEF3"/>
          </a:solidFill>
          <a:ln w="12700">
            <a:solidFill>
              <a:srgbClr val="E8EEF3"/>
            </a:solidFill>
            <a:prstDash val="solid"/>
          </a:ln>
          <a:effectLst>
            <a:outerShdw blurRad="50800" dist="38100" algn="l" rotWithShape="0">
              <a:prstClr val="black">
                <a:alpha val="40000"/>
              </a:prstClr>
            </a:outerShdw>
          </a:effectLst>
        </p:spPr>
        <p:txBody>
          <a:bodyPr/>
          <a:lstStyle/>
          <a:p>
            <a:endParaRPr lang="it-IT" dirty="0"/>
          </a:p>
        </p:txBody>
      </p:sp>
      <p:sp>
        <p:nvSpPr>
          <p:cNvPr id="25" name="Shape 34">
            <a:extLst>
              <a:ext uri="{FF2B5EF4-FFF2-40B4-BE49-F238E27FC236}">
                <a16:creationId xmlns:a16="http://schemas.microsoft.com/office/drawing/2014/main" id="{1C1B0EE3-E3FF-531D-A86E-ACB411FDFF0B}"/>
              </a:ext>
            </a:extLst>
          </p:cNvPr>
          <p:cNvSpPr/>
          <p:nvPr/>
        </p:nvSpPr>
        <p:spPr>
          <a:xfrm>
            <a:off x="316992" y="2097736"/>
            <a:ext cx="109728" cy="1532551"/>
          </a:xfrm>
          <a:prstGeom prst="rect">
            <a:avLst/>
          </a:prstGeom>
          <a:solidFill>
            <a:schemeClr val="tx2">
              <a:lumMod val="75000"/>
              <a:lumOff val="25000"/>
            </a:schemeClr>
          </a:solidFill>
          <a:ln w="12700">
            <a:noFill/>
            <a:prstDash val="solid"/>
          </a:ln>
        </p:spPr>
        <p:txBody>
          <a:bodyPr/>
          <a:lstStyle/>
          <a:p>
            <a:endParaRPr lang="it-IT"/>
          </a:p>
        </p:txBody>
      </p:sp>
      <p:sp>
        <p:nvSpPr>
          <p:cNvPr id="42" name="Google Shape;259;p29">
            <a:extLst>
              <a:ext uri="{FF2B5EF4-FFF2-40B4-BE49-F238E27FC236}">
                <a16:creationId xmlns:a16="http://schemas.microsoft.com/office/drawing/2014/main" id="{D1FFE74C-2310-6C25-DCF8-A739581FD11F}"/>
              </a:ext>
            </a:extLst>
          </p:cNvPr>
          <p:cNvSpPr/>
          <p:nvPr/>
        </p:nvSpPr>
        <p:spPr>
          <a:xfrm>
            <a:off x="525933" y="1433398"/>
            <a:ext cx="6620760"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Sottotitolo 2">
            <a:extLst>
              <a:ext uri="{FF2B5EF4-FFF2-40B4-BE49-F238E27FC236}">
                <a16:creationId xmlns:a16="http://schemas.microsoft.com/office/drawing/2014/main" id="{0567ABB7-58DC-6B86-692D-7397E7431FAF}"/>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4B526593-64AB-2536-6DEA-9701AFDA7CAD}"/>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B89D444F-9187-54D9-B590-A5A5540100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935ADD04-9687-6F26-BCA0-F830F1ACE42E}"/>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935ADD04-9687-6F26-BCA0-F830F1ACE42E}"/>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0183EE86-99F3-B22E-1E0C-998CDE0B4F7F}"/>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0183EE86-99F3-B22E-1E0C-998CDE0B4F7F}"/>
                  </a:ext>
                </a:extLst>
              </p:cNvPr>
              <p:cNvPicPr/>
              <p:nvPr/>
            </p:nvPicPr>
            <p:blipFill>
              <a:blip r:embed="rId6"/>
              <a:stretch>
                <a:fillRect/>
              </a:stretch>
            </p:blipFill>
            <p:spPr>
              <a:xfrm>
                <a:off x="5259213" y="963076"/>
                <a:ext cx="1950120" cy="351561"/>
              </a:xfrm>
              <a:prstGeom prst="rect">
                <a:avLst/>
              </a:prstGeom>
            </p:spPr>
          </p:pic>
        </mc:Fallback>
      </mc:AlternateContent>
      <p:sp>
        <p:nvSpPr>
          <p:cNvPr id="15" name="Google Shape;244;p28">
            <a:extLst>
              <a:ext uri="{FF2B5EF4-FFF2-40B4-BE49-F238E27FC236}">
                <a16:creationId xmlns:a16="http://schemas.microsoft.com/office/drawing/2014/main" id="{D2088C59-E51E-8E2C-429C-DDBE2772D658}"/>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Model-Based Fault Detection</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8FC71DF5-9F89-ED05-E969-382C76373713}"/>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AB96DA08-79FD-75EA-561A-00215D88FF49}"/>
              </a:ext>
            </a:extLst>
          </p:cNvPr>
          <p:cNvSpPr txBox="1"/>
          <p:nvPr/>
        </p:nvSpPr>
        <p:spPr>
          <a:xfrm>
            <a:off x="604929" y="1705798"/>
            <a:ext cx="7234146" cy="338554"/>
          </a:xfrm>
          <a:prstGeom prst="rect">
            <a:avLst/>
          </a:prstGeom>
          <a:noFill/>
        </p:spPr>
        <p:txBody>
          <a:bodyPr wrap="square">
            <a:spAutoFit/>
          </a:bodyPr>
          <a:lstStyle/>
          <a:p>
            <a:r>
              <a:rPr lang="en-US" sz="1600" i="1" dirty="0">
                <a:solidFill>
                  <a:srgbClr val="64748B"/>
                </a:solidFill>
                <a:latin typeface="Poppins" panose="00000500000000000000" pitchFamily="2" charset="0"/>
                <a:ea typeface="Calibri" pitchFamily="34" charset="-122"/>
                <a:cs typeface="Poppins" panose="00000500000000000000" pitchFamily="2" charset="0"/>
              </a:rPr>
              <a:t>Observer layers for sensor health monitoring</a:t>
            </a:r>
            <a:endParaRPr lang="en-US" sz="1600" dirty="0">
              <a:latin typeface="Poppins" panose="00000500000000000000" pitchFamily="2" charset="0"/>
              <a:cs typeface="Poppins" panose="00000500000000000000" pitchFamily="2" charset="0"/>
            </a:endParaRPr>
          </a:p>
        </p:txBody>
      </p:sp>
      <p:sp>
        <p:nvSpPr>
          <p:cNvPr id="19" name="TextBox 18">
            <a:extLst>
              <a:ext uri="{FF2B5EF4-FFF2-40B4-BE49-F238E27FC236}">
                <a16:creationId xmlns:a16="http://schemas.microsoft.com/office/drawing/2014/main" id="{B8B91D5B-6BB1-4925-29B0-2443904724DF}"/>
              </a:ext>
            </a:extLst>
          </p:cNvPr>
          <p:cNvSpPr txBox="1"/>
          <p:nvPr/>
        </p:nvSpPr>
        <p:spPr>
          <a:xfrm>
            <a:off x="445008" y="2231886"/>
            <a:ext cx="3050835" cy="369332"/>
          </a:xfrm>
          <a:prstGeom prst="rect">
            <a:avLst/>
          </a:prstGeom>
          <a:noFill/>
        </p:spPr>
        <p:txBody>
          <a:bodyPr wrap="none" rtlCol="0">
            <a:spAutoFit/>
          </a:bodyPr>
          <a:lstStyle/>
          <a:p>
            <a:r>
              <a:rPr lang="it-IT" b="1" dirty="0">
                <a:solidFill>
                  <a:schemeClr val="tx2">
                    <a:lumMod val="90000"/>
                    <a:lumOff val="10000"/>
                  </a:schemeClr>
                </a:solidFill>
                <a:latin typeface="Poppins" panose="00000500000000000000" pitchFamily="2" charset="0"/>
                <a:cs typeface="Poppins" panose="00000500000000000000" pitchFamily="2" charset="0"/>
              </a:rPr>
              <a:t>Threshold-based safety</a:t>
            </a:r>
          </a:p>
        </p:txBody>
      </p:sp>
      <p:sp>
        <p:nvSpPr>
          <p:cNvPr id="20" name="TextBox 19">
            <a:extLst>
              <a:ext uri="{FF2B5EF4-FFF2-40B4-BE49-F238E27FC236}">
                <a16:creationId xmlns:a16="http://schemas.microsoft.com/office/drawing/2014/main" id="{BB2E9F53-B110-54A8-580D-FC389C2B1C0E}"/>
              </a:ext>
            </a:extLst>
          </p:cNvPr>
          <p:cNvSpPr txBox="1"/>
          <p:nvPr/>
        </p:nvSpPr>
        <p:spPr>
          <a:xfrm>
            <a:off x="445008" y="2508441"/>
            <a:ext cx="1944763" cy="276999"/>
          </a:xfrm>
          <a:prstGeom prst="rect">
            <a:avLst/>
          </a:prstGeom>
          <a:noFill/>
        </p:spPr>
        <p:txBody>
          <a:bodyPr wrap="none" rtlCol="0">
            <a:spAutoFit/>
          </a:bodyPr>
          <a:lstStyle/>
          <a:p>
            <a:r>
              <a:rPr lang="it-IT" sz="1200" i="1" dirty="0">
                <a:solidFill>
                  <a:schemeClr val="tx1">
                    <a:lumMod val="65000"/>
                    <a:lumOff val="35000"/>
                  </a:schemeClr>
                </a:solidFill>
                <a:latin typeface="Poppins" panose="00000500000000000000" pitchFamily="2" charset="0"/>
                <a:cs typeface="Poppins" panose="00000500000000000000" pitchFamily="2" charset="0"/>
              </a:rPr>
              <a:t>«Is this signal too big?»</a:t>
            </a:r>
          </a:p>
        </p:txBody>
      </p:sp>
      <p:sp>
        <p:nvSpPr>
          <p:cNvPr id="21" name="TextBox 20">
            <a:extLst>
              <a:ext uri="{FF2B5EF4-FFF2-40B4-BE49-F238E27FC236}">
                <a16:creationId xmlns:a16="http://schemas.microsoft.com/office/drawing/2014/main" id="{33E32B79-23CA-1FAF-4E72-3815E95FCB84}"/>
              </a:ext>
            </a:extLst>
          </p:cNvPr>
          <p:cNvSpPr txBox="1"/>
          <p:nvPr/>
        </p:nvSpPr>
        <p:spPr>
          <a:xfrm>
            <a:off x="514016" y="2795975"/>
            <a:ext cx="6696064" cy="307777"/>
          </a:xfrm>
          <a:prstGeom prst="rect">
            <a:avLst/>
          </a:prstGeom>
          <a:noFill/>
        </p:spPr>
        <p:txBody>
          <a:bodyPr wrap="none" rtlCol="0">
            <a:spAutoFit/>
          </a:bodyPr>
          <a:lstStyle/>
          <a:p>
            <a:r>
              <a:rPr lang="it-IT" sz="1400" dirty="0">
                <a:solidFill>
                  <a:schemeClr val="tx2">
                    <a:lumMod val="90000"/>
                    <a:lumOff val="10000"/>
                  </a:schemeClr>
                </a:solidFill>
                <a:latin typeface="Poppins Black" panose="00000A00000000000000" pitchFamily="2" charset="0"/>
                <a:cs typeface="Poppins Black" panose="00000A00000000000000" pitchFamily="2" charset="0"/>
              </a:rPr>
              <a:t>Effective for: </a:t>
            </a:r>
            <a:r>
              <a:rPr lang="it-IT" sz="1200" dirty="0">
                <a:solidFill>
                  <a:schemeClr val="tx2">
                    <a:lumMod val="90000"/>
                    <a:lumOff val="10000"/>
                  </a:schemeClr>
                </a:solidFill>
                <a:latin typeface="Poppins "/>
              </a:rPr>
              <a:t>large torque spikes • communication timeouts • complete signal loss</a:t>
            </a:r>
            <a:endParaRPr lang="it-IT" sz="3200" dirty="0">
              <a:solidFill>
                <a:schemeClr val="tx2">
                  <a:lumMod val="90000"/>
                  <a:lumOff val="10000"/>
                </a:schemeClr>
              </a:solidFill>
              <a:latin typeface="Poppins "/>
              <a:cs typeface="Poppins Black" panose="00000A00000000000000" pitchFamily="2" charset="0"/>
            </a:endParaRPr>
          </a:p>
        </p:txBody>
      </p:sp>
      <p:sp>
        <p:nvSpPr>
          <p:cNvPr id="23" name="TextBox 22">
            <a:extLst>
              <a:ext uri="{FF2B5EF4-FFF2-40B4-BE49-F238E27FC236}">
                <a16:creationId xmlns:a16="http://schemas.microsoft.com/office/drawing/2014/main" id="{037DFE77-9ECB-BDCF-839C-6144BA9A99A3}"/>
              </a:ext>
            </a:extLst>
          </p:cNvPr>
          <p:cNvSpPr txBox="1"/>
          <p:nvPr/>
        </p:nvSpPr>
        <p:spPr>
          <a:xfrm>
            <a:off x="495728" y="3124712"/>
            <a:ext cx="10972800" cy="307777"/>
          </a:xfrm>
          <a:prstGeom prst="rect">
            <a:avLst/>
          </a:prstGeom>
          <a:noFill/>
        </p:spPr>
        <p:txBody>
          <a:bodyPr wrap="square">
            <a:spAutoFit/>
          </a:bodyPr>
          <a:lstStyle/>
          <a:p>
            <a:r>
              <a:rPr lang="en-US" sz="1400" b="1" i="0" u="none" strike="noStrike" dirty="0">
                <a:solidFill>
                  <a:schemeClr val="tx2">
                    <a:lumMod val="90000"/>
                    <a:lumOff val="10000"/>
                  </a:schemeClr>
                </a:solidFill>
                <a:effectLst/>
                <a:latin typeface="Poppins Black" panose="00000A00000000000000" pitchFamily="2" charset="0"/>
                <a:cs typeface="Poppins Black" panose="00000A00000000000000" pitchFamily="2" charset="0"/>
              </a:rPr>
              <a:t>Faults within nominal bounds remain undetected: </a:t>
            </a:r>
            <a:r>
              <a:rPr lang="en-US" sz="1200" dirty="0">
                <a:solidFill>
                  <a:schemeClr val="tx2">
                    <a:lumMod val="90000"/>
                    <a:lumOff val="10000"/>
                  </a:schemeClr>
                </a:solidFill>
                <a:latin typeface="Poppins" panose="00000500000000000000" pitchFamily="2" charset="0"/>
                <a:cs typeface="Poppins" panose="00000500000000000000" pitchFamily="2" charset="0"/>
              </a:rPr>
              <a:t>slow sensor drift  • small persistent force bias  • gradual actuator degradation</a:t>
            </a:r>
            <a:endParaRPr lang="en-US" sz="1200" b="1" dirty="0">
              <a:solidFill>
                <a:schemeClr val="tx2">
                  <a:lumMod val="90000"/>
                  <a:lumOff val="10000"/>
                </a:schemeClr>
              </a:solidFill>
              <a:effectLst/>
              <a:latin typeface="Poppins" panose="00000500000000000000" pitchFamily="2" charset="0"/>
              <a:cs typeface="Poppins" panose="00000500000000000000" pitchFamily="2" charset="0"/>
            </a:endParaRPr>
          </a:p>
        </p:txBody>
      </p:sp>
      <p:sp>
        <p:nvSpPr>
          <p:cNvPr id="26" name="Shape 33">
            <a:extLst>
              <a:ext uri="{FF2B5EF4-FFF2-40B4-BE49-F238E27FC236}">
                <a16:creationId xmlns:a16="http://schemas.microsoft.com/office/drawing/2014/main" id="{95C528BB-2048-531C-6816-44995DA84A62}"/>
              </a:ext>
            </a:extLst>
          </p:cNvPr>
          <p:cNvSpPr/>
          <p:nvPr/>
        </p:nvSpPr>
        <p:spPr>
          <a:xfrm>
            <a:off x="335280" y="3969560"/>
            <a:ext cx="6641593" cy="1191526"/>
          </a:xfrm>
          <a:prstGeom prst="rect">
            <a:avLst/>
          </a:prstGeom>
          <a:solidFill>
            <a:schemeClr val="accent2">
              <a:lumMod val="20000"/>
              <a:lumOff val="80000"/>
            </a:schemeClr>
          </a:solidFill>
          <a:ln w="12700">
            <a:solidFill>
              <a:srgbClr val="E8EEF3"/>
            </a:solidFill>
            <a:prstDash val="solid"/>
          </a:ln>
          <a:effectLst>
            <a:outerShdw blurRad="50800" dist="38100" algn="l" rotWithShape="0">
              <a:prstClr val="black">
                <a:alpha val="40000"/>
              </a:prstClr>
            </a:outerShdw>
          </a:effectLst>
        </p:spPr>
        <p:txBody>
          <a:bodyPr/>
          <a:lstStyle/>
          <a:p>
            <a:endParaRPr lang="it-IT" dirty="0"/>
          </a:p>
        </p:txBody>
      </p:sp>
      <p:sp>
        <p:nvSpPr>
          <p:cNvPr id="27" name="Shape 34">
            <a:extLst>
              <a:ext uri="{FF2B5EF4-FFF2-40B4-BE49-F238E27FC236}">
                <a16:creationId xmlns:a16="http://schemas.microsoft.com/office/drawing/2014/main" id="{833159CD-C2BA-0B45-D11B-90B902A2E69B}"/>
              </a:ext>
            </a:extLst>
          </p:cNvPr>
          <p:cNvSpPr/>
          <p:nvPr/>
        </p:nvSpPr>
        <p:spPr>
          <a:xfrm>
            <a:off x="316992" y="3969559"/>
            <a:ext cx="109728" cy="1191527"/>
          </a:xfrm>
          <a:prstGeom prst="rect">
            <a:avLst/>
          </a:prstGeom>
          <a:solidFill>
            <a:schemeClr val="accent2">
              <a:lumMod val="75000"/>
            </a:schemeClr>
          </a:solidFill>
          <a:ln w="12700">
            <a:noFill/>
            <a:prstDash val="solid"/>
          </a:ln>
        </p:spPr>
        <p:txBody>
          <a:bodyPr/>
          <a:lstStyle/>
          <a:p>
            <a:endParaRPr lang="it-IT"/>
          </a:p>
        </p:txBody>
      </p:sp>
      <p:sp>
        <p:nvSpPr>
          <p:cNvPr id="28" name="TextBox 27">
            <a:extLst>
              <a:ext uri="{FF2B5EF4-FFF2-40B4-BE49-F238E27FC236}">
                <a16:creationId xmlns:a16="http://schemas.microsoft.com/office/drawing/2014/main" id="{B13DB855-1892-9C15-4485-CD1E1BCF61A2}"/>
              </a:ext>
            </a:extLst>
          </p:cNvPr>
          <p:cNvSpPr txBox="1"/>
          <p:nvPr/>
        </p:nvSpPr>
        <p:spPr>
          <a:xfrm>
            <a:off x="445008" y="4118326"/>
            <a:ext cx="2199641" cy="369332"/>
          </a:xfrm>
          <a:prstGeom prst="rect">
            <a:avLst/>
          </a:prstGeom>
          <a:noFill/>
        </p:spPr>
        <p:txBody>
          <a:bodyPr wrap="none" rtlCol="0">
            <a:spAutoFit/>
          </a:bodyPr>
          <a:lstStyle/>
          <a:p>
            <a:r>
              <a:rPr lang="it-IT" b="1" dirty="0">
                <a:solidFill>
                  <a:schemeClr val="accent2">
                    <a:lumMod val="50000"/>
                  </a:schemeClr>
                </a:solidFill>
                <a:latin typeface="Poppins" panose="00000500000000000000" pitchFamily="2" charset="0"/>
                <a:cs typeface="Poppins" panose="00000500000000000000" pitchFamily="2" charset="0"/>
              </a:rPr>
              <a:t>Model-based FDI</a:t>
            </a:r>
          </a:p>
        </p:txBody>
      </p:sp>
      <p:sp>
        <p:nvSpPr>
          <p:cNvPr id="30" name="TextBox 29">
            <a:extLst>
              <a:ext uri="{FF2B5EF4-FFF2-40B4-BE49-F238E27FC236}">
                <a16:creationId xmlns:a16="http://schemas.microsoft.com/office/drawing/2014/main" id="{9D9A454F-58CB-58F1-88CF-56F4F00D448B}"/>
              </a:ext>
            </a:extLst>
          </p:cNvPr>
          <p:cNvSpPr txBox="1"/>
          <p:nvPr/>
        </p:nvSpPr>
        <p:spPr>
          <a:xfrm>
            <a:off x="445008" y="4388771"/>
            <a:ext cx="3515240" cy="276999"/>
          </a:xfrm>
          <a:prstGeom prst="rect">
            <a:avLst/>
          </a:prstGeom>
          <a:noFill/>
        </p:spPr>
        <p:txBody>
          <a:bodyPr wrap="square">
            <a:spAutoFit/>
          </a:bodyPr>
          <a:lstStyle/>
          <a:p>
            <a:r>
              <a:rPr lang="it-IT" sz="1200" i="1" dirty="0">
                <a:solidFill>
                  <a:schemeClr val="tx1">
                    <a:lumMod val="65000"/>
                    <a:lumOff val="35000"/>
                  </a:schemeClr>
                </a:solidFill>
                <a:latin typeface="Poppins" panose="00000500000000000000" pitchFamily="2" charset="0"/>
                <a:cs typeface="Poppins" panose="00000500000000000000" pitchFamily="2" charset="0"/>
              </a:rPr>
              <a:t>«</a:t>
            </a:r>
            <a:r>
              <a:rPr lang="en-US" sz="1200" i="1" u="none" strike="noStrike" dirty="0">
                <a:solidFill>
                  <a:schemeClr val="tx1">
                    <a:lumMod val="65000"/>
                    <a:lumOff val="35000"/>
                  </a:schemeClr>
                </a:solidFill>
                <a:effectLst/>
                <a:latin typeface="Poppins" panose="00000500000000000000" pitchFamily="2" charset="0"/>
                <a:cs typeface="Poppins" panose="00000500000000000000" pitchFamily="2" charset="0"/>
              </a:rPr>
              <a:t>Is this signal consistent with the physics?</a:t>
            </a:r>
            <a:r>
              <a:rPr lang="it-IT" sz="1200" i="1" dirty="0">
                <a:solidFill>
                  <a:schemeClr val="tx1">
                    <a:lumMod val="65000"/>
                    <a:lumOff val="35000"/>
                  </a:schemeClr>
                </a:solidFill>
                <a:latin typeface="Poppins" panose="00000500000000000000" pitchFamily="2" charset="0"/>
                <a:cs typeface="Poppins" panose="00000500000000000000" pitchFamily="2" charset="0"/>
              </a:rPr>
              <a:t>»</a:t>
            </a:r>
            <a:endParaRPr lang="it-IT" sz="1200" dirty="0">
              <a:solidFill>
                <a:schemeClr val="tx1">
                  <a:lumMod val="65000"/>
                  <a:lumOff val="35000"/>
                </a:schemeClr>
              </a:solidFill>
              <a:latin typeface="Poppins" panose="00000500000000000000" pitchFamily="2" charset="0"/>
              <a:cs typeface="Poppins" panose="00000500000000000000" pitchFamily="2" charset="0"/>
            </a:endParaRPr>
          </a:p>
        </p:txBody>
      </p:sp>
      <p:sp>
        <p:nvSpPr>
          <p:cNvPr id="33" name="TextBox 32">
            <a:extLst>
              <a:ext uri="{FF2B5EF4-FFF2-40B4-BE49-F238E27FC236}">
                <a16:creationId xmlns:a16="http://schemas.microsoft.com/office/drawing/2014/main" id="{E915C9B4-76AC-A4D9-7BA4-495F59CCC7A4}"/>
              </a:ext>
            </a:extLst>
          </p:cNvPr>
          <p:cNvSpPr txBox="1"/>
          <p:nvPr/>
        </p:nvSpPr>
        <p:spPr>
          <a:xfrm>
            <a:off x="445009" y="4673041"/>
            <a:ext cx="6531864" cy="253916"/>
          </a:xfrm>
          <a:prstGeom prst="rect">
            <a:avLst/>
          </a:prstGeom>
          <a:noFill/>
        </p:spPr>
        <p:txBody>
          <a:bodyPr wrap="square" rtlCol="0">
            <a:spAutoFit/>
          </a:bodyPr>
          <a:lstStyle/>
          <a:p>
            <a:r>
              <a:rPr lang="it-IT" sz="1050" dirty="0">
                <a:solidFill>
                  <a:schemeClr val="accent2">
                    <a:lumMod val="50000"/>
                  </a:schemeClr>
                </a:solidFill>
                <a:latin typeface="Poppins "/>
                <a:cs typeface="Poppins Black" panose="00000A00000000000000" pitchFamily="2" charset="0"/>
              </a:rPr>
              <a:t>Multiple observer were created to evaluete the measured quantities against the observed ones</a:t>
            </a:r>
            <a:endParaRPr lang="it-IT" sz="2000" dirty="0">
              <a:solidFill>
                <a:schemeClr val="accent2">
                  <a:lumMod val="50000"/>
                </a:schemeClr>
              </a:solidFill>
              <a:latin typeface="Poppins "/>
              <a:cs typeface="Poppins Black" panose="00000A00000000000000" pitchFamily="2" charset="0"/>
            </a:endParaRPr>
          </a:p>
        </p:txBody>
      </p:sp>
      <p:pic>
        <p:nvPicPr>
          <p:cNvPr id="35" name="Picture 34">
            <a:extLst>
              <a:ext uri="{FF2B5EF4-FFF2-40B4-BE49-F238E27FC236}">
                <a16:creationId xmlns:a16="http://schemas.microsoft.com/office/drawing/2014/main" id="{C84B4117-F719-A48B-3B45-0EFD402AF19A}"/>
              </a:ext>
            </a:extLst>
          </p:cNvPr>
          <p:cNvPicPr>
            <a:picLocks noChangeAspect="1"/>
          </p:cNvPicPr>
          <p:nvPr/>
        </p:nvPicPr>
        <p:blipFill>
          <a:blip r:embed="rId7"/>
          <a:stretch>
            <a:fillRect/>
          </a:stretch>
        </p:blipFill>
        <p:spPr>
          <a:xfrm>
            <a:off x="7839075" y="3841906"/>
            <a:ext cx="3686827" cy="2255154"/>
          </a:xfrm>
          <a:prstGeom prst="rect">
            <a:avLst/>
          </a:prstGeom>
        </p:spPr>
      </p:pic>
      <p:sp>
        <p:nvSpPr>
          <p:cNvPr id="37" name="Shape 35">
            <a:extLst>
              <a:ext uri="{FF2B5EF4-FFF2-40B4-BE49-F238E27FC236}">
                <a16:creationId xmlns:a16="http://schemas.microsoft.com/office/drawing/2014/main" id="{E3BD242B-C11E-65FE-0B96-346417EC4893}"/>
              </a:ext>
            </a:extLst>
          </p:cNvPr>
          <p:cNvSpPr/>
          <p:nvPr/>
        </p:nvSpPr>
        <p:spPr>
          <a:xfrm>
            <a:off x="316992" y="5369250"/>
            <a:ext cx="6659881" cy="1109187"/>
          </a:xfrm>
          <a:prstGeom prst="rect">
            <a:avLst/>
          </a:prstGeom>
          <a:solidFill>
            <a:srgbClr val="0A2540"/>
          </a:solidFill>
          <a:ln w="12700">
            <a:solidFill>
              <a:srgbClr val="0A2540"/>
            </a:solidFill>
            <a:prstDash val="solid"/>
          </a:ln>
          <a:effectLst>
            <a:outerShdw blurRad="50800" dist="38100" algn="l" rotWithShape="0">
              <a:prstClr val="black">
                <a:alpha val="40000"/>
              </a:prstClr>
            </a:outerShdw>
          </a:effectLst>
        </p:spPr>
        <p:txBody>
          <a:bodyPr/>
          <a:lstStyle/>
          <a:p>
            <a:endParaRPr lang="it-IT"/>
          </a:p>
        </p:txBody>
      </p:sp>
      <p:sp>
        <p:nvSpPr>
          <p:cNvPr id="38" name="Shape 36">
            <a:extLst>
              <a:ext uri="{FF2B5EF4-FFF2-40B4-BE49-F238E27FC236}">
                <a16:creationId xmlns:a16="http://schemas.microsoft.com/office/drawing/2014/main" id="{94BA229B-E789-5D2F-1B0F-E3AC9FD131D7}"/>
              </a:ext>
            </a:extLst>
          </p:cNvPr>
          <p:cNvSpPr/>
          <p:nvPr/>
        </p:nvSpPr>
        <p:spPr>
          <a:xfrm>
            <a:off x="316992" y="5369251"/>
            <a:ext cx="6659881" cy="109728"/>
          </a:xfrm>
          <a:prstGeom prst="rect">
            <a:avLst/>
          </a:prstGeom>
          <a:solidFill>
            <a:srgbClr val="E8A33D"/>
          </a:solidFill>
          <a:ln w="12700">
            <a:solidFill>
              <a:srgbClr val="E8A33D"/>
            </a:solidFill>
            <a:prstDash val="solid"/>
          </a:ln>
        </p:spPr>
        <p:txBody>
          <a:bodyPr/>
          <a:lstStyle/>
          <a:p>
            <a:endParaRPr lang="it-IT"/>
          </a:p>
        </p:txBody>
      </p:sp>
      <p:sp>
        <p:nvSpPr>
          <p:cNvPr id="39" name="Text 37">
            <a:extLst>
              <a:ext uri="{FF2B5EF4-FFF2-40B4-BE49-F238E27FC236}">
                <a16:creationId xmlns:a16="http://schemas.microsoft.com/office/drawing/2014/main" id="{A2521FE8-20E0-D1AB-8532-9EC4B3F2E94C}"/>
              </a:ext>
            </a:extLst>
          </p:cNvPr>
          <p:cNvSpPr/>
          <p:nvPr/>
        </p:nvSpPr>
        <p:spPr>
          <a:xfrm>
            <a:off x="386744" y="5494417"/>
            <a:ext cx="32004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Poppins" panose="00000500000000000000" pitchFamily="2" charset="0"/>
                <a:ea typeface="Calibri" pitchFamily="34" charset="-122"/>
                <a:cs typeface="Poppins" panose="00000500000000000000" pitchFamily="2" charset="0"/>
              </a:rPr>
              <a:t>STATUS</a:t>
            </a:r>
            <a:endParaRPr lang="en-US" sz="1200" dirty="0">
              <a:latin typeface="Poppins" panose="00000500000000000000" pitchFamily="2" charset="0"/>
              <a:cs typeface="Poppins" panose="00000500000000000000" pitchFamily="2" charset="0"/>
            </a:endParaRPr>
          </a:p>
        </p:txBody>
      </p:sp>
      <p:pic>
        <p:nvPicPr>
          <p:cNvPr id="40" name="Image 0" descr="preencoded.png">
            <a:extLst>
              <a:ext uri="{FF2B5EF4-FFF2-40B4-BE49-F238E27FC236}">
                <a16:creationId xmlns:a16="http://schemas.microsoft.com/office/drawing/2014/main" id="{C5B78AB8-12C1-46FF-88CE-56B11343790A}"/>
              </a:ext>
            </a:extLst>
          </p:cNvPr>
          <p:cNvPicPr>
            <a:picLocks noChangeAspect="1"/>
          </p:cNvPicPr>
          <p:nvPr/>
        </p:nvPicPr>
        <p:blipFill>
          <a:blip r:embed="rId8"/>
          <a:stretch>
            <a:fillRect/>
          </a:stretch>
        </p:blipFill>
        <p:spPr>
          <a:xfrm>
            <a:off x="1232369" y="5777015"/>
            <a:ext cx="365760" cy="365760"/>
          </a:xfrm>
          <a:prstGeom prst="rect">
            <a:avLst/>
          </a:prstGeom>
        </p:spPr>
      </p:pic>
      <p:sp>
        <p:nvSpPr>
          <p:cNvPr id="41" name="Text 38">
            <a:extLst>
              <a:ext uri="{FF2B5EF4-FFF2-40B4-BE49-F238E27FC236}">
                <a16:creationId xmlns:a16="http://schemas.microsoft.com/office/drawing/2014/main" id="{1CAD0F9B-61BF-E925-9F93-FD7679E6D2B8}"/>
              </a:ext>
            </a:extLst>
          </p:cNvPr>
          <p:cNvSpPr/>
          <p:nvPr/>
        </p:nvSpPr>
        <p:spPr>
          <a:xfrm>
            <a:off x="1703326" y="5520296"/>
            <a:ext cx="1416193" cy="365760"/>
          </a:xfrm>
          <a:prstGeom prst="rect">
            <a:avLst/>
          </a:prstGeom>
          <a:noFill/>
          <a:ln/>
        </p:spPr>
        <p:txBody>
          <a:bodyPr wrap="square" lIns="0" tIns="0" rIns="0" bIns="0" rtlCol="0" anchor="ctr"/>
          <a:lstStyle/>
          <a:p>
            <a:pPr marL="0" indent="0">
              <a:buNone/>
            </a:pPr>
            <a:r>
              <a:rPr lang="en-US" sz="1200" b="1" dirty="0">
                <a:solidFill>
                  <a:srgbClr val="FFFFFF"/>
                </a:solidFill>
                <a:latin typeface="Poppins "/>
                <a:ea typeface="PMingLiU-ExtB" panose="02020500000000000000" pitchFamily="18" charset="-120"/>
                <a:cs typeface="Calibri" pitchFamily="34" charset="-120"/>
              </a:rPr>
              <a:t>Fully operational</a:t>
            </a:r>
            <a:endParaRPr lang="en-US" sz="1200" dirty="0">
              <a:latin typeface="Poppins "/>
              <a:ea typeface="PMingLiU-ExtB" panose="02020500000000000000" pitchFamily="18" charset="-120"/>
            </a:endParaRPr>
          </a:p>
        </p:txBody>
      </p:sp>
      <p:sp>
        <p:nvSpPr>
          <p:cNvPr id="43" name="Text 39">
            <a:extLst>
              <a:ext uri="{FF2B5EF4-FFF2-40B4-BE49-F238E27FC236}">
                <a16:creationId xmlns:a16="http://schemas.microsoft.com/office/drawing/2014/main" id="{BA6A0940-BF59-43CB-95A6-F857E32EAE4F}"/>
              </a:ext>
            </a:extLst>
          </p:cNvPr>
          <p:cNvSpPr/>
          <p:nvPr/>
        </p:nvSpPr>
        <p:spPr>
          <a:xfrm>
            <a:off x="1703326" y="5762983"/>
            <a:ext cx="1856740" cy="640080"/>
          </a:xfrm>
          <a:prstGeom prst="rect">
            <a:avLst/>
          </a:prstGeom>
          <a:noFill/>
          <a:ln/>
        </p:spPr>
        <p:txBody>
          <a:bodyPr wrap="square" lIns="0" tIns="0" rIns="0" bIns="0" rtlCol="0" anchor="ctr"/>
          <a:lstStyle/>
          <a:p>
            <a:pPr marL="0" indent="0">
              <a:buNone/>
            </a:pPr>
            <a:r>
              <a:rPr lang="en-US" sz="1100" dirty="0">
                <a:solidFill>
                  <a:srgbClr val="CADCFC"/>
                </a:solidFill>
                <a:latin typeface="Poppins "/>
                <a:ea typeface="Calibri" pitchFamily="34" charset="-122"/>
                <a:cs typeface="Calibri" pitchFamily="34" charset="-120"/>
              </a:rPr>
              <a:t>Runs at 200 Hz alongside plant, controllers and safety nodes.</a:t>
            </a:r>
            <a:endParaRPr lang="en-US" sz="1100" dirty="0">
              <a:latin typeface="Poppins "/>
            </a:endParaRPr>
          </a:p>
        </p:txBody>
      </p:sp>
      <p:pic>
        <p:nvPicPr>
          <p:cNvPr id="47" name="Image 2" descr="preencoded.png">
            <a:extLst>
              <a:ext uri="{FF2B5EF4-FFF2-40B4-BE49-F238E27FC236}">
                <a16:creationId xmlns:a16="http://schemas.microsoft.com/office/drawing/2014/main" id="{EA60B1EA-FB52-E244-7170-7A96D8C07125}"/>
              </a:ext>
            </a:extLst>
          </p:cNvPr>
          <p:cNvPicPr>
            <a:picLocks noChangeAspect="1"/>
          </p:cNvPicPr>
          <p:nvPr/>
        </p:nvPicPr>
        <p:blipFill>
          <a:blip r:embed="rId9"/>
          <a:stretch>
            <a:fillRect/>
          </a:stretch>
        </p:blipFill>
        <p:spPr>
          <a:xfrm>
            <a:off x="3774401" y="5776109"/>
            <a:ext cx="365760" cy="365760"/>
          </a:xfrm>
          <a:prstGeom prst="rect">
            <a:avLst/>
          </a:prstGeom>
        </p:spPr>
      </p:pic>
      <p:sp>
        <p:nvSpPr>
          <p:cNvPr id="48" name="Text 42">
            <a:extLst>
              <a:ext uri="{FF2B5EF4-FFF2-40B4-BE49-F238E27FC236}">
                <a16:creationId xmlns:a16="http://schemas.microsoft.com/office/drawing/2014/main" id="{EFAC867F-7201-F0CB-BE93-719B383531F6}"/>
              </a:ext>
            </a:extLst>
          </p:cNvPr>
          <p:cNvSpPr/>
          <p:nvPr/>
        </p:nvSpPr>
        <p:spPr>
          <a:xfrm>
            <a:off x="4204174" y="5509812"/>
            <a:ext cx="2374413" cy="365760"/>
          </a:xfrm>
          <a:prstGeom prst="rect">
            <a:avLst/>
          </a:prstGeom>
          <a:noFill/>
          <a:ln/>
        </p:spPr>
        <p:txBody>
          <a:bodyPr wrap="square" lIns="0" tIns="0" rIns="0" bIns="0" rtlCol="0" anchor="ctr"/>
          <a:lstStyle/>
          <a:p>
            <a:pPr marL="0" indent="0">
              <a:buNone/>
            </a:pPr>
            <a:r>
              <a:rPr lang="en-US" sz="1200" b="1" dirty="0">
                <a:solidFill>
                  <a:srgbClr val="FFFFFF"/>
                </a:solidFill>
                <a:latin typeface="Poppins" panose="00000500000000000000" pitchFamily="2" charset="0"/>
                <a:ea typeface="Calibri" pitchFamily="34" charset="-122"/>
                <a:cs typeface="Poppins" panose="00000500000000000000" pitchFamily="2" charset="0"/>
              </a:rPr>
              <a:t>Not yet in the decision chain</a:t>
            </a:r>
            <a:endParaRPr lang="en-US" sz="1200" dirty="0">
              <a:latin typeface="Poppins" panose="00000500000000000000" pitchFamily="2" charset="0"/>
              <a:cs typeface="Poppins" panose="00000500000000000000" pitchFamily="2" charset="0"/>
            </a:endParaRPr>
          </a:p>
        </p:txBody>
      </p:sp>
      <p:sp>
        <p:nvSpPr>
          <p:cNvPr id="49" name="Text 43">
            <a:extLst>
              <a:ext uri="{FF2B5EF4-FFF2-40B4-BE49-F238E27FC236}">
                <a16:creationId xmlns:a16="http://schemas.microsoft.com/office/drawing/2014/main" id="{30E4C663-D94A-5593-9671-F3EEA17ADB33}"/>
              </a:ext>
            </a:extLst>
          </p:cNvPr>
          <p:cNvSpPr/>
          <p:nvPr/>
        </p:nvSpPr>
        <p:spPr>
          <a:xfrm>
            <a:off x="4247663" y="5664877"/>
            <a:ext cx="2374413" cy="777240"/>
          </a:xfrm>
          <a:prstGeom prst="rect">
            <a:avLst/>
          </a:prstGeom>
          <a:noFill/>
          <a:ln/>
        </p:spPr>
        <p:txBody>
          <a:bodyPr wrap="square" lIns="0" tIns="0" rIns="0" bIns="0" rtlCol="0" anchor="ctr"/>
          <a:lstStyle/>
          <a:p>
            <a:pPr marL="0" indent="0">
              <a:buNone/>
            </a:pPr>
            <a:r>
              <a:rPr lang="en-US" sz="1100" dirty="0">
                <a:solidFill>
                  <a:srgbClr val="CADCFC"/>
                </a:solidFill>
                <a:latin typeface="Poppins" panose="00000500000000000000" pitchFamily="2" charset="0"/>
                <a:ea typeface="Calibri" pitchFamily="34" charset="-122"/>
                <a:cs typeface="Poppins" panose="00000500000000000000" pitchFamily="2" charset="0"/>
              </a:rPr>
              <a:t>Integration through the reserved SENSOR_DEGRADED_MODE state is identified as future work.</a:t>
            </a:r>
            <a:endParaRPr lang="en-US" sz="11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544770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F6879-4331-79A7-36B0-A69053B85109}"/>
            </a:ext>
          </a:extLst>
        </p:cNvPr>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9B019C03-3210-0142-DBDE-96F6C5BFD774}"/>
              </a:ext>
            </a:extLst>
          </p:cNvPr>
          <p:cNvSpPr/>
          <p:nvPr/>
        </p:nvSpPr>
        <p:spPr>
          <a:xfrm>
            <a:off x="591336" y="5380262"/>
            <a:ext cx="10982144" cy="888521"/>
          </a:xfrm>
          <a:prstGeom prst="roundRect">
            <a:avLst/>
          </a:prstGeom>
          <a:solidFill>
            <a:schemeClr val="tx2">
              <a:lumMod val="10000"/>
              <a:lumOff val="9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sp>
        <p:nvSpPr>
          <p:cNvPr id="28" name="Rectangle: Rounded Corners 27">
            <a:extLst>
              <a:ext uri="{FF2B5EF4-FFF2-40B4-BE49-F238E27FC236}">
                <a16:creationId xmlns:a16="http://schemas.microsoft.com/office/drawing/2014/main" id="{09D8F293-3A95-92E8-9457-DFFBB3D351E7}"/>
              </a:ext>
            </a:extLst>
          </p:cNvPr>
          <p:cNvSpPr/>
          <p:nvPr/>
        </p:nvSpPr>
        <p:spPr>
          <a:xfrm>
            <a:off x="604927" y="4339418"/>
            <a:ext cx="10982144" cy="888521"/>
          </a:xfrm>
          <a:prstGeom prst="roundRect">
            <a:avLst/>
          </a:prstGeom>
          <a:solidFill>
            <a:schemeClr val="tx2">
              <a:lumMod val="10000"/>
              <a:lumOff val="9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sp>
        <p:nvSpPr>
          <p:cNvPr id="29" name="TextBox 28">
            <a:extLst>
              <a:ext uri="{FF2B5EF4-FFF2-40B4-BE49-F238E27FC236}">
                <a16:creationId xmlns:a16="http://schemas.microsoft.com/office/drawing/2014/main" id="{310C99F0-DCEB-3022-D0E5-47F8492025A9}"/>
              </a:ext>
            </a:extLst>
          </p:cNvPr>
          <p:cNvSpPr txBox="1"/>
          <p:nvPr/>
        </p:nvSpPr>
        <p:spPr>
          <a:xfrm>
            <a:off x="685127" y="4362908"/>
            <a:ext cx="3079052" cy="276999"/>
          </a:xfrm>
          <a:prstGeom prst="rect">
            <a:avLst/>
          </a:prstGeom>
          <a:noFill/>
        </p:spPr>
        <p:txBody>
          <a:bodyPr wrap="square" rtlCol="0">
            <a:spAutoFit/>
          </a:bodyPr>
          <a:lstStyle/>
          <a:p>
            <a:r>
              <a:rPr lang="it-IT" sz="1200" b="1" dirty="0">
                <a:solidFill>
                  <a:schemeClr val="accent1">
                    <a:lumMod val="50000"/>
                  </a:schemeClr>
                </a:solidFill>
                <a:latin typeface="Poppins" panose="00000500000000000000" pitchFamily="2" charset="0"/>
                <a:cs typeface="Poppins" panose="00000500000000000000" pitchFamily="2" charset="0"/>
              </a:rPr>
              <a:t>Momentum observer</a:t>
            </a:r>
            <a:endParaRPr lang="it-IT" sz="1000" dirty="0">
              <a:solidFill>
                <a:schemeClr val="accent1">
                  <a:lumMod val="50000"/>
                </a:schemeClr>
              </a:solidFill>
              <a:latin typeface="Poppins" panose="00000500000000000000" pitchFamily="2" charset="0"/>
              <a:cs typeface="Poppins" panose="00000500000000000000" pitchFamily="2" charset="0"/>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AFBB2D2-84A8-83C4-0BA0-9C9FFFE16A5B}"/>
                  </a:ext>
                </a:extLst>
              </p:cNvPr>
              <p:cNvSpPr txBox="1"/>
              <p:nvPr/>
            </p:nvSpPr>
            <p:spPr>
              <a:xfrm>
                <a:off x="872968" y="4532686"/>
                <a:ext cx="2255346" cy="271869"/>
              </a:xfrm>
              <a:prstGeom prst="rect">
                <a:avLst/>
              </a:prstGeom>
              <a:noFill/>
            </p:spPr>
            <p:txBody>
              <a:bodyPr wrap="square">
                <a:spAutoFit/>
              </a:bodyPr>
              <a:lstStyle/>
              <a:p>
                <a:pPr>
                  <a:lnSpc>
                    <a:spcPts val="1425"/>
                  </a:lnSpc>
                </a:pPr>
                <a14:m>
                  <m:oMathPara xmlns:m="http://schemas.openxmlformats.org/officeDocument/2006/math">
                    <m:oMathParaPr>
                      <m:jc m:val="centerGroup"/>
                    </m:oMathParaPr>
                    <m:oMath xmlns:m="http://schemas.openxmlformats.org/officeDocument/2006/math">
                      <m:sSub>
                        <m:sSubPr>
                          <m:ctrlPr>
                            <a:rPr lang="it-IT" sz="1100" i="1" dirty="0" smtClean="0">
                              <a:solidFill>
                                <a:schemeClr val="tx2">
                                  <a:lumMod val="90000"/>
                                  <a:lumOff val="10000"/>
                                </a:schemeClr>
                              </a:solidFill>
                              <a:latin typeface="Cambria Math" panose="02040503050406030204" pitchFamily="18" charset="0"/>
                            </a:rPr>
                          </m:ctrlPr>
                        </m:sSubPr>
                        <m:e>
                          <m:r>
                            <a:rPr lang="it-IT" sz="1100" i="1" dirty="0" smtClean="0">
                              <a:solidFill>
                                <a:schemeClr val="tx2">
                                  <a:lumMod val="90000"/>
                                  <a:lumOff val="10000"/>
                                </a:schemeClr>
                              </a:solidFill>
                              <a:latin typeface="Cambria Math" panose="02040503050406030204" pitchFamily="18" charset="0"/>
                            </a:rPr>
                            <m:t>𝑟</m:t>
                          </m:r>
                        </m:e>
                        <m:sub>
                          <m:r>
                            <a:rPr lang="it-IT" sz="1100" i="1" dirty="0" smtClean="0">
                              <a:solidFill>
                                <a:schemeClr val="tx2">
                                  <a:lumMod val="90000"/>
                                  <a:lumOff val="10000"/>
                                </a:schemeClr>
                              </a:solidFill>
                              <a:latin typeface="Cambria Math" panose="02040503050406030204" pitchFamily="18" charset="0"/>
                            </a:rPr>
                            <m:t>𝑚𝑜𝑚</m:t>
                          </m:r>
                        </m:sub>
                      </m:sSub>
                      <m:r>
                        <a:rPr lang="it-IT" sz="1100" i="1" dirty="0">
                          <a:solidFill>
                            <a:schemeClr val="tx2">
                              <a:lumMod val="90000"/>
                              <a:lumOff val="10000"/>
                            </a:schemeClr>
                          </a:solidFill>
                          <a:latin typeface="Cambria Math" panose="02040503050406030204" pitchFamily="18" charset="0"/>
                        </a:rPr>
                        <m:t>=</m:t>
                      </m:r>
                      <m:sSub>
                        <m:sSubPr>
                          <m:ctrlPr>
                            <a:rPr lang="it-IT" sz="1100" i="1" dirty="0" smtClean="0">
                              <a:solidFill>
                                <a:schemeClr val="tx2">
                                  <a:lumMod val="90000"/>
                                  <a:lumOff val="10000"/>
                                </a:schemeClr>
                              </a:solidFill>
                              <a:latin typeface="Cambria Math" panose="02040503050406030204" pitchFamily="18" charset="0"/>
                            </a:rPr>
                          </m:ctrlPr>
                        </m:sSubPr>
                        <m:e>
                          <m:r>
                            <a:rPr lang="it-IT" sz="1100" i="1" dirty="0">
                              <a:solidFill>
                                <a:schemeClr val="tx2">
                                  <a:lumMod val="90000"/>
                                  <a:lumOff val="10000"/>
                                </a:schemeClr>
                              </a:solidFill>
                              <a:latin typeface="Cambria Math" panose="02040503050406030204" pitchFamily="18" charset="0"/>
                            </a:rPr>
                            <m:t>𝐾</m:t>
                          </m:r>
                        </m:e>
                        <m:sub>
                          <m:r>
                            <a:rPr lang="it-IT" sz="1100" i="1" dirty="0">
                              <a:solidFill>
                                <a:schemeClr val="tx2">
                                  <a:lumMod val="90000"/>
                                  <a:lumOff val="10000"/>
                                </a:schemeClr>
                              </a:solidFill>
                              <a:latin typeface="Cambria Math" panose="02040503050406030204" pitchFamily="18" charset="0"/>
                            </a:rPr>
                            <m:t>𝑚𝑜𝑚</m:t>
                          </m:r>
                        </m:sub>
                      </m:sSub>
                      <m:r>
                        <a:rPr lang="it-IT" sz="1100" i="1" dirty="0">
                          <a:solidFill>
                            <a:schemeClr val="tx2">
                              <a:lumMod val="90000"/>
                              <a:lumOff val="10000"/>
                            </a:schemeClr>
                          </a:solidFill>
                          <a:latin typeface="Cambria Math" panose="02040503050406030204" pitchFamily="18" charset="0"/>
                        </a:rPr>
                        <m:t>⋅</m:t>
                      </m:r>
                      <m:d>
                        <m:dPr>
                          <m:ctrlPr>
                            <a:rPr lang="it-IT" sz="1100" i="1" dirty="0">
                              <a:solidFill>
                                <a:schemeClr val="tx2">
                                  <a:lumMod val="90000"/>
                                  <a:lumOff val="10000"/>
                                </a:schemeClr>
                              </a:solidFill>
                              <a:latin typeface="Cambria Math" panose="02040503050406030204" pitchFamily="18" charset="0"/>
                            </a:rPr>
                          </m:ctrlPr>
                        </m:dPr>
                        <m:e>
                          <m:r>
                            <a:rPr lang="it-IT" sz="1100" i="1" dirty="0">
                              <a:solidFill>
                                <a:schemeClr val="tx2">
                                  <a:lumMod val="90000"/>
                                  <a:lumOff val="10000"/>
                                </a:schemeClr>
                              </a:solidFill>
                              <a:latin typeface="Cambria Math" panose="02040503050406030204" pitchFamily="18" charset="0"/>
                            </a:rPr>
                            <m:t>𝑝</m:t>
                          </m:r>
                          <m:r>
                            <a:rPr lang="it-IT" sz="1100" i="1" dirty="0">
                              <a:solidFill>
                                <a:schemeClr val="tx2">
                                  <a:lumMod val="90000"/>
                                  <a:lumOff val="10000"/>
                                </a:schemeClr>
                              </a:solidFill>
                              <a:latin typeface="Cambria Math" panose="02040503050406030204" pitchFamily="18" charset="0"/>
                            </a:rPr>
                            <m:t>−</m:t>
                          </m:r>
                          <m:r>
                            <a:rPr lang="it-IT" sz="1100" i="1" dirty="0">
                              <a:solidFill>
                                <a:schemeClr val="tx2">
                                  <a:lumMod val="90000"/>
                                  <a:lumOff val="10000"/>
                                </a:schemeClr>
                              </a:solidFill>
                              <a:latin typeface="Cambria Math" panose="02040503050406030204" pitchFamily="18" charset="0"/>
                            </a:rPr>
                            <m:t>𝜎</m:t>
                          </m:r>
                        </m:e>
                      </m:d>
                      <m:r>
                        <a:rPr lang="it-IT" sz="1100" b="0" i="1" dirty="0" smtClean="0">
                          <a:solidFill>
                            <a:schemeClr val="tx2">
                              <a:lumMod val="90000"/>
                              <a:lumOff val="10000"/>
                            </a:schemeClr>
                          </a:solidFill>
                          <a:latin typeface="Cambria Math" panose="02040503050406030204" pitchFamily="18" charset="0"/>
                        </a:rPr>
                        <m:t>,</m:t>
                      </m:r>
                      <m:r>
                        <a:rPr lang="it-IT" sz="1100" i="1" dirty="0">
                          <a:solidFill>
                            <a:schemeClr val="tx2">
                              <a:lumMod val="90000"/>
                              <a:lumOff val="10000"/>
                            </a:schemeClr>
                          </a:solidFill>
                          <a:latin typeface="Cambria Math" panose="02040503050406030204" pitchFamily="18" charset="0"/>
                        </a:rPr>
                        <m:t>𝑝</m:t>
                      </m:r>
                      <m:r>
                        <a:rPr lang="it-IT" sz="1100" b="0" i="1" dirty="0" smtClean="0">
                          <a:solidFill>
                            <a:schemeClr val="tx2">
                              <a:lumMod val="90000"/>
                              <a:lumOff val="10000"/>
                            </a:schemeClr>
                          </a:solidFill>
                          <a:latin typeface="Cambria Math" panose="02040503050406030204" pitchFamily="18" charset="0"/>
                        </a:rPr>
                        <m:t> = </m:t>
                      </m:r>
                      <m:r>
                        <a:rPr lang="it-IT" sz="1100" b="0" i="1" dirty="0" smtClean="0">
                          <a:solidFill>
                            <a:schemeClr val="tx2">
                              <a:lumMod val="90000"/>
                              <a:lumOff val="10000"/>
                            </a:schemeClr>
                          </a:solidFill>
                          <a:latin typeface="Cambria Math" panose="02040503050406030204" pitchFamily="18" charset="0"/>
                        </a:rPr>
                        <m:t>𝑀</m:t>
                      </m:r>
                      <m:r>
                        <a:rPr lang="it-IT" sz="1100" b="0" i="1" dirty="0" smtClean="0">
                          <a:solidFill>
                            <a:schemeClr val="tx2">
                              <a:lumMod val="90000"/>
                              <a:lumOff val="10000"/>
                            </a:schemeClr>
                          </a:solidFill>
                          <a:latin typeface="Cambria Math" panose="02040503050406030204" pitchFamily="18" charset="0"/>
                        </a:rPr>
                        <m:t> </m:t>
                      </m:r>
                      <m:acc>
                        <m:accPr>
                          <m:chr m:val="̇"/>
                          <m:ctrlPr>
                            <a:rPr lang="it-IT" sz="1100" b="0" i="1" dirty="0" smtClean="0">
                              <a:solidFill>
                                <a:schemeClr val="tx2">
                                  <a:lumMod val="90000"/>
                                  <a:lumOff val="10000"/>
                                </a:schemeClr>
                              </a:solidFill>
                              <a:latin typeface="Cambria Math" panose="02040503050406030204" pitchFamily="18" charset="0"/>
                            </a:rPr>
                          </m:ctrlPr>
                        </m:accPr>
                        <m:e>
                          <m:r>
                            <a:rPr lang="it-IT" sz="1100" b="0" i="1" dirty="0" smtClean="0">
                              <a:solidFill>
                                <a:schemeClr val="tx2">
                                  <a:lumMod val="90000"/>
                                  <a:lumOff val="10000"/>
                                </a:schemeClr>
                              </a:solidFill>
                              <a:latin typeface="Cambria Math" panose="02040503050406030204" pitchFamily="18" charset="0"/>
                            </a:rPr>
                            <m:t>𝜃</m:t>
                          </m:r>
                        </m:e>
                      </m:acc>
                    </m:oMath>
                  </m:oMathPara>
                </a14:m>
                <a:endParaRPr lang="it-IT" sz="1100" i="1" dirty="0">
                  <a:solidFill>
                    <a:schemeClr val="tx2">
                      <a:lumMod val="90000"/>
                      <a:lumOff val="10000"/>
                    </a:schemeClr>
                  </a:solidFill>
                </a:endParaRPr>
              </a:p>
            </p:txBody>
          </p:sp>
        </mc:Choice>
        <mc:Fallback xmlns="">
          <p:sp>
            <p:nvSpPr>
              <p:cNvPr id="30" name="TextBox 29">
                <a:extLst>
                  <a:ext uri="{FF2B5EF4-FFF2-40B4-BE49-F238E27FC236}">
                    <a16:creationId xmlns:a16="http://schemas.microsoft.com/office/drawing/2014/main" id="{AAFBB2D2-84A8-83C4-0BA0-9C9FFFE16A5B}"/>
                  </a:ext>
                </a:extLst>
              </p:cNvPr>
              <p:cNvSpPr txBox="1">
                <a:spLocks noRot="1" noChangeAspect="1" noMove="1" noResize="1" noEditPoints="1" noAdjustHandles="1" noChangeArrowheads="1" noChangeShapeType="1" noTextEdit="1"/>
              </p:cNvSpPr>
              <p:nvPr/>
            </p:nvSpPr>
            <p:spPr>
              <a:xfrm>
                <a:off x="872968" y="4532686"/>
                <a:ext cx="2255346" cy="271869"/>
              </a:xfrm>
              <a:prstGeom prst="rect">
                <a:avLst/>
              </a:prstGeom>
              <a:blipFill>
                <a:blip r:embed="rId2"/>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AD8462A-E9E4-EBEC-F527-31155AEB3980}"/>
                  </a:ext>
                </a:extLst>
              </p:cNvPr>
              <p:cNvSpPr txBox="1"/>
              <p:nvPr/>
            </p:nvSpPr>
            <p:spPr>
              <a:xfrm>
                <a:off x="685127" y="4792295"/>
                <a:ext cx="3891642" cy="353815"/>
              </a:xfrm>
              <a:prstGeom prst="rect">
                <a:avLst/>
              </a:prstGeom>
              <a:noFill/>
            </p:spPr>
            <p:txBody>
              <a:bodyPr wrap="square">
                <a:spAutoFit/>
              </a:bodyPr>
              <a:lstStyle/>
              <a:p>
                <a:r>
                  <a:rPr lang="it-IT" sz="800" dirty="0">
                    <a:solidFill>
                      <a:schemeClr val="tx2">
                        <a:lumMod val="90000"/>
                        <a:lumOff val="10000"/>
                      </a:schemeClr>
                    </a:solidFill>
                    <a:latin typeface="Poppins" panose="00000500000000000000" pitchFamily="2" charset="0"/>
                    <a:cs typeface="Poppins" panose="00000500000000000000" pitchFamily="2" charset="0"/>
                  </a:rPr>
                  <a:t>Tracks generalized momentum integral </a:t>
                </a:r>
                <a:r>
                  <a:rPr lang="el-GR" sz="800" dirty="0">
                    <a:solidFill>
                      <a:schemeClr val="tx2">
                        <a:lumMod val="90000"/>
                        <a:lumOff val="10000"/>
                      </a:schemeClr>
                    </a:solidFill>
                    <a:cs typeface="Poppins" panose="00000500000000000000" pitchFamily="2" charset="0"/>
                  </a:rPr>
                  <a:t>σ. </a:t>
                </a:r>
                <a:r>
                  <a:rPr lang="it-IT" sz="800" dirty="0">
                    <a:solidFill>
                      <a:schemeClr val="tx2">
                        <a:lumMod val="90000"/>
                        <a:lumOff val="10000"/>
                      </a:schemeClr>
                    </a:solidFill>
                    <a:latin typeface="Poppins" panose="00000500000000000000" pitchFamily="2" charset="0"/>
                    <a:cs typeface="Poppins" panose="00000500000000000000" pitchFamily="2" charset="0"/>
                  </a:rPr>
                  <a:t>Residual converges to torque discrepancy without computing noisy </a:t>
                </a:r>
                <a14:m>
                  <m:oMath xmlns:m="http://schemas.openxmlformats.org/officeDocument/2006/math">
                    <m:acc>
                      <m:accPr>
                        <m:chr m:val="̈"/>
                        <m:ctrlPr>
                          <a:rPr lang="it-IT" sz="800" i="1" smtClean="0">
                            <a:solidFill>
                              <a:schemeClr val="tx2">
                                <a:lumMod val="90000"/>
                                <a:lumOff val="10000"/>
                              </a:schemeClr>
                            </a:solidFill>
                            <a:latin typeface="Cambria Math" panose="02040503050406030204" pitchFamily="18" charset="0"/>
                            <a:cs typeface="Poppins" panose="00000500000000000000" pitchFamily="2" charset="0"/>
                          </a:rPr>
                        </m:ctrlPr>
                      </m:accPr>
                      <m:e>
                        <m:r>
                          <a:rPr lang="it-IT" sz="800" b="0" i="1" smtClean="0">
                            <a:solidFill>
                              <a:schemeClr val="tx2">
                                <a:lumMod val="90000"/>
                                <a:lumOff val="10000"/>
                              </a:schemeClr>
                            </a:solidFill>
                            <a:latin typeface="Cambria Math" panose="02040503050406030204" pitchFamily="18" charset="0"/>
                            <a:cs typeface="Poppins" panose="00000500000000000000" pitchFamily="2" charset="0"/>
                          </a:rPr>
                          <m:t>𝜃</m:t>
                        </m:r>
                      </m:e>
                    </m:acc>
                  </m:oMath>
                </a14:m>
                <a:r>
                  <a:rPr lang="it-IT" sz="800" dirty="0">
                    <a:solidFill>
                      <a:schemeClr val="tx2">
                        <a:lumMod val="90000"/>
                        <a:lumOff val="10000"/>
                      </a:schemeClr>
                    </a:solidFill>
                    <a:latin typeface="Poppins" panose="00000500000000000000" pitchFamily="2" charset="0"/>
                    <a:cs typeface="Poppins" panose="00000500000000000000" pitchFamily="2" charset="0"/>
                  </a:rPr>
                  <a:t>.</a:t>
                </a:r>
              </a:p>
            </p:txBody>
          </p:sp>
        </mc:Choice>
        <mc:Fallback xmlns="">
          <p:sp>
            <p:nvSpPr>
              <p:cNvPr id="31" name="TextBox 30">
                <a:extLst>
                  <a:ext uri="{FF2B5EF4-FFF2-40B4-BE49-F238E27FC236}">
                    <a16:creationId xmlns:a16="http://schemas.microsoft.com/office/drawing/2014/main" id="{2AD8462A-E9E4-EBEC-F527-31155AEB3980}"/>
                  </a:ext>
                </a:extLst>
              </p:cNvPr>
              <p:cNvSpPr txBox="1">
                <a:spLocks noRot="1" noChangeAspect="1" noMove="1" noResize="1" noEditPoints="1" noAdjustHandles="1" noChangeArrowheads="1" noChangeShapeType="1" noTextEdit="1"/>
              </p:cNvSpPr>
              <p:nvPr/>
            </p:nvSpPr>
            <p:spPr>
              <a:xfrm>
                <a:off x="685127" y="4792295"/>
                <a:ext cx="3891642" cy="353815"/>
              </a:xfrm>
              <a:prstGeom prst="rect">
                <a:avLst/>
              </a:prstGeom>
              <a:blipFill>
                <a:blip r:embed="rId3"/>
                <a:stretch>
                  <a:fillRect b="-1724"/>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9865DA9-4C8C-1B75-0CD3-6137445F95E5}"/>
                  </a:ext>
                </a:extLst>
              </p:cNvPr>
              <p:cNvSpPr txBox="1"/>
              <p:nvPr/>
            </p:nvSpPr>
            <p:spPr>
              <a:xfrm>
                <a:off x="9441003" y="4403258"/>
                <a:ext cx="2144100" cy="954107"/>
              </a:xfrm>
              <a:prstGeom prst="rect">
                <a:avLst/>
              </a:prstGeom>
              <a:noFill/>
            </p:spPr>
            <p:txBody>
              <a:bodyPr wrap="square">
                <a:spAutoFit/>
              </a:bodyPr>
              <a:lstStyle/>
              <a:p>
                <a:r>
                  <a:rPr lang="en-US" sz="800" dirty="0">
                    <a:solidFill>
                      <a:schemeClr val="tx2">
                        <a:lumMod val="90000"/>
                        <a:lumOff val="10000"/>
                      </a:schemeClr>
                    </a:solidFill>
                    <a:latin typeface="Poppins" panose="00000500000000000000" pitchFamily="2" charset="0"/>
                    <a:cs typeface="Poppins" panose="00000500000000000000" pitchFamily="2" charset="0"/>
                  </a:rPr>
                  <a:t>Fast step response (~40–60 </a:t>
                </a:r>
                <a:r>
                  <a:rPr lang="en-US" sz="800" dirty="0" err="1">
                    <a:solidFill>
                      <a:schemeClr val="tx2">
                        <a:lumMod val="90000"/>
                        <a:lumOff val="10000"/>
                      </a:schemeClr>
                    </a:solidFill>
                    <a:latin typeface="Poppins" panose="00000500000000000000" pitchFamily="2" charset="0"/>
                    <a:cs typeface="Poppins" panose="00000500000000000000" pitchFamily="2" charset="0"/>
                  </a:rPr>
                  <a:t>ms</a:t>
                </a:r>
                <a:r>
                  <a:rPr lang="en-US" sz="800" dirty="0">
                    <a:solidFill>
                      <a:schemeClr val="tx2">
                        <a:lumMod val="90000"/>
                        <a:lumOff val="10000"/>
                      </a:schemeClr>
                    </a:solidFill>
                    <a:latin typeface="Poppins" panose="00000500000000000000" pitchFamily="2" charset="0"/>
                    <a:cs typeface="Poppins" panose="00000500000000000000" pitchFamily="2" charset="0"/>
                  </a:rPr>
                  <a:t>) clearly tracking the injected offset. Primary detector for force-channel faults</a:t>
                </a:r>
              </a:p>
              <a:p>
                <a:r>
                  <a:rPr lang="en-US" sz="800" i="1" dirty="0">
                    <a:solidFill>
                      <a:schemeClr val="tx2">
                        <a:lumMod val="90000"/>
                        <a:lumOff val="10000"/>
                      </a:schemeClr>
                    </a:solidFill>
                    <a:latin typeface="Poppins" panose="00000500000000000000" pitchFamily="2" charset="0"/>
                    <a:cs typeface="Poppins" panose="00000500000000000000" pitchFamily="2" charset="0"/>
                  </a:rPr>
                  <a:t>Primary target: </a:t>
                </a:r>
                <a14:m>
                  <m:oMath xmlns:m="http://schemas.openxmlformats.org/officeDocument/2006/math">
                    <m:sSub>
                      <m:sSubPr>
                        <m:ctrlPr>
                          <a:rPr lang="it-IT" sz="800" b="0" i="1" smtClean="0">
                            <a:solidFill>
                              <a:schemeClr val="tx2">
                                <a:lumMod val="90000"/>
                                <a:lumOff val="10000"/>
                              </a:schemeClr>
                            </a:solidFill>
                            <a:latin typeface="Cambria Math" panose="02040503050406030204" pitchFamily="18" charset="0"/>
                            <a:cs typeface="Poppins" panose="00000500000000000000" pitchFamily="2" charset="0"/>
                          </a:rPr>
                        </m:ctrlPr>
                      </m:sSubPr>
                      <m:e>
                        <m:r>
                          <a:rPr lang="it-IT" sz="800" b="0" i="1" smtClean="0">
                            <a:solidFill>
                              <a:schemeClr val="tx2">
                                <a:lumMod val="90000"/>
                                <a:lumOff val="10000"/>
                              </a:schemeClr>
                            </a:solidFill>
                            <a:latin typeface="Cambria Math" panose="02040503050406030204" pitchFamily="18" charset="0"/>
                            <a:cs typeface="Poppins" panose="00000500000000000000" pitchFamily="2" charset="0"/>
                          </a:rPr>
                          <m:t>𝜏</m:t>
                        </m:r>
                      </m:e>
                      <m:sub>
                        <m:r>
                          <a:rPr lang="it-IT" sz="800" b="0" i="1" smtClean="0">
                            <a:solidFill>
                              <a:schemeClr val="tx2">
                                <a:lumMod val="90000"/>
                                <a:lumOff val="10000"/>
                              </a:schemeClr>
                            </a:solidFill>
                            <a:latin typeface="Cambria Math" panose="02040503050406030204" pitchFamily="18" charset="0"/>
                            <a:cs typeface="Poppins" panose="00000500000000000000" pitchFamily="2" charset="0"/>
                          </a:rPr>
                          <m:t>𝑒𝑥𝑡</m:t>
                        </m:r>
                      </m:sub>
                    </m:sSub>
                  </m:oMath>
                </a14:m>
                <a:r>
                  <a:rPr lang="en-US" sz="800" i="1" dirty="0">
                    <a:solidFill>
                      <a:schemeClr val="tx2">
                        <a:lumMod val="90000"/>
                        <a:lumOff val="10000"/>
                      </a:schemeClr>
                    </a:solidFill>
                    <a:latin typeface="Poppins" panose="00000500000000000000" pitchFamily="2" charset="0"/>
                    <a:cs typeface="Poppins" panose="00000500000000000000" pitchFamily="2" charset="0"/>
                  </a:rPr>
                  <a:t> and torque faults</a:t>
                </a:r>
              </a:p>
              <a:p>
                <a:br>
                  <a:rPr lang="en-US" sz="800" dirty="0"/>
                </a:br>
                <a:endParaRPr lang="it-IT" sz="800" dirty="0">
                  <a:solidFill>
                    <a:schemeClr val="tx2">
                      <a:lumMod val="90000"/>
                      <a:lumOff val="10000"/>
                    </a:schemeClr>
                  </a:solidFill>
                  <a:latin typeface="Poppins" panose="00000500000000000000" pitchFamily="2" charset="0"/>
                  <a:cs typeface="Poppins" panose="00000500000000000000" pitchFamily="2" charset="0"/>
                </a:endParaRPr>
              </a:p>
            </p:txBody>
          </p:sp>
        </mc:Choice>
        <mc:Fallback xmlns="">
          <p:sp>
            <p:nvSpPr>
              <p:cNvPr id="32" name="TextBox 31">
                <a:extLst>
                  <a:ext uri="{FF2B5EF4-FFF2-40B4-BE49-F238E27FC236}">
                    <a16:creationId xmlns:a16="http://schemas.microsoft.com/office/drawing/2014/main" id="{C9865DA9-4C8C-1B75-0CD3-6137445F95E5}"/>
                  </a:ext>
                </a:extLst>
              </p:cNvPr>
              <p:cNvSpPr txBox="1">
                <a:spLocks noRot="1" noChangeAspect="1" noMove="1" noResize="1" noEditPoints="1" noAdjustHandles="1" noChangeArrowheads="1" noChangeShapeType="1" noTextEdit="1"/>
              </p:cNvSpPr>
              <p:nvPr/>
            </p:nvSpPr>
            <p:spPr>
              <a:xfrm>
                <a:off x="9441003" y="4403258"/>
                <a:ext cx="2144100" cy="954107"/>
              </a:xfrm>
              <a:prstGeom prst="rect">
                <a:avLst/>
              </a:prstGeom>
              <a:blipFill>
                <a:blip r:embed="rId4"/>
                <a:stretch>
                  <a:fillRect/>
                </a:stretch>
              </a:blipFill>
            </p:spPr>
            <p:txBody>
              <a:bodyPr/>
              <a:lstStyle/>
              <a:p>
                <a:r>
                  <a:rPr lang="it-IT">
                    <a:noFill/>
                  </a:rPr>
                  <a:t> </a:t>
                </a:r>
              </a:p>
            </p:txBody>
          </p:sp>
        </mc:Fallback>
      </mc:AlternateContent>
      <p:sp>
        <p:nvSpPr>
          <p:cNvPr id="19" name="Rectangle: Rounded Corners 18">
            <a:extLst>
              <a:ext uri="{FF2B5EF4-FFF2-40B4-BE49-F238E27FC236}">
                <a16:creationId xmlns:a16="http://schemas.microsoft.com/office/drawing/2014/main" id="{2F1B499D-5C85-1ED7-A052-A555785E4A55}"/>
              </a:ext>
            </a:extLst>
          </p:cNvPr>
          <p:cNvSpPr/>
          <p:nvPr/>
        </p:nvSpPr>
        <p:spPr>
          <a:xfrm>
            <a:off x="604927" y="3282351"/>
            <a:ext cx="10982144" cy="888521"/>
          </a:xfrm>
          <a:prstGeom prst="roundRect">
            <a:avLst/>
          </a:prstGeom>
          <a:solidFill>
            <a:schemeClr val="tx2">
              <a:lumMod val="10000"/>
              <a:lumOff val="9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sp>
        <p:nvSpPr>
          <p:cNvPr id="20" name="TextBox 19">
            <a:extLst>
              <a:ext uri="{FF2B5EF4-FFF2-40B4-BE49-F238E27FC236}">
                <a16:creationId xmlns:a16="http://schemas.microsoft.com/office/drawing/2014/main" id="{35140D97-5FD3-4994-4562-516D86232E76}"/>
              </a:ext>
            </a:extLst>
          </p:cNvPr>
          <p:cNvSpPr txBox="1"/>
          <p:nvPr/>
        </p:nvSpPr>
        <p:spPr>
          <a:xfrm>
            <a:off x="650094" y="3310289"/>
            <a:ext cx="1903085" cy="276999"/>
          </a:xfrm>
          <a:prstGeom prst="rect">
            <a:avLst/>
          </a:prstGeom>
          <a:noFill/>
        </p:spPr>
        <p:txBody>
          <a:bodyPr wrap="none" rtlCol="0">
            <a:spAutoFit/>
          </a:bodyPr>
          <a:lstStyle/>
          <a:p>
            <a:r>
              <a:rPr lang="it-IT" sz="1200" b="1" dirty="0">
                <a:solidFill>
                  <a:schemeClr val="accent1">
                    <a:lumMod val="50000"/>
                  </a:schemeClr>
                </a:solidFill>
                <a:latin typeface="Poppins" panose="00000500000000000000" pitchFamily="2" charset="0"/>
                <a:cs typeface="Poppins" panose="00000500000000000000" pitchFamily="2" charset="0"/>
              </a:rPr>
              <a:t>Admittance inversion</a:t>
            </a:r>
            <a:endParaRPr lang="it-IT" sz="1000" dirty="0">
              <a:solidFill>
                <a:schemeClr val="accent1">
                  <a:lumMod val="50000"/>
                </a:schemeClr>
              </a:solidFill>
              <a:latin typeface="Poppins" panose="00000500000000000000" pitchFamily="2" charset="0"/>
              <a:cs typeface="Poppins" panose="00000500000000000000" pitchFamily="2" charset="0"/>
            </a:endParaRPr>
          </a:p>
        </p:txBody>
      </p:sp>
      <p:sp>
        <p:nvSpPr>
          <p:cNvPr id="22" name="TextBox 21">
            <a:extLst>
              <a:ext uri="{FF2B5EF4-FFF2-40B4-BE49-F238E27FC236}">
                <a16:creationId xmlns:a16="http://schemas.microsoft.com/office/drawing/2014/main" id="{567EB218-6B1D-F754-B739-253E0819BEA0}"/>
              </a:ext>
            </a:extLst>
          </p:cNvPr>
          <p:cNvSpPr txBox="1"/>
          <p:nvPr/>
        </p:nvSpPr>
        <p:spPr>
          <a:xfrm>
            <a:off x="685129" y="3713105"/>
            <a:ext cx="3891642" cy="461665"/>
          </a:xfrm>
          <a:prstGeom prst="rect">
            <a:avLst/>
          </a:prstGeom>
          <a:noFill/>
        </p:spPr>
        <p:txBody>
          <a:bodyPr wrap="square">
            <a:spAutoFit/>
          </a:bodyPr>
          <a:lstStyle/>
          <a:p>
            <a:r>
              <a:rPr lang="en-US" sz="800" b="0" i="0" u="none" strike="noStrike" dirty="0">
                <a:solidFill>
                  <a:schemeClr val="tx2">
                    <a:lumMod val="90000"/>
                    <a:lumOff val="10000"/>
                  </a:schemeClr>
                </a:solidFill>
                <a:effectLst/>
                <a:latin typeface="Poppins" panose="00000500000000000000" pitchFamily="2" charset="0"/>
                <a:cs typeface="Poppins" panose="00000500000000000000" pitchFamily="2" charset="0"/>
              </a:rPr>
              <a:t>Compares measured position to model prediction. Slow for force-channel faults (~1–1.5 s): effect must propagate through admittance → tracking loop.</a:t>
            </a:r>
            <a:endParaRPr lang="it-IT"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3" name="TextBox 22">
            <a:extLst>
              <a:ext uri="{FF2B5EF4-FFF2-40B4-BE49-F238E27FC236}">
                <a16:creationId xmlns:a16="http://schemas.microsoft.com/office/drawing/2014/main" id="{CBDBDF53-1DCD-B43E-4876-9F9CB85E38DD}"/>
              </a:ext>
            </a:extLst>
          </p:cNvPr>
          <p:cNvSpPr txBox="1"/>
          <p:nvPr/>
        </p:nvSpPr>
        <p:spPr>
          <a:xfrm>
            <a:off x="9493050" y="3392394"/>
            <a:ext cx="1910043" cy="969496"/>
          </a:xfrm>
          <a:prstGeom prst="rect">
            <a:avLst/>
          </a:prstGeom>
          <a:noFill/>
        </p:spPr>
        <p:txBody>
          <a:bodyPr wrap="square">
            <a:spAutoFit/>
          </a:bodyPr>
          <a:lstStyle/>
          <a:p>
            <a:r>
              <a:rPr lang="en-US" sz="800" dirty="0">
                <a:solidFill>
                  <a:schemeClr val="tx2">
                    <a:lumMod val="90000"/>
                    <a:lumOff val="10000"/>
                  </a:schemeClr>
                </a:solidFill>
                <a:latin typeface="Poppins" panose="00000500000000000000" pitchFamily="2" charset="0"/>
                <a:cs typeface="Poppins" panose="00000500000000000000" pitchFamily="2" charset="0"/>
              </a:rPr>
              <a:t>Flat (zero) throughout — observer is </a:t>
            </a:r>
            <a:r>
              <a:rPr lang="en-US" sz="800" b="1" dirty="0">
                <a:solidFill>
                  <a:schemeClr val="tx2">
                    <a:lumMod val="90000"/>
                    <a:lumOff val="10000"/>
                  </a:schemeClr>
                </a:solidFill>
                <a:latin typeface="Poppins" panose="00000500000000000000" pitchFamily="2" charset="0"/>
                <a:cs typeface="Poppins" panose="00000500000000000000" pitchFamily="2" charset="0"/>
              </a:rPr>
              <a:t>invalidated</a:t>
            </a:r>
            <a:r>
              <a:rPr lang="en-US" sz="800" dirty="0">
                <a:solidFill>
                  <a:schemeClr val="tx2">
                    <a:lumMod val="90000"/>
                    <a:lumOff val="10000"/>
                  </a:schemeClr>
                </a:solidFill>
                <a:latin typeface="Poppins" panose="00000500000000000000" pitchFamily="2" charset="0"/>
                <a:cs typeface="Poppins" panose="00000500000000000000" pitchFamily="2" charset="0"/>
              </a:rPr>
              <a:t> because the admittance reference is saturated during the experiment.</a:t>
            </a:r>
          </a:p>
          <a:p>
            <a:r>
              <a:rPr lang="en-US" sz="900" i="1" dirty="0">
                <a:solidFill>
                  <a:schemeClr val="bg2">
                    <a:lumMod val="25000"/>
                  </a:schemeClr>
                </a:solidFill>
              </a:rPr>
              <a:t>Valid only when ref is unsaturated</a:t>
            </a:r>
            <a:endParaRPr lang="en-US" sz="900" dirty="0">
              <a:solidFill>
                <a:schemeClr val="bg2">
                  <a:lumMod val="25000"/>
                </a:schemeClr>
              </a:solidFill>
            </a:endParaRPr>
          </a:p>
          <a:p>
            <a:br>
              <a:rPr lang="en-US" sz="800" dirty="0"/>
            </a:br>
            <a:endParaRPr lang="it-IT" sz="800" b="1"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4" name="Rectangle: Rounded Corners 3">
            <a:extLst>
              <a:ext uri="{FF2B5EF4-FFF2-40B4-BE49-F238E27FC236}">
                <a16:creationId xmlns:a16="http://schemas.microsoft.com/office/drawing/2014/main" id="{56A12A08-8C26-1F2A-E6F5-E1D714A87C57}"/>
              </a:ext>
            </a:extLst>
          </p:cNvPr>
          <p:cNvSpPr/>
          <p:nvPr/>
        </p:nvSpPr>
        <p:spPr>
          <a:xfrm>
            <a:off x="604929" y="2242868"/>
            <a:ext cx="10982144" cy="888521"/>
          </a:xfrm>
          <a:prstGeom prst="roundRect">
            <a:avLst/>
          </a:prstGeom>
          <a:solidFill>
            <a:schemeClr val="tx2">
              <a:lumMod val="10000"/>
              <a:lumOff val="9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solidFill>
                <a:schemeClr val="bg1">
                  <a:lumMod val="75000"/>
                </a:schemeClr>
              </a:solidFill>
            </a:endParaRPr>
          </a:p>
        </p:txBody>
      </p:sp>
      <p:sp>
        <p:nvSpPr>
          <p:cNvPr id="42" name="Google Shape;259;p29">
            <a:extLst>
              <a:ext uri="{FF2B5EF4-FFF2-40B4-BE49-F238E27FC236}">
                <a16:creationId xmlns:a16="http://schemas.microsoft.com/office/drawing/2014/main" id="{C1CB1483-B140-5FD8-707D-F8687A4E2521}"/>
              </a:ext>
            </a:extLst>
          </p:cNvPr>
          <p:cNvSpPr/>
          <p:nvPr/>
        </p:nvSpPr>
        <p:spPr>
          <a:xfrm>
            <a:off x="525933" y="1433398"/>
            <a:ext cx="6620760"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Sottotitolo 2">
            <a:extLst>
              <a:ext uri="{FF2B5EF4-FFF2-40B4-BE49-F238E27FC236}">
                <a16:creationId xmlns:a16="http://schemas.microsoft.com/office/drawing/2014/main" id="{12DEE5B3-1816-AAEA-957A-4950C052CE6E}"/>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BFA5EA31-2113-FB71-699B-F71EAE794D10}"/>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B4C1D4F8-C874-08E9-9C21-B92F8CF32B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95705DBC-286F-CDB0-43B5-8D99883E69DE}"/>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95705DBC-286F-CDB0-43B5-8D99883E69DE}"/>
                  </a:ext>
                </a:extLst>
              </p:cNvPr>
              <p:cNvPicPr/>
              <p:nvPr/>
            </p:nvPicPr>
            <p:blipFill>
              <a:blip r:embed="rId7"/>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10409B6E-0C96-2A53-014C-4B5E6AFE911B}"/>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10409B6E-0C96-2A53-014C-4B5E6AFE911B}"/>
                  </a:ext>
                </a:extLst>
              </p:cNvPr>
              <p:cNvPicPr/>
              <p:nvPr/>
            </p:nvPicPr>
            <p:blipFill>
              <a:blip r:embed="rId9"/>
              <a:stretch>
                <a:fillRect/>
              </a:stretch>
            </p:blipFill>
            <p:spPr>
              <a:xfrm>
                <a:off x="5259213" y="963076"/>
                <a:ext cx="1950120" cy="351561"/>
              </a:xfrm>
              <a:prstGeom prst="rect">
                <a:avLst/>
              </a:prstGeom>
            </p:spPr>
          </p:pic>
        </mc:Fallback>
      </mc:AlternateContent>
      <p:sp>
        <p:nvSpPr>
          <p:cNvPr id="15" name="Google Shape;244;p28">
            <a:extLst>
              <a:ext uri="{FF2B5EF4-FFF2-40B4-BE49-F238E27FC236}">
                <a16:creationId xmlns:a16="http://schemas.microsoft.com/office/drawing/2014/main" id="{BE68CA5D-B678-6E58-3A8B-40C864161CFD}"/>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Model-Based Fault Detection</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0C2A1BA2-4829-D02D-5962-8D4BA0CF693D}"/>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pic>
        <p:nvPicPr>
          <p:cNvPr id="7" name="Picture 6">
            <a:extLst>
              <a:ext uri="{FF2B5EF4-FFF2-40B4-BE49-F238E27FC236}">
                <a16:creationId xmlns:a16="http://schemas.microsoft.com/office/drawing/2014/main" id="{FA182A68-30A9-8AC7-B6BC-02B6954F31D0}"/>
              </a:ext>
            </a:extLst>
          </p:cNvPr>
          <p:cNvPicPr>
            <a:picLocks noChangeAspect="1"/>
          </p:cNvPicPr>
          <p:nvPr/>
        </p:nvPicPr>
        <p:blipFill>
          <a:blip r:embed="rId10"/>
          <a:stretch>
            <a:fillRect/>
          </a:stretch>
        </p:blipFill>
        <p:spPr>
          <a:xfrm>
            <a:off x="4576771" y="2116246"/>
            <a:ext cx="4864232" cy="4396581"/>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FD83990-5E96-2AB7-4A3B-87534F2F98EB}"/>
                  </a:ext>
                </a:extLst>
              </p:cNvPr>
              <p:cNvSpPr txBox="1"/>
              <p:nvPr/>
            </p:nvSpPr>
            <p:spPr>
              <a:xfrm>
                <a:off x="604929" y="1705798"/>
                <a:ext cx="7234146" cy="338554"/>
              </a:xfrm>
              <a:prstGeom prst="rect">
                <a:avLst/>
              </a:prstGeom>
              <a:noFill/>
            </p:spPr>
            <p:txBody>
              <a:bodyPr wrap="square">
                <a:spAutoFit/>
              </a:bodyPr>
              <a:lstStyle/>
              <a:p>
                <a:r>
                  <a:rPr lang="en-US" sz="1600" i="1" dirty="0">
                    <a:solidFill>
                      <a:srgbClr val="64748B"/>
                    </a:solidFill>
                    <a:latin typeface="Poppins" panose="00000500000000000000" pitchFamily="2" charset="0"/>
                    <a:ea typeface="Calibri" pitchFamily="34" charset="-122"/>
                    <a:cs typeface="Poppins" panose="00000500000000000000" pitchFamily="2" charset="0"/>
                  </a:rPr>
                  <a:t>Response to </a:t>
                </a:r>
                <a14:m>
                  <m:oMath xmlns:m="http://schemas.openxmlformats.org/officeDocument/2006/math">
                    <m:sSub>
                      <m:sSubPr>
                        <m:ctrlPr>
                          <a:rPr lang="it-IT" sz="1600" b="0" i="1" smtClean="0">
                            <a:solidFill>
                              <a:srgbClr val="64748B"/>
                            </a:solidFill>
                            <a:latin typeface="Cambria Math" panose="02040503050406030204" pitchFamily="18" charset="0"/>
                            <a:ea typeface="Calibri" pitchFamily="34" charset="-122"/>
                            <a:cs typeface="Poppins" panose="00000500000000000000" pitchFamily="2" charset="0"/>
                          </a:rPr>
                        </m:ctrlPr>
                      </m:sSubPr>
                      <m:e>
                        <m:r>
                          <a:rPr lang="it-IT" sz="1600" b="0" i="1" smtClean="0">
                            <a:solidFill>
                              <a:srgbClr val="64748B"/>
                            </a:solidFill>
                            <a:latin typeface="Cambria Math" panose="02040503050406030204" pitchFamily="18" charset="0"/>
                            <a:ea typeface="Calibri" pitchFamily="34" charset="-122"/>
                            <a:cs typeface="Poppins" panose="00000500000000000000" pitchFamily="2" charset="0"/>
                          </a:rPr>
                          <m:t>𝜏</m:t>
                        </m:r>
                      </m:e>
                      <m:sub>
                        <m:r>
                          <a:rPr lang="it-IT" sz="1600" b="0" i="1" smtClean="0">
                            <a:solidFill>
                              <a:srgbClr val="64748B"/>
                            </a:solidFill>
                            <a:latin typeface="Cambria Math" panose="02040503050406030204" pitchFamily="18" charset="0"/>
                            <a:ea typeface="Calibri" pitchFamily="34" charset="-122"/>
                            <a:cs typeface="Poppins" panose="00000500000000000000" pitchFamily="2" charset="0"/>
                          </a:rPr>
                          <m:t>𝑒𝑥𝑡</m:t>
                        </m:r>
                      </m:sub>
                    </m:sSub>
                  </m:oMath>
                </a14:m>
                <a:r>
                  <a:rPr lang="en-US" sz="1600" dirty="0">
                    <a:latin typeface="Poppins" panose="00000500000000000000" pitchFamily="2" charset="0"/>
                    <a:cs typeface="Poppins" panose="00000500000000000000" pitchFamily="2" charset="0"/>
                  </a:rPr>
                  <a:t> </a:t>
                </a:r>
                <a:r>
                  <a:rPr lang="en-US" sz="1600" i="1" dirty="0">
                    <a:solidFill>
                      <a:srgbClr val="64748B"/>
                    </a:solidFill>
                    <a:latin typeface="Poppins" panose="00000500000000000000" pitchFamily="2" charset="0"/>
                    <a:ea typeface="Calibri" pitchFamily="34" charset="-122"/>
                    <a:cs typeface="Poppins" panose="00000500000000000000" pitchFamily="2" charset="0"/>
                  </a:rPr>
                  <a:t>offset fault (User Force sensor)</a:t>
                </a:r>
                <a:r>
                  <a:rPr lang="en-US" sz="1600" dirty="0">
                    <a:latin typeface="Poppins" panose="00000500000000000000" pitchFamily="2" charset="0"/>
                    <a:cs typeface="Poppins" panose="00000500000000000000" pitchFamily="2" charset="0"/>
                  </a:rPr>
                  <a:t> </a:t>
                </a:r>
              </a:p>
            </p:txBody>
          </p:sp>
        </mc:Choice>
        <mc:Fallback xmlns="">
          <p:sp>
            <p:nvSpPr>
              <p:cNvPr id="2" name="TextBox 1">
                <a:extLst>
                  <a:ext uri="{FF2B5EF4-FFF2-40B4-BE49-F238E27FC236}">
                    <a16:creationId xmlns:a16="http://schemas.microsoft.com/office/drawing/2014/main" id="{3FD83990-5E96-2AB7-4A3B-87534F2F98EB}"/>
                  </a:ext>
                </a:extLst>
              </p:cNvPr>
              <p:cNvSpPr txBox="1">
                <a:spLocks noRot="1" noChangeAspect="1" noMove="1" noResize="1" noEditPoints="1" noAdjustHandles="1" noChangeArrowheads="1" noChangeShapeType="1" noTextEdit="1"/>
              </p:cNvSpPr>
              <p:nvPr/>
            </p:nvSpPr>
            <p:spPr>
              <a:xfrm>
                <a:off x="604929" y="1705798"/>
                <a:ext cx="7234146" cy="338554"/>
              </a:xfrm>
              <a:prstGeom prst="rect">
                <a:avLst/>
              </a:prstGeom>
              <a:blipFill>
                <a:blip r:embed="rId11"/>
                <a:stretch>
                  <a:fillRect l="-421" t="-3636" b="-25455"/>
                </a:stretch>
              </a:blipFill>
            </p:spPr>
            <p:txBody>
              <a:bodyPr/>
              <a:lstStyle/>
              <a:p>
                <a:r>
                  <a:rPr lang="it-IT">
                    <a:noFill/>
                  </a:rPr>
                  <a:t> </a:t>
                </a:r>
              </a:p>
            </p:txBody>
          </p:sp>
        </mc:Fallback>
      </mc:AlternateContent>
      <p:sp>
        <p:nvSpPr>
          <p:cNvPr id="8" name="TextBox 7">
            <a:extLst>
              <a:ext uri="{FF2B5EF4-FFF2-40B4-BE49-F238E27FC236}">
                <a16:creationId xmlns:a16="http://schemas.microsoft.com/office/drawing/2014/main" id="{671F2BF0-F688-4806-A172-474535531DBA}"/>
              </a:ext>
            </a:extLst>
          </p:cNvPr>
          <p:cNvSpPr txBox="1"/>
          <p:nvPr/>
        </p:nvSpPr>
        <p:spPr>
          <a:xfrm>
            <a:off x="604927" y="2282216"/>
            <a:ext cx="1827744" cy="276999"/>
          </a:xfrm>
          <a:prstGeom prst="rect">
            <a:avLst/>
          </a:prstGeom>
          <a:noFill/>
        </p:spPr>
        <p:txBody>
          <a:bodyPr wrap="none" rtlCol="0">
            <a:spAutoFit/>
          </a:bodyPr>
          <a:lstStyle/>
          <a:p>
            <a:r>
              <a:rPr lang="it-IT" sz="1200" b="1" dirty="0">
                <a:solidFill>
                  <a:schemeClr val="accent1">
                    <a:lumMod val="50000"/>
                  </a:schemeClr>
                </a:solidFill>
                <a:latin typeface="Poppins" panose="00000500000000000000" pitchFamily="2" charset="0"/>
                <a:cs typeface="Poppins" panose="00000500000000000000" pitchFamily="2" charset="0"/>
              </a:rPr>
              <a:t>Luenberger observer</a:t>
            </a:r>
            <a:endParaRPr lang="it-IT" sz="1200" dirty="0">
              <a:solidFill>
                <a:schemeClr val="accent1">
                  <a:lumMod val="50000"/>
                </a:schemeClr>
              </a:solidFill>
              <a:latin typeface="Poppins" panose="00000500000000000000" pitchFamily="2" charset="0"/>
              <a:cs typeface="Poppins" panose="00000500000000000000" pitchFamily="2"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F669115-DEA9-9116-485B-6A84BB619269}"/>
                  </a:ext>
                </a:extLst>
              </p:cNvPr>
              <p:cNvSpPr txBox="1"/>
              <p:nvPr/>
            </p:nvSpPr>
            <p:spPr>
              <a:xfrm>
                <a:off x="773385" y="2475106"/>
                <a:ext cx="1309722" cy="271869"/>
              </a:xfrm>
              <a:prstGeom prst="rect">
                <a:avLst/>
              </a:prstGeom>
              <a:noFill/>
            </p:spPr>
            <p:txBody>
              <a:bodyPr wrap="square">
                <a:spAutoFit/>
              </a:bodyPr>
              <a:lstStyle/>
              <a:p>
                <a:pPr>
                  <a:lnSpc>
                    <a:spcPts val="1425"/>
                  </a:lnSpc>
                  <a:buNone/>
                </a:pPr>
                <a14:m>
                  <m:oMathPara xmlns:m="http://schemas.openxmlformats.org/officeDocument/2006/math">
                    <m:oMathParaPr>
                      <m:jc m:val="centerGroup"/>
                    </m:oMathParaPr>
                    <m:oMath xmlns:m="http://schemas.openxmlformats.org/officeDocument/2006/math">
                      <m:r>
                        <a:rPr lang="it-IT" sz="1100" b="0" i="1" dirty="0" smtClean="0">
                          <a:solidFill>
                            <a:schemeClr val="tx2">
                              <a:lumMod val="90000"/>
                              <a:lumOff val="10000"/>
                            </a:schemeClr>
                          </a:solidFill>
                          <a:effectLst/>
                          <a:latin typeface="Cambria Math" panose="02040503050406030204" pitchFamily="18" charset="0"/>
                        </a:rPr>
                        <m:t>𝑟</m:t>
                      </m:r>
                      <m:r>
                        <a:rPr lang="it-IT" sz="1100" b="0" i="1" dirty="0">
                          <a:solidFill>
                            <a:schemeClr val="tx2">
                              <a:lumMod val="90000"/>
                              <a:lumOff val="10000"/>
                            </a:schemeClr>
                          </a:solidFill>
                          <a:effectLst/>
                          <a:latin typeface="Cambria Math" panose="02040503050406030204" pitchFamily="18" charset="0"/>
                        </a:rPr>
                        <m:t>=</m:t>
                      </m:r>
                      <m:sSub>
                        <m:sSubPr>
                          <m:ctrlPr>
                            <a:rPr lang="it-IT" sz="1100" b="0" i="1" dirty="0">
                              <a:solidFill>
                                <a:schemeClr val="tx2">
                                  <a:lumMod val="90000"/>
                                  <a:lumOff val="10000"/>
                                </a:schemeClr>
                              </a:solidFill>
                              <a:effectLst/>
                              <a:latin typeface="Cambria Math" panose="02040503050406030204" pitchFamily="18" charset="0"/>
                            </a:rPr>
                          </m:ctrlPr>
                        </m:sSubPr>
                        <m:e>
                          <m:r>
                            <a:rPr lang="it-IT" sz="1100" b="0" i="1" dirty="0">
                              <a:solidFill>
                                <a:schemeClr val="tx2">
                                  <a:lumMod val="90000"/>
                                  <a:lumOff val="10000"/>
                                </a:schemeClr>
                              </a:solidFill>
                              <a:effectLst/>
                              <a:latin typeface="Cambria Math" panose="02040503050406030204" pitchFamily="18" charset="0"/>
                            </a:rPr>
                            <m:t>𝜃</m:t>
                          </m:r>
                        </m:e>
                        <m:sub>
                          <m:r>
                            <a:rPr lang="it-IT" sz="1100" b="0" i="1" dirty="0">
                              <a:solidFill>
                                <a:schemeClr val="tx2">
                                  <a:lumMod val="90000"/>
                                  <a:lumOff val="10000"/>
                                </a:schemeClr>
                              </a:solidFill>
                              <a:effectLst/>
                              <a:latin typeface="Cambria Math" panose="02040503050406030204" pitchFamily="18" charset="0"/>
                            </a:rPr>
                            <m:t>𝑚𝑒𝑎𝑠</m:t>
                          </m:r>
                        </m:sub>
                      </m:sSub>
                      <m:r>
                        <a:rPr lang="it-IT" sz="1100" b="0" i="1" dirty="0">
                          <a:solidFill>
                            <a:schemeClr val="tx2">
                              <a:lumMod val="90000"/>
                              <a:lumOff val="10000"/>
                            </a:schemeClr>
                          </a:solidFill>
                          <a:effectLst/>
                          <a:latin typeface="Cambria Math" panose="02040503050406030204" pitchFamily="18" charset="0"/>
                        </a:rPr>
                        <m:t>−</m:t>
                      </m:r>
                      <m:acc>
                        <m:accPr>
                          <m:chr m:val="̂"/>
                          <m:ctrlPr>
                            <a:rPr lang="it-IT" sz="1100" b="0" i="1" dirty="0">
                              <a:solidFill>
                                <a:schemeClr val="tx2">
                                  <a:lumMod val="90000"/>
                                  <a:lumOff val="10000"/>
                                </a:schemeClr>
                              </a:solidFill>
                              <a:effectLst/>
                              <a:latin typeface="Cambria Math" panose="02040503050406030204" pitchFamily="18" charset="0"/>
                            </a:rPr>
                          </m:ctrlPr>
                        </m:accPr>
                        <m:e>
                          <m:r>
                            <a:rPr lang="it-IT" sz="1100" b="0" i="1" dirty="0">
                              <a:solidFill>
                                <a:schemeClr val="tx2">
                                  <a:lumMod val="90000"/>
                                  <a:lumOff val="10000"/>
                                </a:schemeClr>
                              </a:solidFill>
                              <a:effectLst/>
                              <a:latin typeface="Cambria Math" panose="02040503050406030204" pitchFamily="18" charset="0"/>
                            </a:rPr>
                            <m:t>𝜃</m:t>
                          </m:r>
                        </m:e>
                      </m:acc>
                    </m:oMath>
                  </m:oMathPara>
                </a14:m>
                <a:endParaRPr dirty="0"/>
              </a:p>
            </p:txBody>
          </p:sp>
        </mc:Choice>
        <mc:Fallback xmlns="">
          <p:sp>
            <p:nvSpPr>
              <p:cNvPr id="13" name="TextBox 12">
                <a:extLst>
                  <a:ext uri="{FF2B5EF4-FFF2-40B4-BE49-F238E27FC236}">
                    <a16:creationId xmlns:a16="http://schemas.microsoft.com/office/drawing/2014/main" id="{6F669115-DEA9-9116-485B-6A84BB619269}"/>
                  </a:ext>
                </a:extLst>
              </p:cNvPr>
              <p:cNvSpPr txBox="1">
                <a:spLocks noRot="1" noChangeAspect="1" noMove="1" noResize="1" noEditPoints="1" noAdjustHandles="1" noChangeArrowheads="1" noChangeShapeType="1" noTextEdit="1"/>
              </p:cNvSpPr>
              <p:nvPr/>
            </p:nvSpPr>
            <p:spPr>
              <a:xfrm>
                <a:off x="773385" y="2475106"/>
                <a:ext cx="1309722" cy="271869"/>
              </a:xfrm>
              <a:prstGeom prst="rect">
                <a:avLst/>
              </a:prstGeom>
              <a:blipFill>
                <a:blip r:embed="rId12"/>
                <a:stretch>
                  <a:fillRect/>
                </a:stretch>
              </a:blipFill>
            </p:spPr>
            <p:txBody>
              <a:bodyPr/>
              <a:lstStyle/>
              <a:p>
                <a:r>
                  <a:rPr lang="it-IT">
                    <a:noFill/>
                  </a:rPr>
                  <a:t> </a:t>
                </a:r>
              </a:p>
            </p:txBody>
          </p:sp>
        </mc:Fallback>
      </mc:AlternateContent>
      <p:sp>
        <p:nvSpPr>
          <p:cNvPr id="16" name="TextBox 15">
            <a:extLst>
              <a:ext uri="{FF2B5EF4-FFF2-40B4-BE49-F238E27FC236}">
                <a16:creationId xmlns:a16="http://schemas.microsoft.com/office/drawing/2014/main" id="{EF96AFF5-7A86-24F2-C1C4-2C8BBF89DB8B}"/>
              </a:ext>
            </a:extLst>
          </p:cNvPr>
          <p:cNvSpPr txBox="1"/>
          <p:nvPr/>
        </p:nvSpPr>
        <p:spPr>
          <a:xfrm>
            <a:off x="685129" y="2669724"/>
            <a:ext cx="3891642" cy="461665"/>
          </a:xfrm>
          <a:prstGeom prst="rect">
            <a:avLst/>
          </a:prstGeom>
          <a:noFill/>
        </p:spPr>
        <p:txBody>
          <a:bodyPr wrap="square">
            <a:spAutoFit/>
          </a:bodyPr>
          <a:lstStyle/>
          <a:p>
            <a:r>
              <a:rPr lang="en-US" sz="800" b="0" i="0" u="none" strike="noStrike" dirty="0">
                <a:solidFill>
                  <a:schemeClr val="tx2">
                    <a:lumMod val="90000"/>
                    <a:lumOff val="10000"/>
                  </a:schemeClr>
                </a:solidFill>
                <a:effectLst/>
                <a:latin typeface="Poppins" panose="00000500000000000000" pitchFamily="2" charset="0"/>
                <a:cs typeface="Poppins" panose="00000500000000000000" pitchFamily="2" charset="0"/>
              </a:rPr>
              <a:t>Compares measured position to model prediction. Slow for force-channel faults (~1–1.5 s): effect must propagate through admittance → tracking loop.</a:t>
            </a:r>
            <a:endParaRPr lang="it-IT"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18" name="TextBox 17">
            <a:extLst>
              <a:ext uri="{FF2B5EF4-FFF2-40B4-BE49-F238E27FC236}">
                <a16:creationId xmlns:a16="http://schemas.microsoft.com/office/drawing/2014/main" id="{A06EF92A-E298-6C57-723F-12C43A09DBB6}"/>
              </a:ext>
            </a:extLst>
          </p:cNvPr>
          <p:cNvSpPr txBox="1"/>
          <p:nvPr/>
        </p:nvSpPr>
        <p:spPr>
          <a:xfrm>
            <a:off x="9493050" y="2438891"/>
            <a:ext cx="1910043" cy="584775"/>
          </a:xfrm>
          <a:prstGeom prst="rect">
            <a:avLst/>
          </a:prstGeom>
          <a:noFill/>
        </p:spPr>
        <p:txBody>
          <a:bodyPr wrap="square">
            <a:spAutoFit/>
          </a:bodyPr>
          <a:lstStyle/>
          <a:p>
            <a:r>
              <a:rPr lang="en-US" sz="800" b="0" i="0" u="none" strike="noStrike" dirty="0">
                <a:solidFill>
                  <a:srgbClr val="0C447C"/>
                </a:solidFill>
                <a:effectLst/>
                <a:latin typeface="Poppins" panose="00000500000000000000" pitchFamily="2" charset="0"/>
                <a:cs typeface="Poppins" panose="00000500000000000000" pitchFamily="2" charset="0"/>
              </a:rPr>
              <a:t>Slow, smooth deviation after fault ON. Recovers gradually after fault OFF. Baseline ~10⁻⁴ rad.</a:t>
            </a:r>
            <a:endParaRPr lang="en-US" sz="800" b="0" i="0" u="none" strike="noStrike" dirty="0">
              <a:solidFill>
                <a:schemeClr val="tx2">
                  <a:lumMod val="90000"/>
                  <a:lumOff val="10000"/>
                </a:schemeClr>
              </a:solidFill>
              <a:effectLst/>
              <a:latin typeface="Poppins" panose="00000500000000000000" pitchFamily="2" charset="0"/>
              <a:cs typeface="Poppins" panose="00000500000000000000" pitchFamily="2" charset="0"/>
            </a:endParaRPr>
          </a:p>
          <a:p>
            <a:r>
              <a:rPr lang="it-IT" sz="800" i="1" dirty="0">
                <a:solidFill>
                  <a:schemeClr val="tx2">
                    <a:lumMod val="90000"/>
                    <a:lumOff val="10000"/>
                  </a:schemeClr>
                </a:solidFill>
                <a:latin typeface="Poppins" panose="00000500000000000000" pitchFamily="2" charset="0"/>
                <a:cs typeface="Poppins" panose="00000500000000000000" pitchFamily="2" charset="0"/>
              </a:rPr>
              <a:t>Primary target: encoder faults</a:t>
            </a:r>
            <a:endParaRPr lang="it-IT" sz="800" dirty="0">
              <a:solidFill>
                <a:schemeClr val="tx2">
                  <a:lumMod val="90000"/>
                  <a:lumOff val="10000"/>
                </a:schemeClr>
              </a:solidFill>
              <a:latin typeface="Poppins" panose="00000500000000000000" pitchFamily="2" charset="0"/>
              <a:cs typeface="Poppins" panose="00000500000000000000" pitchFamily="2" charset="0"/>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5D9EC2E-D032-9846-E92A-6F88A0D16293}"/>
                  </a:ext>
                </a:extLst>
              </p:cNvPr>
              <p:cNvSpPr txBox="1"/>
              <p:nvPr/>
            </p:nvSpPr>
            <p:spPr>
              <a:xfrm>
                <a:off x="824597" y="3483321"/>
                <a:ext cx="1859386" cy="271869"/>
              </a:xfrm>
              <a:prstGeom prst="rect">
                <a:avLst/>
              </a:prstGeom>
              <a:noFill/>
            </p:spPr>
            <p:txBody>
              <a:bodyPr wrap="square">
                <a:spAutoFit/>
              </a:bodyPr>
              <a:lstStyle/>
              <a:p>
                <a:pPr>
                  <a:lnSpc>
                    <a:spcPts val="1425"/>
                  </a:lnSpc>
                  <a:buNone/>
                </a:pPr>
                <a14:m>
                  <m:oMathPara xmlns:m="http://schemas.openxmlformats.org/officeDocument/2006/math">
                    <m:oMathParaPr>
                      <m:jc m:val="centerGroup"/>
                    </m:oMathParaPr>
                    <m:oMath xmlns:m="http://schemas.openxmlformats.org/officeDocument/2006/math">
                      <m:sSub>
                        <m:sSubPr>
                          <m:ctrlPr>
                            <a:rPr lang="it-IT" sz="1100" b="0" i="1" dirty="0" smtClean="0">
                              <a:solidFill>
                                <a:schemeClr val="tx2">
                                  <a:lumMod val="90000"/>
                                  <a:lumOff val="10000"/>
                                </a:schemeClr>
                              </a:solidFill>
                              <a:effectLst/>
                              <a:latin typeface="Cambria Math" panose="02040503050406030204" pitchFamily="18" charset="0"/>
                            </a:rPr>
                          </m:ctrlPr>
                        </m:sSubPr>
                        <m:e>
                          <m:r>
                            <a:rPr lang="it-IT" sz="1100" b="0" i="1" dirty="0" smtClean="0">
                              <a:solidFill>
                                <a:schemeClr val="tx2">
                                  <a:lumMod val="90000"/>
                                  <a:lumOff val="10000"/>
                                </a:schemeClr>
                              </a:solidFill>
                              <a:effectLst/>
                              <a:latin typeface="Cambria Math" panose="02040503050406030204" pitchFamily="18" charset="0"/>
                            </a:rPr>
                            <m:t>𝑟</m:t>
                          </m:r>
                        </m:e>
                        <m:sub>
                          <m:r>
                            <a:rPr lang="it-IT" sz="1100" b="0" i="1" dirty="0" smtClean="0">
                              <a:solidFill>
                                <a:schemeClr val="tx2">
                                  <a:lumMod val="90000"/>
                                  <a:lumOff val="10000"/>
                                </a:schemeClr>
                              </a:solidFill>
                              <a:effectLst/>
                              <a:latin typeface="Cambria Math" panose="02040503050406030204" pitchFamily="18" charset="0"/>
                            </a:rPr>
                            <m:t>𝑡𝑜𝑟𝑞𝑢𝑒</m:t>
                          </m:r>
                        </m:sub>
                      </m:sSub>
                      <m:r>
                        <a:rPr lang="it-IT" sz="1100" b="0" i="1" dirty="0" smtClean="0">
                          <a:solidFill>
                            <a:schemeClr val="tx2">
                              <a:lumMod val="90000"/>
                              <a:lumOff val="10000"/>
                            </a:schemeClr>
                          </a:solidFill>
                          <a:effectLst/>
                          <a:latin typeface="Cambria Math" panose="02040503050406030204" pitchFamily="18" charset="0"/>
                        </a:rPr>
                        <m:t>=</m:t>
                      </m:r>
                      <m:sSub>
                        <m:sSubPr>
                          <m:ctrlPr>
                            <a:rPr lang="it-IT" sz="1100" b="0" i="1" dirty="0" smtClean="0">
                              <a:solidFill>
                                <a:schemeClr val="tx2">
                                  <a:lumMod val="90000"/>
                                  <a:lumOff val="10000"/>
                                </a:schemeClr>
                              </a:solidFill>
                              <a:effectLst/>
                              <a:latin typeface="Cambria Math" panose="02040503050406030204" pitchFamily="18" charset="0"/>
                            </a:rPr>
                          </m:ctrlPr>
                        </m:sSubPr>
                        <m:e>
                          <m:r>
                            <a:rPr lang="it-IT" sz="1100" b="0" i="1" dirty="0" smtClean="0">
                              <a:solidFill>
                                <a:schemeClr val="tx2">
                                  <a:lumMod val="90000"/>
                                  <a:lumOff val="10000"/>
                                </a:schemeClr>
                              </a:solidFill>
                              <a:effectLst/>
                              <a:latin typeface="Cambria Math" panose="02040503050406030204" pitchFamily="18" charset="0"/>
                            </a:rPr>
                            <m:t>𝜏</m:t>
                          </m:r>
                        </m:e>
                        <m:sub>
                          <m:r>
                            <a:rPr lang="it-IT" sz="1100" b="0" i="1" dirty="0" smtClean="0">
                              <a:solidFill>
                                <a:schemeClr val="tx2">
                                  <a:lumMod val="90000"/>
                                  <a:lumOff val="10000"/>
                                </a:schemeClr>
                              </a:solidFill>
                              <a:effectLst/>
                              <a:latin typeface="Cambria Math" panose="02040503050406030204" pitchFamily="18" charset="0"/>
                            </a:rPr>
                            <m:t>𝑒𝑥𝑡</m:t>
                          </m:r>
                          <m:r>
                            <a:rPr lang="it-IT" sz="1100" b="0" i="1" dirty="0" smtClean="0">
                              <a:solidFill>
                                <a:schemeClr val="tx2">
                                  <a:lumMod val="90000"/>
                                  <a:lumOff val="10000"/>
                                </a:schemeClr>
                              </a:solidFill>
                              <a:effectLst/>
                              <a:latin typeface="Cambria Math" panose="02040503050406030204" pitchFamily="18" charset="0"/>
                            </a:rPr>
                            <m:t>,</m:t>
                          </m:r>
                          <m:r>
                            <a:rPr lang="it-IT" sz="1100" b="0" i="1" dirty="0" smtClean="0">
                              <a:solidFill>
                                <a:schemeClr val="tx2">
                                  <a:lumMod val="90000"/>
                                  <a:lumOff val="10000"/>
                                </a:schemeClr>
                              </a:solidFill>
                              <a:effectLst/>
                              <a:latin typeface="Cambria Math" panose="02040503050406030204" pitchFamily="18" charset="0"/>
                            </a:rPr>
                            <m:t>𝑚𝑒𝑎𝑠</m:t>
                          </m:r>
                        </m:sub>
                      </m:sSub>
                      <m:r>
                        <a:rPr lang="it-IT" sz="1100" b="0" i="1" dirty="0" smtClean="0">
                          <a:solidFill>
                            <a:schemeClr val="tx2">
                              <a:lumMod val="90000"/>
                              <a:lumOff val="10000"/>
                            </a:schemeClr>
                          </a:solidFill>
                          <a:effectLst/>
                          <a:latin typeface="Cambria Math" panose="02040503050406030204" pitchFamily="18" charset="0"/>
                        </a:rPr>
                        <m:t>−</m:t>
                      </m:r>
                      <m:r>
                        <a:rPr lang="it-IT" sz="1100" b="0" i="1" dirty="0" smtClean="0">
                          <a:solidFill>
                            <a:schemeClr val="tx2">
                              <a:lumMod val="90000"/>
                              <a:lumOff val="10000"/>
                            </a:schemeClr>
                          </a:solidFill>
                          <a:effectLst/>
                          <a:latin typeface="Cambria Math" panose="02040503050406030204" pitchFamily="18" charset="0"/>
                        </a:rPr>
                        <m:t>𝜏</m:t>
                      </m:r>
                      <m:sSub>
                        <m:sSubPr>
                          <m:ctrlPr>
                            <a:rPr lang="it-IT" sz="1100" b="0" i="1" dirty="0" smtClean="0">
                              <a:solidFill>
                                <a:schemeClr val="tx2">
                                  <a:lumMod val="90000"/>
                                  <a:lumOff val="10000"/>
                                </a:schemeClr>
                              </a:solidFill>
                              <a:effectLst/>
                              <a:latin typeface="Cambria Math" panose="02040503050406030204" pitchFamily="18" charset="0"/>
                            </a:rPr>
                          </m:ctrlPr>
                        </m:sSubPr>
                        <m:e>
                          <m:r>
                            <a:rPr lang="it-IT" sz="1100" b="0" i="1" dirty="0" smtClean="0">
                              <a:solidFill>
                                <a:schemeClr val="tx2">
                                  <a:lumMod val="90000"/>
                                  <a:lumOff val="10000"/>
                                </a:schemeClr>
                              </a:solidFill>
                              <a:effectLst/>
                              <a:latin typeface="Cambria Math" panose="02040503050406030204" pitchFamily="18" charset="0"/>
                            </a:rPr>
                            <m:t>̂</m:t>
                          </m:r>
                        </m:e>
                        <m:sub>
                          <m:r>
                            <a:rPr lang="it-IT" sz="1100" b="0" i="1" dirty="0" smtClean="0">
                              <a:solidFill>
                                <a:schemeClr val="tx2">
                                  <a:lumMod val="90000"/>
                                  <a:lumOff val="10000"/>
                                </a:schemeClr>
                              </a:solidFill>
                              <a:effectLst/>
                              <a:latin typeface="Cambria Math" panose="02040503050406030204" pitchFamily="18" charset="0"/>
                            </a:rPr>
                            <m:t>𝑒𝑥𝑡</m:t>
                          </m:r>
                        </m:sub>
                      </m:sSub>
                    </m:oMath>
                  </m:oMathPara>
                </a14:m>
                <a:endParaRPr dirty="0"/>
              </a:p>
            </p:txBody>
          </p:sp>
        </mc:Choice>
        <mc:Fallback xmlns="">
          <p:sp>
            <p:nvSpPr>
              <p:cNvPr id="27" name="TextBox 26">
                <a:extLst>
                  <a:ext uri="{FF2B5EF4-FFF2-40B4-BE49-F238E27FC236}">
                    <a16:creationId xmlns:a16="http://schemas.microsoft.com/office/drawing/2014/main" id="{45D9EC2E-D032-9846-E92A-6F88A0D16293}"/>
                  </a:ext>
                </a:extLst>
              </p:cNvPr>
              <p:cNvSpPr txBox="1">
                <a:spLocks noRot="1" noChangeAspect="1" noMove="1" noResize="1" noEditPoints="1" noAdjustHandles="1" noChangeArrowheads="1" noChangeShapeType="1" noTextEdit="1"/>
              </p:cNvSpPr>
              <p:nvPr/>
            </p:nvSpPr>
            <p:spPr>
              <a:xfrm>
                <a:off x="824597" y="3483321"/>
                <a:ext cx="1859386" cy="271869"/>
              </a:xfrm>
              <a:prstGeom prst="rect">
                <a:avLst/>
              </a:prstGeom>
              <a:blipFill>
                <a:blip r:embed="rId13"/>
                <a:stretch>
                  <a:fillRect/>
                </a:stretch>
              </a:blipFill>
            </p:spPr>
            <p:txBody>
              <a:bodyPr/>
              <a:lstStyle/>
              <a:p>
                <a:r>
                  <a:rPr lang="it-IT">
                    <a:noFill/>
                  </a:rPr>
                  <a:t> </a:t>
                </a:r>
              </a:p>
            </p:txBody>
          </p:sp>
        </mc:Fallback>
      </mc:AlternateContent>
      <p:sp>
        <p:nvSpPr>
          <p:cNvPr id="34" name="TextBox 33">
            <a:extLst>
              <a:ext uri="{FF2B5EF4-FFF2-40B4-BE49-F238E27FC236}">
                <a16:creationId xmlns:a16="http://schemas.microsoft.com/office/drawing/2014/main" id="{7A601C42-7737-424E-6B19-E87062C0B908}"/>
              </a:ext>
            </a:extLst>
          </p:cNvPr>
          <p:cNvSpPr txBox="1"/>
          <p:nvPr/>
        </p:nvSpPr>
        <p:spPr>
          <a:xfrm>
            <a:off x="685127" y="5413263"/>
            <a:ext cx="1999265" cy="276999"/>
          </a:xfrm>
          <a:prstGeom prst="rect">
            <a:avLst/>
          </a:prstGeom>
          <a:noFill/>
        </p:spPr>
        <p:txBody>
          <a:bodyPr wrap="none" rtlCol="0">
            <a:spAutoFit/>
          </a:bodyPr>
          <a:lstStyle/>
          <a:p>
            <a:r>
              <a:rPr lang="it-IT" sz="1200" b="1" dirty="0">
                <a:solidFill>
                  <a:schemeClr val="accent1">
                    <a:lumMod val="50000"/>
                  </a:schemeClr>
                </a:solidFill>
                <a:latin typeface="Poppins" panose="00000500000000000000" pitchFamily="2" charset="0"/>
                <a:cs typeface="Poppins" panose="00000500000000000000" pitchFamily="2" charset="0"/>
              </a:rPr>
              <a:t>Rate-of-change guard</a:t>
            </a:r>
            <a:endParaRPr lang="it-IT" sz="1000" dirty="0">
              <a:solidFill>
                <a:schemeClr val="accent1">
                  <a:lumMod val="50000"/>
                </a:schemeClr>
              </a:solidFill>
              <a:latin typeface="Poppins" panose="00000500000000000000" pitchFamily="2" charset="0"/>
              <a:cs typeface="Poppins" panose="00000500000000000000" pitchFamily="2" charset="0"/>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B8A5E00-A750-801E-F787-6FC152C01A25}"/>
                  </a:ext>
                </a:extLst>
              </p:cNvPr>
              <p:cNvSpPr txBox="1"/>
              <p:nvPr/>
            </p:nvSpPr>
            <p:spPr>
              <a:xfrm>
                <a:off x="740707" y="5612295"/>
                <a:ext cx="2282530" cy="261675"/>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a:rPr lang="it-IT" sz="1100" i="1" smtClean="0">
                          <a:solidFill>
                            <a:schemeClr val="tx2">
                              <a:lumMod val="90000"/>
                              <a:lumOff val="10000"/>
                            </a:schemeClr>
                          </a:solidFill>
                          <a:latin typeface="Cambria Math" panose="02040503050406030204" pitchFamily="18" charset="0"/>
                          <a:ea typeface="Cambria Math" panose="02040503050406030204" pitchFamily="18" charset="0"/>
                        </a:rPr>
                        <m:t>𝑎𝑙𝑎𝑟𝑚</m:t>
                      </m:r>
                      <m:r>
                        <a:rPr lang="it-IT" sz="1100" i="1" smtClean="0">
                          <a:solidFill>
                            <a:schemeClr val="tx2">
                              <a:lumMod val="90000"/>
                              <a:lumOff val="10000"/>
                            </a:schemeClr>
                          </a:solidFill>
                          <a:latin typeface="Cambria Math" panose="02040503050406030204" pitchFamily="18" charset="0"/>
                          <a:ea typeface="Cambria Math" panose="02040503050406030204" pitchFamily="18" charset="0"/>
                        </a:rPr>
                        <m:t> = |</m:t>
                      </m:r>
                      <m:r>
                        <m:rPr>
                          <m:sty m:val="p"/>
                        </m:rPr>
                        <a:rPr lang="it-IT" sz="1100">
                          <a:solidFill>
                            <a:schemeClr val="tx2">
                              <a:lumMod val="90000"/>
                              <a:lumOff val="10000"/>
                            </a:schemeClr>
                          </a:solidFill>
                          <a:latin typeface="Cambria Math" panose="02040503050406030204" pitchFamily="18" charset="0"/>
                          <a:ea typeface="Cambria Math" panose="02040503050406030204" pitchFamily="18" charset="0"/>
                        </a:rPr>
                        <m:t>Δ</m:t>
                      </m:r>
                      <m:sSub>
                        <m:sSubPr>
                          <m:ctrlPr>
                            <a:rPr lang="it-IT" sz="1100" i="1">
                              <a:solidFill>
                                <a:schemeClr val="tx2">
                                  <a:lumMod val="90000"/>
                                  <a:lumOff val="10000"/>
                                </a:schemeClr>
                              </a:solidFill>
                              <a:latin typeface="Cambria Math" panose="02040503050406030204" pitchFamily="18" charset="0"/>
                              <a:ea typeface="Cambria Math" panose="02040503050406030204" pitchFamily="18" charset="0"/>
                            </a:rPr>
                          </m:ctrlPr>
                        </m:sSubPr>
                        <m:e>
                          <m:r>
                            <m:rPr>
                              <m:sty m:val="p"/>
                            </m:rPr>
                            <a:rPr lang="it-IT" sz="1100" i="1">
                              <a:solidFill>
                                <a:schemeClr val="tx2">
                                  <a:lumMod val="90000"/>
                                  <a:lumOff val="10000"/>
                                </a:schemeClr>
                              </a:solidFill>
                              <a:latin typeface="Cambria Math" panose="02040503050406030204" pitchFamily="18" charset="0"/>
                              <a:ea typeface="Cambria Math" panose="02040503050406030204" pitchFamily="18" charset="0"/>
                            </a:rPr>
                            <m:t>τ</m:t>
                          </m:r>
                        </m:e>
                        <m:sub>
                          <m:r>
                            <a:rPr lang="it-IT" sz="1100" i="1">
                              <a:solidFill>
                                <a:schemeClr val="tx2">
                                  <a:lumMod val="90000"/>
                                  <a:lumOff val="10000"/>
                                </a:schemeClr>
                              </a:solidFill>
                              <a:latin typeface="Cambria Math" panose="02040503050406030204" pitchFamily="18" charset="0"/>
                              <a:ea typeface="Cambria Math" panose="02040503050406030204" pitchFamily="18" charset="0"/>
                            </a:rPr>
                            <m:t>𝑒𝑥𝑡</m:t>
                          </m:r>
                        </m:sub>
                      </m:sSub>
                      <m:r>
                        <m:rPr>
                          <m:lit/>
                        </m:rPr>
                        <a:rPr lang="it-IT" sz="1100" i="1">
                          <a:solidFill>
                            <a:schemeClr val="tx2">
                              <a:lumMod val="90000"/>
                              <a:lumOff val="10000"/>
                            </a:schemeClr>
                          </a:solidFill>
                          <a:latin typeface="Cambria Math" panose="02040503050406030204" pitchFamily="18" charset="0"/>
                          <a:ea typeface="Cambria Math" panose="02040503050406030204" pitchFamily="18" charset="0"/>
                        </a:rPr>
                        <m:t>/</m:t>
                      </m:r>
                      <m:r>
                        <m:rPr>
                          <m:sty m:val="p"/>
                        </m:rPr>
                        <a:rPr lang="it-IT" sz="1100">
                          <a:solidFill>
                            <a:schemeClr val="tx2">
                              <a:lumMod val="90000"/>
                              <a:lumOff val="10000"/>
                            </a:schemeClr>
                          </a:solidFill>
                          <a:latin typeface="Cambria Math" panose="02040503050406030204" pitchFamily="18" charset="0"/>
                          <a:ea typeface="Cambria Math" panose="02040503050406030204" pitchFamily="18" charset="0"/>
                        </a:rPr>
                        <m:t>Δ</m:t>
                      </m:r>
                      <m:r>
                        <m:rPr>
                          <m:sty m:val="p"/>
                        </m:rPr>
                        <a:rPr lang="it-IT" sz="1100" i="1">
                          <a:solidFill>
                            <a:schemeClr val="tx2">
                              <a:lumMod val="90000"/>
                              <a:lumOff val="10000"/>
                            </a:schemeClr>
                          </a:solidFill>
                          <a:latin typeface="Cambria Math" panose="02040503050406030204" pitchFamily="18" charset="0"/>
                          <a:ea typeface="Cambria Math" panose="02040503050406030204" pitchFamily="18" charset="0"/>
                        </a:rPr>
                        <m:t>t</m:t>
                      </m:r>
                      <m:r>
                        <a:rPr lang="it-IT" sz="1100" i="1">
                          <a:solidFill>
                            <a:schemeClr val="tx2">
                              <a:lumMod val="90000"/>
                              <a:lumOff val="10000"/>
                            </a:schemeClr>
                          </a:solidFill>
                          <a:latin typeface="Cambria Math" panose="02040503050406030204" pitchFamily="18" charset="0"/>
                          <a:ea typeface="Cambria Math" panose="02040503050406030204" pitchFamily="18" charset="0"/>
                        </a:rPr>
                        <m:t>|&gt; </m:t>
                      </m:r>
                      <m:sSub>
                        <m:sSubPr>
                          <m:ctrlPr>
                            <a:rPr lang="it-IT" sz="1100" i="1">
                              <a:solidFill>
                                <a:schemeClr val="tx2">
                                  <a:lumMod val="90000"/>
                                  <a:lumOff val="10000"/>
                                </a:schemeClr>
                              </a:solidFill>
                              <a:latin typeface="Cambria Math" panose="02040503050406030204" pitchFamily="18" charset="0"/>
                              <a:ea typeface="Cambria Math" panose="02040503050406030204" pitchFamily="18" charset="0"/>
                            </a:rPr>
                          </m:ctrlPr>
                        </m:sSubPr>
                        <m:e>
                          <m:r>
                            <a:rPr lang="it-IT" sz="1100" i="1">
                              <a:solidFill>
                                <a:schemeClr val="tx2">
                                  <a:lumMod val="90000"/>
                                  <a:lumOff val="10000"/>
                                </a:schemeClr>
                              </a:solidFill>
                              <a:latin typeface="Cambria Math" panose="02040503050406030204" pitchFamily="18" charset="0"/>
                              <a:ea typeface="Cambria Math" panose="02040503050406030204" pitchFamily="18" charset="0"/>
                            </a:rPr>
                            <m:t>𝑅</m:t>
                          </m:r>
                        </m:e>
                        <m:sub>
                          <m:r>
                            <a:rPr lang="it-IT" sz="1100" i="1">
                              <a:solidFill>
                                <a:schemeClr val="tx2">
                                  <a:lumMod val="90000"/>
                                  <a:lumOff val="10000"/>
                                </a:schemeClr>
                              </a:solidFill>
                              <a:latin typeface="Cambria Math" panose="02040503050406030204" pitchFamily="18" charset="0"/>
                              <a:ea typeface="Cambria Math" panose="02040503050406030204" pitchFamily="18" charset="0"/>
                            </a:rPr>
                            <m:t>𝑚𝑎𝑥</m:t>
                          </m:r>
                        </m:sub>
                      </m:sSub>
                    </m:oMath>
                  </m:oMathPara>
                </a14:m>
                <a:br>
                  <a:rPr lang="it-IT" sz="1100" dirty="0">
                    <a:solidFill>
                      <a:schemeClr val="tx2">
                        <a:lumMod val="90000"/>
                        <a:lumOff val="10000"/>
                      </a:schemeClr>
                    </a:solidFill>
                    <a:latin typeface="Cambria Math" panose="02040503050406030204" pitchFamily="18" charset="0"/>
                    <a:ea typeface="Cambria Math" panose="02040503050406030204" pitchFamily="18" charset="0"/>
                  </a:rPr>
                </a:br>
                <a:endParaRPr lang="it-IT" sz="1100" dirty="0">
                  <a:solidFill>
                    <a:schemeClr val="tx2">
                      <a:lumMod val="90000"/>
                      <a:lumOff val="10000"/>
                    </a:schemeClr>
                  </a:solidFill>
                  <a:latin typeface="Cambria Math" panose="02040503050406030204" pitchFamily="18" charset="0"/>
                  <a:ea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FB8A5E00-A750-801E-F787-6FC152C01A25}"/>
                  </a:ext>
                </a:extLst>
              </p:cNvPr>
              <p:cNvSpPr txBox="1">
                <a:spLocks noRot="1" noChangeAspect="1" noMove="1" noResize="1" noEditPoints="1" noAdjustHandles="1" noChangeArrowheads="1" noChangeShapeType="1" noTextEdit="1"/>
              </p:cNvSpPr>
              <p:nvPr/>
            </p:nvSpPr>
            <p:spPr>
              <a:xfrm>
                <a:off x="740707" y="5612295"/>
                <a:ext cx="2282530" cy="261675"/>
              </a:xfrm>
              <a:prstGeom prst="rect">
                <a:avLst/>
              </a:prstGeom>
              <a:blipFill>
                <a:blip r:embed="rId14"/>
                <a:stretch>
                  <a:fillRect b="-4651"/>
                </a:stretch>
              </a:blipFill>
            </p:spPr>
            <p:txBody>
              <a:bodyPr/>
              <a:lstStyle/>
              <a:p>
                <a:r>
                  <a:rPr lang="it-IT">
                    <a:noFill/>
                  </a:rPr>
                  <a:t> </a:t>
                </a:r>
              </a:p>
            </p:txBody>
          </p:sp>
        </mc:Fallback>
      </mc:AlternateContent>
      <p:sp>
        <p:nvSpPr>
          <p:cNvPr id="36" name="TextBox 35">
            <a:extLst>
              <a:ext uri="{FF2B5EF4-FFF2-40B4-BE49-F238E27FC236}">
                <a16:creationId xmlns:a16="http://schemas.microsoft.com/office/drawing/2014/main" id="{7FE9EC6E-6C44-3F95-2F9E-E33440E054BE}"/>
              </a:ext>
            </a:extLst>
          </p:cNvPr>
          <p:cNvSpPr txBox="1"/>
          <p:nvPr/>
        </p:nvSpPr>
        <p:spPr>
          <a:xfrm>
            <a:off x="665902" y="5861593"/>
            <a:ext cx="3891642" cy="338554"/>
          </a:xfrm>
          <a:prstGeom prst="rect">
            <a:avLst/>
          </a:prstGeom>
          <a:noFill/>
        </p:spPr>
        <p:txBody>
          <a:bodyPr wrap="square">
            <a:spAutoFit/>
          </a:bodyPr>
          <a:lstStyle/>
          <a:p>
            <a:r>
              <a:rPr lang="en-US" sz="800" dirty="0">
                <a:solidFill>
                  <a:schemeClr val="tx2">
                    <a:lumMod val="90000"/>
                    <a:lumOff val="10000"/>
                  </a:schemeClr>
                </a:solidFill>
                <a:latin typeface="Poppins" panose="00000500000000000000" pitchFamily="2" charset="0"/>
                <a:cs typeface="Poppins" panose="00000500000000000000" pitchFamily="2" charset="0"/>
              </a:rPr>
              <a:t>Human muscles cannot produce force steps (bandwidth ~5–10 Hz). Any discontinuity &gt;100 Nm/s is necessarily artificial. Latency: 1 sample (5 </a:t>
            </a:r>
            <a:r>
              <a:rPr lang="en-US" sz="800" dirty="0" err="1">
                <a:solidFill>
                  <a:schemeClr val="tx2">
                    <a:lumMod val="90000"/>
                    <a:lumOff val="10000"/>
                  </a:schemeClr>
                </a:solidFill>
                <a:latin typeface="Poppins" panose="00000500000000000000" pitchFamily="2" charset="0"/>
                <a:cs typeface="Poppins" panose="00000500000000000000" pitchFamily="2" charset="0"/>
              </a:rPr>
              <a:t>ms</a:t>
            </a:r>
            <a:r>
              <a:rPr lang="en-US" sz="800" dirty="0">
                <a:solidFill>
                  <a:schemeClr val="tx2">
                    <a:lumMod val="90000"/>
                    <a:lumOff val="10000"/>
                  </a:schemeClr>
                </a:solidFill>
                <a:latin typeface="Poppins" panose="00000500000000000000" pitchFamily="2" charset="0"/>
                <a:cs typeface="Poppins" panose="00000500000000000000" pitchFamily="2" charset="0"/>
              </a:rPr>
              <a:t>).</a:t>
            </a:r>
            <a:endParaRPr lang="it-IT" sz="8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37" name="TextBox 36">
            <a:extLst>
              <a:ext uri="{FF2B5EF4-FFF2-40B4-BE49-F238E27FC236}">
                <a16:creationId xmlns:a16="http://schemas.microsoft.com/office/drawing/2014/main" id="{82A38E89-E76C-3AC0-38C7-132E6F9940EB}"/>
              </a:ext>
            </a:extLst>
          </p:cNvPr>
          <p:cNvSpPr txBox="1"/>
          <p:nvPr/>
        </p:nvSpPr>
        <p:spPr>
          <a:xfrm>
            <a:off x="9493049" y="5435609"/>
            <a:ext cx="2174222" cy="1077218"/>
          </a:xfrm>
          <a:prstGeom prst="rect">
            <a:avLst/>
          </a:prstGeom>
          <a:noFill/>
        </p:spPr>
        <p:txBody>
          <a:bodyPr wrap="square">
            <a:spAutoFit/>
          </a:bodyPr>
          <a:lstStyle/>
          <a:p>
            <a:r>
              <a:rPr lang="en-US" sz="800" dirty="0">
                <a:solidFill>
                  <a:schemeClr val="tx2">
                    <a:lumMod val="90000"/>
                    <a:lumOff val="10000"/>
                  </a:schemeClr>
                </a:solidFill>
                <a:latin typeface="Poppins" panose="00000500000000000000" pitchFamily="2" charset="0"/>
                <a:cs typeface="Poppins" panose="00000500000000000000" pitchFamily="2" charset="0"/>
              </a:rPr>
              <a:t>Binary alarm fires exactly at fault ON/OFF transitions. Blind to sustained offsets — complementary to momentum observer.</a:t>
            </a:r>
          </a:p>
          <a:p>
            <a:r>
              <a:rPr lang="it-IT" sz="800" i="1" dirty="0">
                <a:solidFill>
                  <a:schemeClr val="tx2">
                    <a:lumMod val="90000"/>
                    <a:lumOff val="10000"/>
                  </a:schemeClr>
                </a:solidFill>
                <a:latin typeface="Poppins" panose="00000500000000000000" pitchFamily="2" charset="0"/>
                <a:cs typeface="Poppins" panose="00000500000000000000" pitchFamily="2" charset="0"/>
              </a:rPr>
              <a:t>Fastest detector: 1 sample, impulsive faults only</a:t>
            </a:r>
            <a:endParaRPr lang="it-IT" sz="800" dirty="0">
              <a:solidFill>
                <a:schemeClr val="tx2">
                  <a:lumMod val="90000"/>
                  <a:lumOff val="10000"/>
                </a:schemeClr>
              </a:solidFill>
              <a:latin typeface="Poppins" panose="00000500000000000000" pitchFamily="2" charset="0"/>
              <a:cs typeface="Poppins" panose="00000500000000000000" pitchFamily="2" charset="0"/>
            </a:endParaRPr>
          </a:p>
          <a:p>
            <a:br>
              <a:rPr lang="it-IT" sz="800" dirty="0"/>
            </a:br>
            <a:endParaRPr lang="it-IT" sz="800" dirty="0">
              <a:solidFill>
                <a:schemeClr val="tx2">
                  <a:lumMod val="90000"/>
                  <a:lumOff val="1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811353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F4BD8-391B-D543-D4DE-D1DBB0E63CA2}"/>
            </a:ext>
          </a:extLst>
        </p:cNvPr>
        <p:cNvGrpSpPr/>
        <p:nvPr/>
      </p:nvGrpSpPr>
      <p:grpSpPr>
        <a:xfrm>
          <a:off x="0" y="0"/>
          <a:ext cx="0" cy="0"/>
          <a:chOff x="0" y="0"/>
          <a:chExt cx="0" cy="0"/>
        </a:xfrm>
      </p:grpSpPr>
      <p:sp>
        <p:nvSpPr>
          <p:cNvPr id="42" name="Google Shape;259;p29">
            <a:extLst>
              <a:ext uri="{FF2B5EF4-FFF2-40B4-BE49-F238E27FC236}">
                <a16:creationId xmlns:a16="http://schemas.microsoft.com/office/drawing/2014/main" id="{F06DD3E7-006D-6BFA-BFCA-EB7AA0B4E4F5}"/>
              </a:ext>
            </a:extLst>
          </p:cNvPr>
          <p:cNvSpPr/>
          <p:nvPr/>
        </p:nvSpPr>
        <p:spPr>
          <a:xfrm>
            <a:off x="525933" y="1433398"/>
            <a:ext cx="4891456"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Sottotitolo 2">
            <a:extLst>
              <a:ext uri="{FF2B5EF4-FFF2-40B4-BE49-F238E27FC236}">
                <a16:creationId xmlns:a16="http://schemas.microsoft.com/office/drawing/2014/main" id="{941BB90F-3374-3B2C-D762-734F4CD29EED}"/>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82512BDD-6BB4-D311-E8A7-EB605751E9EB}"/>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62800FA4-A95C-8BA0-B136-EB0067CE0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94D55F88-1607-FA36-5B42-5E217E5D82A1}"/>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94D55F88-1607-FA36-5B42-5E217E5D82A1}"/>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512D0DD2-56D5-8980-19D1-4C673264E78A}"/>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512D0DD2-56D5-8980-19D1-4C673264E78A}"/>
                  </a:ext>
                </a:extLst>
              </p:cNvPr>
              <p:cNvPicPr/>
              <p:nvPr/>
            </p:nvPicPr>
            <p:blipFill>
              <a:blip r:embed="rId6"/>
              <a:stretch>
                <a:fillRect/>
              </a:stretch>
            </p:blipFill>
            <p:spPr>
              <a:xfrm>
                <a:off x="5259213" y="963076"/>
                <a:ext cx="1950120" cy="351561"/>
              </a:xfrm>
              <a:prstGeom prst="rect">
                <a:avLst/>
              </a:prstGeom>
            </p:spPr>
          </p:pic>
        </mc:Fallback>
      </mc:AlternateContent>
      <p:sp>
        <p:nvSpPr>
          <p:cNvPr id="15" name="Google Shape;244;p28">
            <a:extLst>
              <a:ext uri="{FF2B5EF4-FFF2-40B4-BE49-F238E27FC236}">
                <a16:creationId xmlns:a16="http://schemas.microsoft.com/office/drawing/2014/main" id="{431C2FA7-369A-6EB4-0BF5-26B3C0DF5ECB}"/>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Hardware Prototype </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1240CB41-0345-9797-2080-5EF2D99516A8}"/>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pic>
        <p:nvPicPr>
          <p:cNvPr id="4" name="Picture 3">
            <a:extLst>
              <a:ext uri="{FF2B5EF4-FFF2-40B4-BE49-F238E27FC236}">
                <a16:creationId xmlns:a16="http://schemas.microsoft.com/office/drawing/2014/main" id="{74BCBE49-DFD8-7A09-7709-B785BDD447E4}"/>
              </a:ext>
            </a:extLst>
          </p:cNvPr>
          <p:cNvPicPr>
            <a:picLocks noChangeAspect="1"/>
          </p:cNvPicPr>
          <p:nvPr/>
        </p:nvPicPr>
        <p:blipFill>
          <a:blip r:embed="rId7"/>
          <a:stretch>
            <a:fillRect/>
          </a:stretch>
        </p:blipFill>
        <p:spPr>
          <a:xfrm>
            <a:off x="767660" y="2632926"/>
            <a:ext cx="4114892" cy="3077966"/>
          </a:xfrm>
          <a:prstGeom prst="rect">
            <a:avLst/>
          </a:prstGeom>
          <a:ln w="19050">
            <a:solidFill>
              <a:schemeClr val="tx1"/>
            </a:solidFill>
          </a:ln>
          <a:effectLst>
            <a:outerShdw blurRad="50800" dist="38100" algn="l" rotWithShape="0">
              <a:prstClr val="black">
                <a:alpha val="40000"/>
              </a:prstClr>
            </a:outerShdw>
          </a:effectLst>
        </p:spPr>
      </p:pic>
      <p:sp>
        <p:nvSpPr>
          <p:cNvPr id="7" name="TextBox 6">
            <a:extLst>
              <a:ext uri="{FF2B5EF4-FFF2-40B4-BE49-F238E27FC236}">
                <a16:creationId xmlns:a16="http://schemas.microsoft.com/office/drawing/2014/main" id="{181DFC13-B713-2432-CAA4-4A7A24112C84}"/>
              </a:ext>
            </a:extLst>
          </p:cNvPr>
          <p:cNvSpPr txBox="1"/>
          <p:nvPr/>
        </p:nvSpPr>
        <p:spPr>
          <a:xfrm>
            <a:off x="691837" y="5728620"/>
            <a:ext cx="2715808" cy="253916"/>
          </a:xfrm>
          <a:prstGeom prst="rect">
            <a:avLst/>
          </a:prstGeom>
          <a:noFill/>
        </p:spPr>
        <p:txBody>
          <a:bodyPr wrap="none" rtlCol="0">
            <a:spAutoFit/>
          </a:bodyPr>
          <a:lstStyle/>
          <a:p>
            <a:r>
              <a:rPr lang="it-IT" sz="1050" dirty="0">
                <a:solidFill>
                  <a:schemeClr val="tx2">
                    <a:lumMod val="90000"/>
                    <a:lumOff val="10000"/>
                  </a:schemeClr>
                </a:solidFill>
                <a:latin typeface="Poppins" panose="00000500000000000000" pitchFamily="2" charset="0"/>
                <a:cs typeface="Poppins" panose="00000500000000000000" pitchFamily="2" charset="0"/>
              </a:rPr>
              <a:t>Prototype developed by </a:t>
            </a:r>
            <a:r>
              <a:rPr lang="it-IT" sz="1050" b="1" dirty="0">
                <a:solidFill>
                  <a:schemeClr val="tx2">
                    <a:lumMod val="90000"/>
                    <a:lumOff val="10000"/>
                  </a:schemeClr>
                </a:solidFill>
                <a:latin typeface="Poppins" panose="00000500000000000000" pitchFamily="2" charset="0"/>
                <a:cs typeface="Poppins" panose="00000500000000000000" pitchFamily="2" charset="0"/>
              </a:rPr>
              <a:t>HumanWare</a:t>
            </a:r>
          </a:p>
        </p:txBody>
      </p:sp>
      <p:sp>
        <p:nvSpPr>
          <p:cNvPr id="9" name="TextBox 8">
            <a:extLst>
              <a:ext uri="{FF2B5EF4-FFF2-40B4-BE49-F238E27FC236}">
                <a16:creationId xmlns:a16="http://schemas.microsoft.com/office/drawing/2014/main" id="{6856A691-E68F-47BA-223A-CE7AF381A1E3}"/>
              </a:ext>
            </a:extLst>
          </p:cNvPr>
          <p:cNvSpPr txBox="1"/>
          <p:nvPr/>
        </p:nvSpPr>
        <p:spPr>
          <a:xfrm>
            <a:off x="5634019" y="2362151"/>
            <a:ext cx="6107502" cy="3724096"/>
          </a:xfrm>
          <a:prstGeom prst="rect">
            <a:avLst/>
          </a:prstGeom>
          <a:noFill/>
        </p:spPr>
        <p:txBody>
          <a:bodyPr wrap="square">
            <a:spAutoFit/>
          </a:bodyPr>
          <a:lstStyle/>
          <a:p>
            <a:pPr>
              <a:buNone/>
            </a:pPr>
            <a:r>
              <a:rPr lang="en-US" sz="1600" b="1" dirty="0">
                <a:solidFill>
                  <a:schemeClr val="accent1">
                    <a:lumMod val="50000"/>
                  </a:schemeClr>
                </a:solidFill>
                <a:latin typeface="Poppins" panose="00000500000000000000" pitchFamily="2" charset="0"/>
                <a:cs typeface="Poppins" panose="00000500000000000000" pitchFamily="2" charset="0"/>
              </a:rPr>
              <a:t>OEM Software Modifications (</a:t>
            </a:r>
            <a:r>
              <a:rPr lang="en-US" sz="1600" b="1" dirty="0" err="1">
                <a:solidFill>
                  <a:schemeClr val="accent1">
                    <a:lumMod val="50000"/>
                  </a:schemeClr>
                </a:solidFill>
                <a:latin typeface="Poppins" panose="00000500000000000000" pitchFamily="2" charset="0"/>
                <a:cs typeface="Poppins" panose="00000500000000000000" pitchFamily="2" charset="0"/>
              </a:rPr>
              <a:t>BoardClient</a:t>
            </a:r>
            <a:r>
              <a:rPr lang="en-US" sz="1600" b="1" dirty="0">
                <a:solidFill>
                  <a:schemeClr val="accent1">
                    <a:lumMod val="50000"/>
                  </a:schemeClr>
                </a:solidFill>
                <a:latin typeface="Poppins" panose="00000500000000000000" pitchFamily="2" charset="0"/>
                <a:cs typeface="Poppins" panose="00000500000000000000" pitchFamily="2" charset="0"/>
              </a:rPr>
              <a:t> &amp; GUI)</a:t>
            </a:r>
          </a:p>
          <a:p>
            <a:pPr>
              <a:buNone/>
            </a:pPr>
            <a:r>
              <a:rPr lang="en-US" sz="1200" dirty="0">
                <a:solidFill>
                  <a:schemeClr val="tx2">
                    <a:lumMod val="90000"/>
                    <a:lumOff val="10000"/>
                  </a:schemeClr>
                </a:solidFill>
                <a:latin typeface="Poppins" panose="00000500000000000000" pitchFamily="2" charset="0"/>
                <a:cs typeface="Poppins" panose="00000500000000000000" pitchFamily="2" charset="0"/>
              </a:rPr>
              <a:t>Three main modifications with respect to the </a:t>
            </a:r>
            <a:r>
              <a:rPr lang="en-US" sz="1200" dirty="0" err="1">
                <a:solidFill>
                  <a:schemeClr val="tx2">
                    <a:lumMod val="90000"/>
                    <a:lumOff val="10000"/>
                  </a:schemeClr>
                </a:solidFill>
                <a:latin typeface="Poppins" panose="00000500000000000000" pitchFamily="2" charset="0"/>
                <a:cs typeface="Poppins" panose="00000500000000000000" pitchFamily="2" charset="0"/>
              </a:rPr>
              <a:t>Humanware</a:t>
            </a:r>
            <a:r>
              <a:rPr lang="en-US" sz="1200" dirty="0">
                <a:solidFill>
                  <a:schemeClr val="tx2">
                    <a:lumMod val="90000"/>
                    <a:lumOff val="10000"/>
                  </a:schemeClr>
                </a:solidFill>
                <a:latin typeface="Poppins" panose="00000500000000000000" pitchFamily="2" charset="0"/>
                <a:cs typeface="Poppins" panose="00000500000000000000" pitchFamily="2" charset="0"/>
              </a:rPr>
              <a:t> baseline:</a:t>
            </a:r>
          </a:p>
          <a:p>
            <a:pPr>
              <a:buFont typeface="+mj-lt"/>
              <a:buAutoNum type="arabicPeriod"/>
            </a:pPr>
            <a:r>
              <a:rPr lang="en-US" sz="1200" b="1" dirty="0">
                <a:solidFill>
                  <a:schemeClr val="tx2">
                    <a:lumMod val="90000"/>
                    <a:lumOff val="10000"/>
                  </a:schemeClr>
                </a:solidFill>
                <a:latin typeface="Poppins" panose="00000500000000000000" pitchFamily="2" charset="0"/>
                <a:cs typeface="Poppins" panose="00000500000000000000" pitchFamily="2" charset="0"/>
              </a:rPr>
              <a:t>Robust Auto-Reconnection</a:t>
            </a:r>
            <a:r>
              <a:rPr lang="en-US" sz="1200" dirty="0">
                <a:solidFill>
                  <a:schemeClr val="tx2">
                    <a:lumMod val="90000"/>
                    <a:lumOff val="10000"/>
                  </a:schemeClr>
                </a:solidFill>
                <a:latin typeface="Poppins" panose="00000500000000000000" pitchFamily="2" charset="0"/>
                <a:cs typeface="Poppins" panose="00000500000000000000" pitchFamily="2" charset="0"/>
              </a:rPr>
              <a:t> — stale-RX watchdog detecting silent streams and triggering automatic serial reconnection</a:t>
            </a:r>
          </a:p>
          <a:p>
            <a:pPr>
              <a:buFont typeface="+mj-lt"/>
              <a:buAutoNum type="arabicPeriod"/>
            </a:pPr>
            <a:r>
              <a:rPr lang="en-US" sz="1200" b="1" dirty="0">
                <a:solidFill>
                  <a:schemeClr val="tx2">
                    <a:lumMod val="90000"/>
                    <a:lumOff val="10000"/>
                  </a:schemeClr>
                </a:solidFill>
                <a:latin typeface="Poppins" panose="00000500000000000000" pitchFamily="2" charset="0"/>
                <a:cs typeface="Poppins" panose="00000500000000000000" pitchFamily="2" charset="0"/>
              </a:rPr>
              <a:t>Thread-Safe GUI Updates</a:t>
            </a:r>
            <a:r>
              <a:rPr lang="en-US" sz="1200" dirty="0">
                <a:solidFill>
                  <a:schemeClr val="tx2">
                    <a:lumMod val="90000"/>
                    <a:lumOff val="10000"/>
                  </a:schemeClr>
                </a:solidFill>
                <a:latin typeface="Poppins" panose="00000500000000000000" pitchFamily="2" charset="0"/>
                <a:cs typeface="Poppins" panose="00000500000000000000" pitchFamily="2" charset="0"/>
              </a:rPr>
              <a:t> — producer-consumer queue pattern decoupling the serial RX thread from the </a:t>
            </a:r>
            <a:r>
              <a:rPr lang="en-US" sz="1200" dirty="0" err="1">
                <a:solidFill>
                  <a:schemeClr val="tx2">
                    <a:lumMod val="90000"/>
                    <a:lumOff val="10000"/>
                  </a:schemeClr>
                </a:solidFill>
                <a:latin typeface="Poppins" panose="00000500000000000000" pitchFamily="2" charset="0"/>
                <a:cs typeface="Poppins" panose="00000500000000000000" pitchFamily="2" charset="0"/>
              </a:rPr>
              <a:t>Tkinter</a:t>
            </a:r>
            <a:r>
              <a:rPr lang="en-US" sz="1200" dirty="0">
                <a:solidFill>
                  <a:schemeClr val="tx2">
                    <a:lumMod val="90000"/>
                    <a:lumOff val="10000"/>
                  </a:schemeClr>
                </a:solidFill>
                <a:latin typeface="Poppins" panose="00000500000000000000" pitchFamily="2" charset="0"/>
                <a:cs typeface="Poppins" panose="00000500000000000000" pitchFamily="2" charset="0"/>
              </a:rPr>
              <a:t> GUI thread, preventing race conditions</a:t>
            </a:r>
          </a:p>
          <a:p>
            <a:pPr>
              <a:buFont typeface="+mj-lt"/>
              <a:buAutoNum type="arabicPeriod"/>
            </a:pPr>
            <a:r>
              <a:rPr lang="en-US" sz="1200" b="1" dirty="0">
                <a:solidFill>
                  <a:schemeClr val="tx2">
                    <a:lumMod val="90000"/>
                    <a:lumOff val="10000"/>
                  </a:schemeClr>
                </a:solidFill>
                <a:latin typeface="Poppins" panose="00000500000000000000" pitchFamily="2" charset="0"/>
                <a:cs typeface="Poppins" panose="00000500000000000000" pitchFamily="2" charset="0"/>
              </a:rPr>
              <a:t>Derived Velocity Estimation</a:t>
            </a:r>
            <a:r>
              <a:rPr lang="en-US" sz="1200" dirty="0">
                <a:solidFill>
                  <a:schemeClr val="tx2">
                    <a:lumMod val="90000"/>
                    <a:lumOff val="10000"/>
                  </a:schemeClr>
                </a:solidFill>
                <a:latin typeface="Poppins" panose="00000500000000000000" pitchFamily="2" charset="0"/>
                <a:cs typeface="Poppins" panose="00000500000000000000" pitchFamily="2" charset="0"/>
              </a:rPr>
              <a:t> — firmware returns </a:t>
            </a:r>
            <a:r>
              <a:rPr lang="en-US" sz="1200" dirty="0" err="1">
                <a:solidFill>
                  <a:schemeClr val="tx2">
                    <a:lumMod val="90000"/>
                    <a:lumOff val="10000"/>
                  </a:schemeClr>
                </a:solidFill>
                <a:latin typeface="Poppins" panose="00000500000000000000" pitchFamily="2" charset="0"/>
                <a:cs typeface="Poppins" panose="00000500000000000000" pitchFamily="2" charset="0"/>
              </a:rPr>
              <a:t>NaN</a:t>
            </a:r>
            <a:r>
              <a:rPr lang="en-US" sz="1200" dirty="0">
                <a:solidFill>
                  <a:schemeClr val="tx2">
                    <a:lumMod val="90000"/>
                    <a:lumOff val="10000"/>
                  </a:schemeClr>
                </a:solidFill>
                <a:latin typeface="Poppins" panose="00000500000000000000" pitchFamily="2" charset="0"/>
                <a:cs typeface="Poppins" panose="00000500000000000000" pitchFamily="2" charset="0"/>
              </a:rPr>
              <a:t> for </a:t>
            </a:r>
            <a:r>
              <a:rPr lang="en-US" sz="1200" dirty="0" err="1">
                <a:solidFill>
                  <a:schemeClr val="tx2">
                    <a:lumMod val="90000"/>
                    <a:lumOff val="10000"/>
                  </a:schemeClr>
                </a:solidFill>
                <a:latin typeface="Poppins" panose="00000500000000000000" pitchFamily="2" charset="0"/>
                <a:cs typeface="Poppins" panose="00000500000000000000" pitchFamily="2" charset="0"/>
              </a:rPr>
              <a:t>vel_counts_s</a:t>
            </a:r>
            <a:r>
              <a:rPr lang="en-US" sz="1200" dirty="0">
                <a:solidFill>
                  <a:schemeClr val="tx2">
                    <a:lumMod val="90000"/>
                    <a:lumOff val="10000"/>
                  </a:schemeClr>
                </a:solidFill>
                <a:latin typeface="Poppins" panose="00000500000000000000" pitchFamily="2" charset="0"/>
                <a:cs typeface="Poppins" panose="00000500000000000000" pitchFamily="2" charset="0"/>
              </a:rPr>
              <a:t>; replaced by two offline pipelines: </a:t>
            </a:r>
          </a:p>
          <a:p>
            <a:pPr marL="742950" lvl="1" indent="-285750">
              <a:buFont typeface="Arial" panose="020B0604020202020204" pitchFamily="34" charset="0"/>
              <a:buChar char="•"/>
            </a:pPr>
            <a:r>
              <a:rPr lang="en-US" sz="1200" i="1" dirty="0">
                <a:solidFill>
                  <a:schemeClr val="tx2">
                    <a:lumMod val="90000"/>
                    <a:lumOff val="10000"/>
                  </a:schemeClr>
                </a:solidFill>
                <a:latin typeface="Poppins" panose="00000500000000000000" pitchFamily="2" charset="0"/>
                <a:cs typeface="Poppins" panose="00000500000000000000" pitchFamily="2" charset="0"/>
              </a:rPr>
              <a:t>Local linear regression</a:t>
            </a:r>
            <a:r>
              <a:rPr lang="en-US" sz="1200" dirty="0">
                <a:solidFill>
                  <a:schemeClr val="tx2">
                    <a:lumMod val="90000"/>
                    <a:lumOff val="10000"/>
                  </a:schemeClr>
                </a:solidFill>
                <a:latin typeface="Poppins" panose="00000500000000000000" pitchFamily="2" charset="0"/>
                <a:cs typeface="Poppins" panose="00000500000000000000" pitchFamily="2" charset="0"/>
              </a:rPr>
              <a:t> (sliding window, robust to missing samples)</a:t>
            </a:r>
          </a:p>
          <a:p>
            <a:pPr marL="742950" lvl="1" indent="-285750">
              <a:buFont typeface="Arial" panose="020B0604020202020204" pitchFamily="34" charset="0"/>
              <a:buChar char="•"/>
            </a:pPr>
            <a:r>
              <a:rPr lang="en-US" sz="1200" i="1" dirty="0" err="1">
                <a:solidFill>
                  <a:schemeClr val="tx2">
                    <a:lumMod val="90000"/>
                    <a:lumOff val="10000"/>
                  </a:schemeClr>
                </a:solidFill>
                <a:latin typeface="Poppins" panose="00000500000000000000" pitchFamily="2" charset="0"/>
                <a:cs typeface="Poppins" panose="00000500000000000000" pitchFamily="2" charset="0"/>
              </a:rPr>
              <a:t>Savitzky</a:t>
            </a:r>
            <a:r>
              <a:rPr lang="en-US" sz="1200" i="1" dirty="0">
                <a:solidFill>
                  <a:schemeClr val="tx2">
                    <a:lumMod val="90000"/>
                    <a:lumOff val="10000"/>
                  </a:schemeClr>
                </a:solidFill>
                <a:latin typeface="Poppins" panose="00000500000000000000" pitchFamily="2" charset="0"/>
                <a:cs typeface="Poppins" panose="00000500000000000000" pitchFamily="2" charset="0"/>
              </a:rPr>
              <a:t>-Golay differentiation</a:t>
            </a:r>
            <a:r>
              <a:rPr lang="en-US" sz="1200" dirty="0">
                <a:solidFill>
                  <a:schemeClr val="tx2">
                    <a:lumMod val="90000"/>
                    <a:lumOff val="10000"/>
                  </a:schemeClr>
                </a:solidFill>
                <a:latin typeface="Poppins" panose="00000500000000000000" pitchFamily="2" charset="0"/>
                <a:cs typeface="Poppins" panose="00000500000000000000" pitchFamily="2" charset="0"/>
              </a:rPr>
              <a:t> (smoother output, preferred for kinematic analysis)</a:t>
            </a:r>
          </a:p>
          <a:p>
            <a:pPr lvl="1"/>
            <a:endParaRPr lang="en-US" sz="1200" dirty="0">
              <a:solidFill>
                <a:schemeClr val="tx2">
                  <a:lumMod val="90000"/>
                  <a:lumOff val="10000"/>
                </a:schemeClr>
              </a:solidFill>
              <a:latin typeface="Poppins" panose="00000500000000000000" pitchFamily="2" charset="0"/>
              <a:cs typeface="Poppins" panose="00000500000000000000" pitchFamily="2" charset="0"/>
            </a:endParaRPr>
          </a:p>
          <a:p>
            <a:r>
              <a:rPr lang="it-IT" sz="1600" b="1" dirty="0">
                <a:solidFill>
                  <a:schemeClr val="accent1">
                    <a:lumMod val="50000"/>
                  </a:schemeClr>
                </a:solidFill>
                <a:latin typeface="Poppins" panose="00000500000000000000" pitchFamily="2" charset="0"/>
                <a:cs typeface="Poppins" panose="00000500000000000000" pitchFamily="2" charset="0"/>
              </a:rPr>
              <a:t>Data Logging &amp; Analysis</a:t>
            </a:r>
          </a:p>
          <a:p>
            <a:pPr marL="285750" indent="-285750">
              <a:buFont typeface="Arial" panose="020B0604020202020204" pitchFamily="34" charset="0"/>
              <a:buChar char="•"/>
            </a:pPr>
            <a:r>
              <a:rPr lang="it-IT" sz="1200" dirty="0">
                <a:solidFill>
                  <a:schemeClr val="tx2">
                    <a:lumMod val="90000"/>
                    <a:lumOff val="10000"/>
                  </a:schemeClr>
                </a:solidFill>
                <a:latin typeface="Poppins" panose="00000500000000000000" pitchFamily="2" charset="0"/>
                <a:cs typeface="Poppins" panose="00000500000000000000" pitchFamily="2" charset="0"/>
              </a:rPr>
              <a:t>Mixed-schema CSV logging (telemetry rows + event rows) for precise command/sensor alignment</a:t>
            </a:r>
          </a:p>
          <a:p>
            <a:pPr marL="285750" indent="-285750">
              <a:buFont typeface="Arial" panose="020B0604020202020204" pitchFamily="34" charset="0"/>
              <a:buChar char="•"/>
            </a:pPr>
            <a:r>
              <a:rPr lang="it-IT" sz="1200" dirty="0">
                <a:solidFill>
                  <a:schemeClr val="tx2">
                    <a:lumMod val="90000"/>
                    <a:lumOff val="10000"/>
                  </a:schemeClr>
                </a:solidFill>
                <a:latin typeface="Poppins" panose="00000500000000000000" pitchFamily="2" charset="0"/>
                <a:cs typeface="Poppins" panose="00000500000000000000" pitchFamily="2" charset="0"/>
              </a:rPr>
              <a:t>IQR-based spike rejection (k=5)</a:t>
            </a:r>
          </a:p>
          <a:p>
            <a:pPr marL="285750" indent="-285750">
              <a:buFont typeface="Arial" panose="020B0604020202020204" pitchFamily="34" charset="0"/>
              <a:buChar char="•"/>
            </a:pPr>
            <a:r>
              <a:rPr lang="it-IT" sz="1200" dirty="0">
                <a:solidFill>
                  <a:schemeClr val="tx2">
                    <a:lumMod val="90000"/>
                    <a:lumOff val="10000"/>
                  </a:schemeClr>
                </a:solidFill>
                <a:latin typeface="Poppins" panose="00000500000000000000" pitchFamily="2" charset="0"/>
                <a:cs typeface="Poppins" panose="00000500000000000000" pitchFamily="2" charset="0"/>
              </a:rPr>
              <a:t>Multi-panel time-series</a:t>
            </a:r>
          </a:p>
          <a:p>
            <a:pPr lvl="1"/>
            <a:endParaRPr lang="en-US" sz="12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5280595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B8D4E-C42F-883E-0867-6B81F9FE2C63}"/>
            </a:ext>
          </a:extLst>
        </p:cNvPr>
        <p:cNvGrpSpPr/>
        <p:nvPr/>
      </p:nvGrpSpPr>
      <p:grpSpPr>
        <a:xfrm>
          <a:off x="0" y="0"/>
          <a:ext cx="0" cy="0"/>
          <a:chOff x="0" y="0"/>
          <a:chExt cx="0" cy="0"/>
        </a:xfrm>
      </p:grpSpPr>
      <p:sp>
        <p:nvSpPr>
          <p:cNvPr id="42" name="Google Shape;259;p29">
            <a:extLst>
              <a:ext uri="{FF2B5EF4-FFF2-40B4-BE49-F238E27FC236}">
                <a16:creationId xmlns:a16="http://schemas.microsoft.com/office/drawing/2014/main" id="{C0BA0F33-E261-C46E-67C4-EDEBC6AB6F59}"/>
              </a:ext>
            </a:extLst>
          </p:cNvPr>
          <p:cNvSpPr/>
          <p:nvPr/>
        </p:nvSpPr>
        <p:spPr>
          <a:xfrm>
            <a:off x="525933" y="1433398"/>
            <a:ext cx="6227292" cy="272400"/>
          </a:xfrm>
          <a:prstGeom prst="roundRect">
            <a:avLst>
              <a:gd name="adj" fmla="val 50000"/>
            </a:avLst>
          </a:prstGeom>
          <a:solidFill>
            <a:schemeClr val="accent1">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Sottotitolo 2">
            <a:extLst>
              <a:ext uri="{FF2B5EF4-FFF2-40B4-BE49-F238E27FC236}">
                <a16:creationId xmlns:a16="http://schemas.microsoft.com/office/drawing/2014/main" id="{542BDA93-22BC-B0EB-9AF6-3761DCA2513A}"/>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C864D912-9C35-09A5-8E64-499BFB35E3A1}"/>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A159B476-FF76-7DF7-2399-3DE5980A3E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89B8B1CB-3A45-37C9-0456-87CED42B3189}"/>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89B8B1CB-3A45-37C9-0456-87CED42B3189}"/>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A2785B5A-D890-0D9F-AEF2-91A2E6528DF4}"/>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A2785B5A-D890-0D9F-AEF2-91A2E6528DF4}"/>
                  </a:ext>
                </a:extLst>
              </p:cNvPr>
              <p:cNvPicPr/>
              <p:nvPr/>
            </p:nvPicPr>
            <p:blipFill>
              <a:blip r:embed="rId6"/>
              <a:stretch>
                <a:fillRect/>
              </a:stretch>
            </p:blipFill>
            <p:spPr>
              <a:xfrm>
                <a:off x="5259213" y="963076"/>
                <a:ext cx="1950120" cy="351561"/>
              </a:xfrm>
              <a:prstGeom prst="rect">
                <a:avLst/>
              </a:prstGeom>
            </p:spPr>
          </p:pic>
        </mc:Fallback>
      </mc:AlternateContent>
      <p:sp>
        <p:nvSpPr>
          <p:cNvPr id="15" name="Google Shape;244;p28">
            <a:extLst>
              <a:ext uri="{FF2B5EF4-FFF2-40B4-BE49-F238E27FC236}">
                <a16:creationId xmlns:a16="http://schemas.microsoft.com/office/drawing/2014/main" id="{9D50404A-749C-E01A-E66E-1F9197DC246B}"/>
              </a:ext>
            </a:extLst>
          </p:cNvPr>
          <p:cNvSpPr txBox="1">
            <a:spLocks/>
          </p:cNvSpPr>
          <p:nvPr/>
        </p:nvSpPr>
        <p:spPr>
          <a:xfrm>
            <a:off x="604928" y="1129380"/>
            <a:ext cx="9316311"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0A2540"/>
                </a:solidFill>
                <a:latin typeface="Poppins Black" panose="00000A00000000000000" pitchFamily="2" charset="0"/>
                <a:ea typeface="Cambria" pitchFamily="34" charset="-122"/>
                <a:cs typeface="Poppins Black" panose="00000A00000000000000" pitchFamily="2" charset="0"/>
              </a:rPr>
              <a:t>Conclusion &amp; Future Work</a:t>
            </a:r>
            <a:endParaRPr lang="en-US" sz="32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7D689AE7-78D7-CDEE-FF22-00F67B5CD08A}"/>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41" name="Shape 3">
            <a:extLst>
              <a:ext uri="{FF2B5EF4-FFF2-40B4-BE49-F238E27FC236}">
                <a16:creationId xmlns:a16="http://schemas.microsoft.com/office/drawing/2014/main" id="{704C88B5-9552-3F04-9996-324B1F36D548}"/>
              </a:ext>
            </a:extLst>
          </p:cNvPr>
          <p:cNvSpPr/>
          <p:nvPr/>
        </p:nvSpPr>
        <p:spPr>
          <a:xfrm>
            <a:off x="554508" y="1933147"/>
            <a:ext cx="5486400" cy="448056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43" name="Shape 4">
            <a:extLst>
              <a:ext uri="{FF2B5EF4-FFF2-40B4-BE49-F238E27FC236}">
                <a16:creationId xmlns:a16="http://schemas.microsoft.com/office/drawing/2014/main" id="{D6CF97FB-C2B7-6E3E-7CAF-096A76D4E6D9}"/>
              </a:ext>
            </a:extLst>
          </p:cNvPr>
          <p:cNvSpPr/>
          <p:nvPr/>
        </p:nvSpPr>
        <p:spPr>
          <a:xfrm>
            <a:off x="554508" y="1933147"/>
            <a:ext cx="5486400" cy="109728"/>
          </a:xfrm>
          <a:prstGeom prst="rect">
            <a:avLst/>
          </a:prstGeom>
          <a:solidFill>
            <a:srgbClr val="1C7293"/>
          </a:solidFill>
          <a:ln w="12700">
            <a:solidFill>
              <a:srgbClr val="1C7293"/>
            </a:solidFill>
            <a:prstDash val="solid"/>
          </a:ln>
        </p:spPr>
        <p:txBody>
          <a:bodyPr/>
          <a:lstStyle/>
          <a:p>
            <a:endParaRPr lang="it-IT"/>
          </a:p>
        </p:txBody>
      </p:sp>
      <p:pic>
        <p:nvPicPr>
          <p:cNvPr id="44" name="Image 0" descr="preencoded.png">
            <a:extLst>
              <a:ext uri="{FF2B5EF4-FFF2-40B4-BE49-F238E27FC236}">
                <a16:creationId xmlns:a16="http://schemas.microsoft.com/office/drawing/2014/main" id="{8166137D-9995-A0CC-B7EF-F3E538672C43}"/>
              </a:ext>
            </a:extLst>
          </p:cNvPr>
          <p:cNvPicPr>
            <a:picLocks noChangeAspect="1"/>
          </p:cNvPicPr>
          <p:nvPr/>
        </p:nvPicPr>
        <p:blipFill>
          <a:blip r:embed="rId7"/>
          <a:stretch>
            <a:fillRect/>
          </a:stretch>
        </p:blipFill>
        <p:spPr>
          <a:xfrm>
            <a:off x="783108" y="2195929"/>
            <a:ext cx="320040" cy="320040"/>
          </a:xfrm>
          <a:prstGeom prst="rect">
            <a:avLst/>
          </a:prstGeom>
        </p:spPr>
      </p:pic>
      <p:sp>
        <p:nvSpPr>
          <p:cNvPr id="45" name="Text 5">
            <a:extLst>
              <a:ext uri="{FF2B5EF4-FFF2-40B4-BE49-F238E27FC236}">
                <a16:creationId xmlns:a16="http://schemas.microsoft.com/office/drawing/2014/main" id="{954DED19-2D21-4F95-7318-463F5881B9DE}"/>
              </a:ext>
            </a:extLst>
          </p:cNvPr>
          <p:cNvSpPr/>
          <p:nvPr/>
        </p:nvSpPr>
        <p:spPr>
          <a:xfrm>
            <a:off x="1286028" y="2161747"/>
            <a:ext cx="4572000" cy="411480"/>
          </a:xfrm>
          <a:prstGeom prst="rect">
            <a:avLst/>
          </a:prstGeom>
          <a:noFill/>
          <a:ln/>
        </p:spPr>
        <p:txBody>
          <a:bodyPr wrap="square" lIns="0" tIns="0" rIns="0" bIns="0" rtlCol="0" anchor="ctr"/>
          <a:lstStyle/>
          <a:p>
            <a:pPr marL="0" indent="0">
              <a:buNone/>
            </a:pPr>
            <a:r>
              <a:rPr lang="en-US" sz="2400" b="1" kern="0" dirty="0">
                <a:solidFill>
                  <a:srgbClr val="1C7293"/>
                </a:solidFill>
                <a:latin typeface="Poppins Black" panose="00000A00000000000000" pitchFamily="2" charset="0"/>
                <a:ea typeface="Calibri" pitchFamily="34" charset="-122"/>
                <a:cs typeface="Poppins Black" panose="00000A00000000000000" pitchFamily="2" charset="0"/>
              </a:rPr>
              <a:t>CONTRIBUTIONS</a:t>
            </a:r>
            <a:endParaRPr lang="en-US" sz="2400" dirty="0">
              <a:latin typeface="Poppins Black" panose="00000A00000000000000" pitchFamily="2" charset="0"/>
              <a:cs typeface="Poppins Black" panose="00000A00000000000000" pitchFamily="2" charset="0"/>
            </a:endParaRPr>
          </a:p>
        </p:txBody>
      </p:sp>
      <p:sp>
        <p:nvSpPr>
          <p:cNvPr id="46" name="Text 6">
            <a:extLst>
              <a:ext uri="{FF2B5EF4-FFF2-40B4-BE49-F238E27FC236}">
                <a16:creationId xmlns:a16="http://schemas.microsoft.com/office/drawing/2014/main" id="{03CEDA9A-657F-274B-DFBD-43DE84E23CE2}"/>
              </a:ext>
            </a:extLst>
          </p:cNvPr>
          <p:cNvSpPr/>
          <p:nvPr/>
        </p:nvSpPr>
        <p:spPr>
          <a:xfrm>
            <a:off x="783108" y="2657475"/>
            <a:ext cx="5074920" cy="3657600"/>
          </a:xfrm>
          <a:prstGeom prst="rect">
            <a:avLst/>
          </a:prstGeom>
          <a:noFill/>
          <a:ln/>
        </p:spPr>
        <p:txBody>
          <a:bodyPr wrap="square" rtlCol="0" anchor="ctr"/>
          <a:lstStyle/>
          <a:p>
            <a:pPr marL="171450" indent="-171450">
              <a:spcAft>
                <a:spcPts val="600"/>
              </a:spcAft>
              <a:buSzPct val="100000"/>
              <a:buFont typeface="Arial" panose="020B0604020202020204" pitchFamily="34" charset="0"/>
              <a:buChar char="•"/>
            </a:pPr>
            <a:r>
              <a:rPr lang="en-US" sz="1400" b="1"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URDF model </a:t>
            </a:r>
            <a:r>
              <a:rPr lang="en-US" sz="14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of a closed-chain mechanism via software-enforced loop closure</a:t>
            </a:r>
            <a:endParaRPr lang="en-US" sz="1400" dirty="0">
              <a:solidFill>
                <a:schemeClr val="tx2">
                  <a:lumMod val="90000"/>
                  <a:lumOff val="10000"/>
                </a:schemeClr>
              </a:solidFill>
              <a:latin typeface="Poppins" panose="00000500000000000000" pitchFamily="2" charset="0"/>
              <a:cs typeface="Poppins" panose="00000500000000000000" pitchFamily="2" charset="0"/>
            </a:endParaRPr>
          </a:p>
          <a:p>
            <a:pPr marL="171450" indent="-171450">
              <a:spcAft>
                <a:spcPts val="600"/>
              </a:spcAft>
              <a:buSzPct val="100000"/>
              <a:buFont typeface="Arial" panose="020B0604020202020204" pitchFamily="34" charset="0"/>
              <a:buChar char="•"/>
            </a:pPr>
            <a:r>
              <a:rPr lang="en-US" sz="1400" b="1"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Reduced-order dynamics</a:t>
            </a:r>
            <a:r>
              <a:rPr lang="en-US" sz="14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 projected on the single actuated DOF — real-time at 200 Hz</a:t>
            </a:r>
            <a:endParaRPr lang="en-US" sz="1400" dirty="0">
              <a:solidFill>
                <a:schemeClr val="tx2">
                  <a:lumMod val="90000"/>
                  <a:lumOff val="10000"/>
                </a:schemeClr>
              </a:solidFill>
              <a:latin typeface="Poppins" panose="00000500000000000000" pitchFamily="2" charset="0"/>
              <a:cs typeface="Poppins" panose="00000500000000000000" pitchFamily="2" charset="0"/>
            </a:endParaRPr>
          </a:p>
          <a:p>
            <a:pPr marL="171450" indent="-171450">
              <a:spcAft>
                <a:spcPts val="600"/>
              </a:spcAft>
              <a:buSzPct val="100000"/>
              <a:buFont typeface="Arial" panose="020B0604020202020204" pitchFamily="34" charset="0"/>
              <a:buChar char="•"/>
            </a:pPr>
            <a:r>
              <a:rPr lang="en-US" sz="1400" b="1"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Cascade admittance–trajectory control </a:t>
            </a:r>
            <a:r>
              <a:rPr lang="en-US" sz="14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with model-based feed-forward</a:t>
            </a:r>
            <a:endParaRPr lang="en-US" sz="1400" dirty="0">
              <a:solidFill>
                <a:schemeClr val="tx2">
                  <a:lumMod val="90000"/>
                  <a:lumOff val="10000"/>
                </a:schemeClr>
              </a:solidFill>
              <a:latin typeface="Poppins" panose="00000500000000000000" pitchFamily="2" charset="0"/>
              <a:cs typeface="Poppins" panose="00000500000000000000" pitchFamily="2" charset="0"/>
            </a:endParaRPr>
          </a:p>
          <a:p>
            <a:pPr marL="171450" indent="-171450">
              <a:spcAft>
                <a:spcPts val="600"/>
              </a:spcAft>
              <a:buSzPct val="100000"/>
              <a:buFont typeface="Arial" panose="020B0604020202020204" pitchFamily="34" charset="0"/>
              <a:buChar char="•"/>
            </a:pPr>
            <a:r>
              <a:rPr lang="en-US" sz="14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Three-layer defense-in-depth </a:t>
            </a:r>
            <a:r>
              <a:rPr lang="en-US" sz="1400" b="1"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functional safety architecture</a:t>
            </a:r>
            <a:endParaRPr lang="en-US" sz="1400" b="1" dirty="0">
              <a:solidFill>
                <a:schemeClr val="tx2">
                  <a:lumMod val="90000"/>
                  <a:lumOff val="10000"/>
                </a:schemeClr>
              </a:solidFill>
              <a:latin typeface="Poppins" panose="00000500000000000000" pitchFamily="2" charset="0"/>
              <a:cs typeface="Poppins" panose="00000500000000000000" pitchFamily="2" charset="0"/>
            </a:endParaRPr>
          </a:p>
          <a:p>
            <a:pPr marL="171450" indent="-171450">
              <a:spcAft>
                <a:spcPts val="600"/>
              </a:spcAft>
              <a:buSzPct val="100000"/>
              <a:buFont typeface="Arial" panose="020B0604020202020204" pitchFamily="34" charset="0"/>
              <a:buChar char="•"/>
            </a:pPr>
            <a:r>
              <a:rPr lang="en-US" sz="1400" b="1"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Fault injection framework </a:t>
            </a:r>
            <a:r>
              <a:rPr lang="en-US" sz="14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for systematic safety validation</a:t>
            </a:r>
            <a:endParaRPr lang="en-US" sz="1400" dirty="0">
              <a:solidFill>
                <a:schemeClr val="tx2">
                  <a:lumMod val="90000"/>
                  <a:lumOff val="10000"/>
                </a:schemeClr>
              </a:solidFill>
              <a:latin typeface="Poppins" panose="00000500000000000000" pitchFamily="2" charset="0"/>
              <a:cs typeface="Poppins" panose="00000500000000000000" pitchFamily="2" charset="0"/>
            </a:endParaRPr>
          </a:p>
          <a:p>
            <a:pPr marL="171450" indent="-171450">
              <a:spcAft>
                <a:spcPts val="600"/>
              </a:spcAft>
              <a:buSzPct val="100000"/>
              <a:buFont typeface="Arial" panose="020B0604020202020204" pitchFamily="34" charset="0"/>
              <a:buChar char="•"/>
            </a:pPr>
            <a:r>
              <a:rPr lang="en-US" sz="1400" b="1"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Observer-based detection module </a:t>
            </a:r>
            <a:r>
              <a:rPr lang="en-US" sz="14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with four complementary layers</a:t>
            </a:r>
            <a:endParaRPr lang="en-US" sz="1400" dirty="0">
              <a:solidFill>
                <a:schemeClr val="tx2">
                  <a:lumMod val="90000"/>
                  <a:lumOff val="10000"/>
                </a:schemeClr>
              </a:solidFill>
              <a:latin typeface="Poppins" panose="00000500000000000000" pitchFamily="2" charset="0"/>
              <a:cs typeface="Poppins" panose="00000500000000000000" pitchFamily="2" charset="0"/>
            </a:endParaRPr>
          </a:p>
          <a:p>
            <a:pPr marL="171450" indent="-171450">
              <a:spcAft>
                <a:spcPts val="600"/>
              </a:spcAft>
              <a:buSzPct val="100000"/>
              <a:buFont typeface="Arial" panose="020B0604020202020204" pitchFamily="34" charset="0"/>
              <a:buChar char="•"/>
            </a:pPr>
            <a:r>
              <a:rPr lang="en-US" sz="14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Comprehensive hardware documentation for future HIL integration</a:t>
            </a:r>
            <a:endParaRPr lang="en-US" sz="14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47" name="Shape 3">
            <a:extLst>
              <a:ext uri="{FF2B5EF4-FFF2-40B4-BE49-F238E27FC236}">
                <a16:creationId xmlns:a16="http://schemas.microsoft.com/office/drawing/2014/main" id="{2ADBFE62-786E-47FD-2644-7E2B9237A3E5}"/>
              </a:ext>
            </a:extLst>
          </p:cNvPr>
          <p:cNvSpPr/>
          <p:nvPr/>
        </p:nvSpPr>
        <p:spPr>
          <a:xfrm>
            <a:off x="6269508" y="1933147"/>
            <a:ext cx="5486400" cy="4480560"/>
          </a:xfrm>
          <a:prstGeom prst="rect">
            <a:avLst/>
          </a:prstGeom>
          <a:solidFill>
            <a:srgbClr val="FFFFFF"/>
          </a:solidFill>
          <a:ln w="12700">
            <a:solidFill>
              <a:srgbClr val="E8EEF3"/>
            </a:solidFill>
            <a:prstDash val="solid"/>
          </a:ln>
          <a:effectLst>
            <a:outerShdw blurRad="101600" dist="25400" dir="8100000" algn="bl" rotWithShape="0">
              <a:srgbClr val="000000">
                <a:alpha val="10000"/>
              </a:srgbClr>
            </a:outerShdw>
          </a:effectLst>
        </p:spPr>
        <p:txBody>
          <a:bodyPr/>
          <a:lstStyle/>
          <a:p>
            <a:endParaRPr lang="it-IT"/>
          </a:p>
        </p:txBody>
      </p:sp>
      <p:sp>
        <p:nvSpPr>
          <p:cNvPr id="48" name="Shape 4">
            <a:extLst>
              <a:ext uri="{FF2B5EF4-FFF2-40B4-BE49-F238E27FC236}">
                <a16:creationId xmlns:a16="http://schemas.microsoft.com/office/drawing/2014/main" id="{2CC0B699-A92B-9FBB-6FA5-B7B3F7615B5C}"/>
              </a:ext>
            </a:extLst>
          </p:cNvPr>
          <p:cNvSpPr/>
          <p:nvPr/>
        </p:nvSpPr>
        <p:spPr>
          <a:xfrm>
            <a:off x="6269508" y="1933147"/>
            <a:ext cx="5486400" cy="109728"/>
          </a:xfrm>
          <a:prstGeom prst="rect">
            <a:avLst/>
          </a:prstGeom>
          <a:solidFill>
            <a:schemeClr val="accent2">
              <a:lumMod val="75000"/>
            </a:schemeClr>
          </a:solidFill>
          <a:ln w="12700">
            <a:solidFill>
              <a:schemeClr val="accent2"/>
            </a:solidFill>
            <a:prstDash val="solid"/>
          </a:ln>
        </p:spPr>
        <p:txBody>
          <a:bodyPr/>
          <a:lstStyle/>
          <a:p>
            <a:endParaRPr lang="it-IT"/>
          </a:p>
        </p:txBody>
      </p:sp>
      <p:sp>
        <p:nvSpPr>
          <p:cNvPr id="50" name="Text 5">
            <a:extLst>
              <a:ext uri="{FF2B5EF4-FFF2-40B4-BE49-F238E27FC236}">
                <a16:creationId xmlns:a16="http://schemas.microsoft.com/office/drawing/2014/main" id="{B6A4669F-8A1F-62A5-F4E5-14EF66924BB5}"/>
              </a:ext>
            </a:extLst>
          </p:cNvPr>
          <p:cNvSpPr/>
          <p:nvPr/>
        </p:nvSpPr>
        <p:spPr>
          <a:xfrm>
            <a:off x="7001028" y="2161747"/>
            <a:ext cx="4572000" cy="411480"/>
          </a:xfrm>
          <a:prstGeom prst="rect">
            <a:avLst/>
          </a:prstGeom>
          <a:noFill/>
          <a:ln/>
        </p:spPr>
        <p:txBody>
          <a:bodyPr wrap="square" lIns="0" tIns="0" rIns="0" bIns="0" rtlCol="0" anchor="ctr"/>
          <a:lstStyle/>
          <a:p>
            <a:pPr marL="0" indent="0">
              <a:buNone/>
            </a:pPr>
            <a:r>
              <a:rPr lang="en-US" sz="2400" b="1" kern="0" spc="200" dirty="0">
                <a:solidFill>
                  <a:schemeClr val="accent2"/>
                </a:solidFill>
                <a:latin typeface="Poppins Black" panose="00000A00000000000000" pitchFamily="2" charset="0"/>
                <a:ea typeface="Calibri" pitchFamily="34" charset="-122"/>
                <a:cs typeface="Poppins Black" panose="00000A00000000000000" pitchFamily="2" charset="0"/>
              </a:rPr>
              <a:t>Future Work</a:t>
            </a:r>
            <a:endParaRPr lang="en-US" sz="2400" dirty="0">
              <a:solidFill>
                <a:schemeClr val="accent2"/>
              </a:solidFill>
              <a:latin typeface="Poppins Black" panose="00000A00000000000000" pitchFamily="2" charset="0"/>
              <a:cs typeface="Poppins Black" panose="00000A00000000000000" pitchFamily="2" charset="0"/>
            </a:endParaRPr>
          </a:p>
        </p:txBody>
      </p:sp>
      <p:sp>
        <p:nvSpPr>
          <p:cNvPr id="51" name="Text 6">
            <a:extLst>
              <a:ext uri="{FF2B5EF4-FFF2-40B4-BE49-F238E27FC236}">
                <a16:creationId xmlns:a16="http://schemas.microsoft.com/office/drawing/2014/main" id="{754A0300-271B-C489-D4E3-867585EBFA18}"/>
              </a:ext>
            </a:extLst>
          </p:cNvPr>
          <p:cNvSpPr/>
          <p:nvPr/>
        </p:nvSpPr>
        <p:spPr>
          <a:xfrm>
            <a:off x="6498108" y="2657475"/>
            <a:ext cx="5074920" cy="3657600"/>
          </a:xfrm>
          <a:prstGeom prst="rect">
            <a:avLst/>
          </a:prstGeom>
          <a:noFill/>
          <a:ln/>
        </p:spPr>
        <p:txBody>
          <a:bodyPr wrap="square" rtlCol="0" anchor="ctr"/>
          <a:lstStyle/>
          <a:p>
            <a:pPr marL="171450" indent="-171450">
              <a:spcAft>
                <a:spcPts val="600"/>
              </a:spcAft>
              <a:buSzPct val="100000"/>
              <a:buFont typeface="Arial" panose="020B0604020202020204" pitchFamily="34" charset="0"/>
              <a:buChar char="•"/>
            </a:pPr>
            <a:endParaRPr lang="en-US" sz="1400" dirty="0">
              <a:latin typeface="Poppins" panose="00000500000000000000" pitchFamily="2" charset="0"/>
              <a:cs typeface="Poppins" panose="00000500000000000000" pitchFamily="2" charset="0"/>
            </a:endParaRPr>
          </a:p>
        </p:txBody>
      </p:sp>
      <p:grpSp>
        <p:nvGrpSpPr>
          <p:cNvPr id="52" name="Google Shape;6090;p62">
            <a:extLst>
              <a:ext uri="{FF2B5EF4-FFF2-40B4-BE49-F238E27FC236}">
                <a16:creationId xmlns:a16="http://schemas.microsoft.com/office/drawing/2014/main" id="{05604C78-9CA2-E609-7600-75DD79B11477}"/>
              </a:ext>
            </a:extLst>
          </p:cNvPr>
          <p:cNvGrpSpPr/>
          <p:nvPr/>
        </p:nvGrpSpPr>
        <p:grpSpPr>
          <a:xfrm>
            <a:off x="6494237" y="2170497"/>
            <a:ext cx="361194" cy="359355"/>
            <a:chOff x="4147908" y="2303017"/>
            <a:chExt cx="361194" cy="359355"/>
          </a:xfrm>
        </p:grpSpPr>
        <p:sp>
          <p:nvSpPr>
            <p:cNvPr id="53" name="Google Shape;6091;p62">
              <a:extLst>
                <a:ext uri="{FF2B5EF4-FFF2-40B4-BE49-F238E27FC236}">
                  <a16:creationId xmlns:a16="http://schemas.microsoft.com/office/drawing/2014/main" id="{4A33ECA8-B299-04F2-345C-89A80680218C}"/>
                </a:ext>
              </a:extLst>
            </p:cNvPr>
            <p:cNvSpPr/>
            <p:nvPr/>
          </p:nvSpPr>
          <p:spPr>
            <a:xfrm>
              <a:off x="4147908" y="2365861"/>
              <a:ext cx="296511" cy="296511"/>
            </a:xfrm>
            <a:custGeom>
              <a:avLst/>
              <a:gdLst/>
              <a:ahLst/>
              <a:cxnLst/>
              <a:rect l="l" t="t" r="r" b="b"/>
              <a:pathLst>
                <a:path w="11286" h="11286" extrusionOk="0">
                  <a:moveTo>
                    <a:pt x="5639" y="0"/>
                  </a:moveTo>
                  <a:cubicBezTo>
                    <a:pt x="2525" y="0"/>
                    <a:pt x="0" y="2525"/>
                    <a:pt x="0" y="5646"/>
                  </a:cubicBezTo>
                  <a:cubicBezTo>
                    <a:pt x="0" y="8760"/>
                    <a:pt x="2525" y="11285"/>
                    <a:pt x="5639" y="11285"/>
                  </a:cubicBezTo>
                  <a:cubicBezTo>
                    <a:pt x="8761" y="11285"/>
                    <a:pt x="11285" y="8760"/>
                    <a:pt x="11285" y="5646"/>
                  </a:cubicBezTo>
                  <a:cubicBezTo>
                    <a:pt x="11285" y="2525"/>
                    <a:pt x="8761" y="0"/>
                    <a:pt x="5639" y="0"/>
                  </a:cubicBezTo>
                  <a:close/>
                </a:path>
              </a:pathLst>
            </a:custGeom>
            <a:solidFill>
              <a:srgbClr val="81909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4" name="Google Shape;6092;p62">
              <a:extLst>
                <a:ext uri="{FF2B5EF4-FFF2-40B4-BE49-F238E27FC236}">
                  <a16:creationId xmlns:a16="http://schemas.microsoft.com/office/drawing/2014/main" id="{ED9134C9-7F22-211B-9871-CB76C6C7CC3D}"/>
                </a:ext>
              </a:extLst>
            </p:cNvPr>
            <p:cNvSpPr/>
            <p:nvPr/>
          </p:nvSpPr>
          <p:spPr>
            <a:xfrm>
              <a:off x="4296059" y="2508179"/>
              <a:ext cx="148361" cy="11875"/>
            </a:xfrm>
            <a:custGeom>
              <a:avLst/>
              <a:gdLst/>
              <a:ahLst/>
              <a:cxnLst/>
              <a:rect l="l" t="t" r="r" b="b"/>
              <a:pathLst>
                <a:path w="5647" h="452" extrusionOk="0">
                  <a:moveTo>
                    <a:pt x="0" y="0"/>
                  </a:moveTo>
                  <a:lnTo>
                    <a:pt x="0" y="451"/>
                  </a:lnTo>
                  <a:lnTo>
                    <a:pt x="5639" y="451"/>
                  </a:lnTo>
                  <a:cubicBezTo>
                    <a:pt x="5639" y="375"/>
                    <a:pt x="5646" y="305"/>
                    <a:pt x="5646" y="229"/>
                  </a:cubicBezTo>
                  <a:cubicBezTo>
                    <a:pt x="5646" y="153"/>
                    <a:pt x="5646" y="76"/>
                    <a:pt x="5639" y="0"/>
                  </a:cubicBezTo>
                  <a:close/>
                </a:path>
              </a:pathLst>
            </a:custGeom>
            <a:solidFill>
              <a:srgbClr val="213B5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5" name="Google Shape;6093;p62">
              <a:extLst>
                <a:ext uri="{FF2B5EF4-FFF2-40B4-BE49-F238E27FC236}">
                  <a16:creationId xmlns:a16="http://schemas.microsoft.com/office/drawing/2014/main" id="{4D670B49-1D68-2574-A5BF-79F7D3C870B1}"/>
                </a:ext>
              </a:extLst>
            </p:cNvPr>
            <p:cNvSpPr/>
            <p:nvPr/>
          </p:nvSpPr>
          <p:spPr>
            <a:xfrm>
              <a:off x="4420695" y="2303017"/>
              <a:ext cx="88407" cy="86542"/>
            </a:xfrm>
            <a:custGeom>
              <a:avLst/>
              <a:gdLst/>
              <a:ahLst/>
              <a:cxnLst/>
              <a:rect l="l" t="t" r="r" b="b"/>
              <a:pathLst>
                <a:path w="3365" h="3294" extrusionOk="0">
                  <a:moveTo>
                    <a:pt x="2029" y="0"/>
                  </a:moveTo>
                  <a:cubicBezTo>
                    <a:pt x="1974" y="0"/>
                    <a:pt x="1918" y="21"/>
                    <a:pt x="1873" y="68"/>
                  </a:cubicBezTo>
                  <a:lnTo>
                    <a:pt x="202" y="1740"/>
                  </a:lnTo>
                  <a:cubicBezTo>
                    <a:pt x="70" y="1865"/>
                    <a:pt x="1" y="2038"/>
                    <a:pt x="1" y="2219"/>
                  </a:cubicBezTo>
                  <a:lnTo>
                    <a:pt x="1" y="3294"/>
                  </a:lnTo>
                  <a:lnTo>
                    <a:pt x="1069" y="3294"/>
                  </a:lnTo>
                  <a:cubicBezTo>
                    <a:pt x="1249" y="3294"/>
                    <a:pt x="1423" y="3224"/>
                    <a:pt x="1547" y="3099"/>
                  </a:cubicBezTo>
                  <a:lnTo>
                    <a:pt x="3226" y="1421"/>
                  </a:lnTo>
                  <a:cubicBezTo>
                    <a:pt x="3365" y="1282"/>
                    <a:pt x="3268" y="1039"/>
                    <a:pt x="3066" y="1039"/>
                  </a:cubicBezTo>
                  <a:lnTo>
                    <a:pt x="2255" y="1039"/>
                  </a:lnTo>
                  <a:lnTo>
                    <a:pt x="2255" y="228"/>
                  </a:lnTo>
                  <a:cubicBezTo>
                    <a:pt x="2255" y="92"/>
                    <a:pt x="2144" y="0"/>
                    <a:pt x="2029" y="0"/>
                  </a:cubicBezTo>
                  <a:close/>
                </a:path>
              </a:pathLst>
            </a:custGeom>
            <a:solidFill>
              <a:srgbClr val="82828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6" name="Google Shape;6094;p62">
              <a:extLst>
                <a:ext uri="{FF2B5EF4-FFF2-40B4-BE49-F238E27FC236}">
                  <a16:creationId xmlns:a16="http://schemas.microsoft.com/office/drawing/2014/main" id="{B8A6F506-0D82-7E0B-7DCE-9F241CEA9239}"/>
                </a:ext>
              </a:extLst>
            </p:cNvPr>
            <p:cNvSpPr/>
            <p:nvPr/>
          </p:nvSpPr>
          <p:spPr>
            <a:xfrm>
              <a:off x="4420695" y="2303017"/>
              <a:ext cx="59376" cy="86542"/>
            </a:xfrm>
            <a:custGeom>
              <a:avLst/>
              <a:gdLst/>
              <a:ahLst/>
              <a:cxnLst/>
              <a:rect l="l" t="t" r="r" b="b"/>
              <a:pathLst>
                <a:path w="2260" h="3294" extrusionOk="0">
                  <a:moveTo>
                    <a:pt x="2031" y="0"/>
                  </a:moveTo>
                  <a:cubicBezTo>
                    <a:pt x="1975" y="0"/>
                    <a:pt x="1918" y="21"/>
                    <a:pt x="1873" y="68"/>
                  </a:cubicBezTo>
                  <a:lnTo>
                    <a:pt x="202" y="1740"/>
                  </a:lnTo>
                  <a:cubicBezTo>
                    <a:pt x="70" y="1865"/>
                    <a:pt x="1" y="2038"/>
                    <a:pt x="1" y="2219"/>
                  </a:cubicBezTo>
                  <a:lnTo>
                    <a:pt x="1" y="3294"/>
                  </a:lnTo>
                  <a:lnTo>
                    <a:pt x="2255" y="1039"/>
                  </a:lnTo>
                  <a:lnTo>
                    <a:pt x="2255" y="228"/>
                  </a:lnTo>
                  <a:cubicBezTo>
                    <a:pt x="2260" y="92"/>
                    <a:pt x="2147" y="0"/>
                    <a:pt x="2031" y="0"/>
                  </a:cubicBezTo>
                  <a:close/>
                </a:path>
              </a:pathLst>
            </a:custGeom>
            <a:solidFill>
              <a:srgbClr val="81909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7" name="Google Shape;6095;p62">
              <a:extLst>
                <a:ext uri="{FF2B5EF4-FFF2-40B4-BE49-F238E27FC236}">
                  <a16:creationId xmlns:a16="http://schemas.microsoft.com/office/drawing/2014/main" id="{77D9A124-27BA-4294-15E2-B7E4833D34FB}"/>
                </a:ext>
              </a:extLst>
            </p:cNvPr>
            <p:cNvSpPr/>
            <p:nvPr/>
          </p:nvSpPr>
          <p:spPr>
            <a:xfrm>
              <a:off x="4183429" y="2401382"/>
              <a:ext cx="225444" cy="225444"/>
            </a:xfrm>
            <a:custGeom>
              <a:avLst/>
              <a:gdLst/>
              <a:ahLst/>
              <a:cxnLst/>
              <a:rect l="l" t="t" r="r" b="b"/>
              <a:pathLst>
                <a:path w="8581" h="8581" extrusionOk="0">
                  <a:moveTo>
                    <a:pt x="4287" y="1"/>
                  </a:moveTo>
                  <a:cubicBezTo>
                    <a:pt x="1922" y="1"/>
                    <a:pt x="1" y="1922"/>
                    <a:pt x="1" y="4294"/>
                  </a:cubicBezTo>
                  <a:cubicBezTo>
                    <a:pt x="1" y="6659"/>
                    <a:pt x="1922" y="8581"/>
                    <a:pt x="4287" y="8581"/>
                  </a:cubicBezTo>
                  <a:cubicBezTo>
                    <a:pt x="6659" y="8581"/>
                    <a:pt x="8581" y="6659"/>
                    <a:pt x="8581" y="4294"/>
                  </a:cubicBezTo>
                  <a:cubicBezTo>
                    <a:pt x="8581" y="1922"/>
                    <a:pt x="6659" y="1"/>
                    <a:pt x="4287" y="1"/>
                  </a:cubicBez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8" name="Google Shape;6096;p62">
              <a:extLst>
                <a:ext uri="{FF2B5EF4-FFF2-40B4-BE49-F238E27FC236}">
                  <a16:creationId xmlns:a16="http://schemas.microsoft.com/office/drawing/2014/main" id="{C8855A7B-9CF8-F68F-158F-29B5F0B5F786}"/>
                </a:ext>
              </a:extLst>
            </p:cNvPr>
            <p:cNvSpPr/>
            <p:nvPr/>
          </p:nvSpPr>
          <p:spPr>
            <a:xfrm>
              <a:off x="4296059" y="2508179"/>
              <a:ext cx="112814" cy="11875"/>
            </a:xfrm>
            <a:custGeom>
              <a:avLst/>
              <a:gdLst/>
              <a:ahLst/>
              <a:cxnLst/>
              <a:rect l="l" t="t" r="r" b="b"/>
              <a:pathLst>
                <a:path w="4294" h="452" extrusionOk="0">
                  <a:moveTo>
                    <a:pt x="0" y="0"/>
                  </a:moveTo>
                  <a:lnTo>
                    <a:pt x="0" y="451"/>
                  </a:lnTo>
                  <a:lnTo>
                    <a:pt x="4280" y="451"/>
                  </a:lnTo>
                  <a:cubicBezTo>
                    <a:pt x="4280" y="375"/>
                    <a:pt x="4294" y="305"/>
                    <a:pt x="4294" y="229"/>
                  </a:cubicBezTo>
                  <a:cubicBezTo>
                    <a:pt x="4294" y="153"/>
                    <a:pt x="4287" y="76"/>
                    <a:pt x="4280" y="0"/>
                  </a:cubicBezTo>
                  <a:close/>
                </a:path>
              </a:pathLst>
            </a:custGeom>
            <a:solidFill>
              <a:srgbClr val="E3E9E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9" name="Google Shape;6097;p62">
              <a:extLst>
                <a:ext uri="{FF2B5EF4-FFF2-40B4-BE49-F238E27FC236}">
                  <a16:creationId xmlns:a16="http://schemas.microsoft.com/office/drawing/2014/main" id="{205FD297-EB31-DF5F-AC36-BCEB07748A75}"/>
                </a:ext>
              </a:extLst>
            </p:cNvPr>
            <p:cNvSpPr/>
            <p:nvPr/>
          </p:nvSpPr>
          <p:spPr>
            <a:xfrm>
              <a:off x="4213143" y="2431096"/>
              <a:ext cx="166042" cy="166042"/>
            </a:xfrm>
            <a:custGeom>
              <a:avLst/>
              <a:gdLst/>
              <a:ahLst/>
              <a:cxnLst/>
              <a:rect l="l" t="t" r="r" b="b"/>
              <a:pathLst>
                <a:path w="6320" h="6320" extrusionOk="0">
                  <a:moveTo>
                    <a:pt x="3156" y="0"/>
                  </a:moveTo>
                  <a:cubicBezTo>
                    <a:pt x="1415" y="0"/>
                    <a:pt x="0" y="1415"/>
                    <a:pt x="0" y="3163"/>
                  </a:cubicBezTo>
                  <a:cubicBezTo>
                    <a:pt x="0" y="4904"/>
                    <a:pt x="1415" y="6319"/>
                    <a:pt x="3156" y="6319"/>
                  </a:cubicBezTo>
                  <a:cubicBezTo>
                    <a:pt x="4904" y="6319"/>
                    <a:pt x="6319" y="4904"/>
                    <a:pt x="6319" y="3163"/>
                  </a:cubicBezTo>
                  <a:cubicBezTo>
                    <a:pt x="6319" y="1415"/>
                    <a:pt x="4904" y="0"/>
                    <a:pt x="3156" y="0"/>
                  </a:cubicBezTo>
                  <a:close/>
                </a:path>
              </a:pathLst>
            </a:custGeom>
            <a:solidFill>
              <a:srgbClr val="81909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0" name="Google Shape;6098;p62">
              <a:extLst>
                <a:ext uri="{FF2B5EF4-FFF2-40B4-BE49-F238E27FC236}">
                  <a16:creationId xmlns:a16="http://schemas.microsoft.com/office/drawing/2014/main" id="{4BB27D88-3918-4005-C1C9-11F3D604C5E8}"/>
                </a:ext>
              </a:extLst>
            </p:cNvPr>
            <p:cNvSpPr/>
            <p:nvPr/>
          </p:nvSpPr>
          <p:spPr>
            <a:xfrm>
              <a:off x="4296059" y="2508179"/>
              <a:ext cx="83126" cy="11875"/>
            </a:xfrm>
            <a:custGeom>
              <a:avLst/>
              <a:gdLst/>
              <a:ahLst/>
              <a:cxnLst/>
              <a:rect l="l" t="t" r="r" b="b"/>
              <a:pathLst>
                <a:path w="3164" h="452" extrusionOk="0">
                  <a:moveTo>
                    <a:pt x="0" y="0"/>
                  </a:moveTo>
                  <a:lnTo>
                    <a:pt x="0" y="451"/>
                  </a:lnTo>
                  <a:lnTo>
                    <a:pt x="3149" y="451"/>
                  </a:lnTo>
                  <a:cubicBezTo>
                    <a:pt x="3156" y="375"/>
                    <a:pt x="3163" y="305"/>
                    <a:pt x="3163" y="229"/>
                  </a:cubicBezTo>
                  <a:cubicBezTo>
                    <a:pt x="3163" y="153"/>
                    <a:pt x="3156" y="76"/>
                    <a:pt x="3149" y="0"/>
                  </a:cubicBezTo>
                  <a:close/>
                </a:path>
              </a:pathLst>
            </a:custGeom>
            <a:solidFill>
              <a:srgbClr val="82828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1" name="Google Shape;6099;p62">
              <a:extLst>
                <a:ext uri="{FF2B5EF4-FFF2-40B4-BE49-F238E27FC236}">
                  <a16:creationId xmlns:a16="http://schemas.microsoft.com/office/drawing/2014/main" id="{A509DCF4-AF21-EFB1-CE47-2352AC86BA10}"/>
                </a:ext>
              </a:extLst>
            </p:cNvPr>
            <p:cNvSpPr/>
            <p:nvPr/>
          </p:nvSpPr>
          <p:spPr>
            <a:xfrm>
              <a:off x="4248663" y="2466616"/>
              <a:ext cx="94975" cy="94975"/>
            </a:xfrm>
            <a:custGeom>
              <a:avLst/>
              <a:gdLst/>
              <a:ahLst/>
              <a:cxnLst/>
              <a:rect l="l" t="t" r="r" b="b"/>
              <a:pathLst>
                <a:path w="3615" h="3615" extrusionOk="0">
                  <a:moveTo>
                    <a:pt x="1804" y="1"/>
                  </a:moveTo>
                  <a:cubicBezTo>
                    <a:pt x="812" y="1"/>
                    <a:pt x="1" y="812"/>
                    <a:pt x="1" y="1811"/>
                  </a:cubicBezTo>
                  <a:cubicBezTo>
                    <a:pt x="1" y="2803"/>
                    <a:pt x="812" y="3614"/>
                    <a:pt x="1804" y="3614"/>
                  </a:cubicBezTo>
                  <a:cubicBezTo>
                    <a:pt x="2803" y="3614"/>
                    <a:pt x="3615" y="2803"/>
                    <a:pt x="3615" y="1811"/>
                  </a:cubicBezTo>
                  <a:cubicBezTo>
                    <a:pt x="3615" y="812"/>
                    <a:pt x="2803" y="1"/>
                    <a:pt x="1804" y="1"/>
                  </a:cubicBezTo>
                  <a:close/>
                </a:path>
              </a:pathLst>
            </a:custGeom>
            <a:solidFill>
              <a:srgbClr val="FFFF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2" name="Google Shape;6100;p62">
              <a:extLst>
                <a:ext uri="{FF2B5EF4-FFF2-40B4-BE49-F238E27FC236}">
                  <a16:creationId xmlns:a16="http://schemas.microsoft.com/office/drawing/2014/main" id="{9817DB8F-A4A6-39C9-9D4D-6BAB77AA688B}"/>
                </a:ext>
              </a:extLst>
            </p:cNvPr>
            <p:cNvSpPr/>
            <p:nvPr/>
          </p:nvSpPr>
          <p:spPr>
            <a:xfrm>
              <a:off x="4296059" y="2508179"/>
              <a:ext cx="47763" cy="11875"/>
            </a:xfrm>
            <a:custGeom>
              <a:avLst/>
              <a:gdLst/>
              <a:ahLst/>
              <a:cxnLst/>
              <a:rect l="l" t="t" r="r" b="b"/>
              <a:pathLst>
                <a:path w="1818" h="452" extrusionOk="0">
                  <a:moveTo>
                    <a:pt x="0" y="0"/>
                  </a:moveTo>
                  <a:lnTo>
                    <a:pt x="0" y="451"/>
                  </a:lnTo>
                  <a:lnTo>
                    <a:pt x="1797" y="451"/>
                  </a:lnTo>
                  <a:cubicBezTo>
                    <a:pt x="1818" y="305"/>
                    <a:pt x="1818" y="153"/>
                    <a:pt x="1797" y="0"/>
                  </a:cubicBezTo>
                  <a:close/>
                </a:path>
              </a:pathLst>
            </a:custGeom>
            <a:solidFill>
              <a:srgbClr val="E3E9E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3" name="Google Shape;6101;p62">
              <a:extLst>
                <a:ext uri="{FF2B5EF4-FFF2-40B4-BE49-F238E27FC236}">
                  <a16:creationId xmlns:a16="http://schemas.microsoft.com/office/drawing/2014/main" id="{AFCB7DE2-7433-950E-A9F1-B2FA0DF672F8}"/>
                </a:ext>
              </a:extLst>
            </p:cNvPr>
            <p:cNvSpPr/>
            <p:nvPr/>
          </p:nvSpPr>
          <p:spPr>
            <a:xfrm>
              <a:off x="4278377" y="2496330"/>
              <a:ext cx="35547" cy="35547"/>
            </a:xfrm>
            <a:custGeom>
              <a:avLst/>
              <a:gdLst/>
              <a:ahLst/>
              <a:cxnLst/>
              <a:rect l="l" t="t" r="r" b="b"/>
              <a:pathLst>
                <a:path w="1353" h="1353" extrusionOk="0">
                  <a:moveTo>
                    <a:pt x="673" y="0"/>
                  </a:moveTo>
                  <a:cubicBezTo>
                    <a:pt x="299" y="0"/>
                    <a:pt x="0" y="306"/>
                    <a:pt x="0" y="680"/>
                  </a:cubicBezTo>
                  <a:cubicBezTo>
                    <a:pt x="0" y="1055"/>
                    <a:pt x="299" y="1353"/>
                    <a:pt x="673" y="1353"/>
                  </a:cubicBezTo>
                  <a:cubicBezTo>
                    <a:pt x="1048" y="1353"/>
                    <a:pt x="1353" y="1055"/>
                    <a:pt x="1353" y="680"/>
                  </a:cubicBezTo>
                  <a:cubicBezTo>
                    <a:pt x="1353" y="306"/>
                    <a:pt x="1048" y="0"/>
                    <a:pt x="673" y="0"/>
                  </a:cubicBezTo>
                  <a:close/>
                </a:path>
              </a:pathLst>
            </a:custGeom>
            <a:solidFill>
              <a:srgbClr val="81909E"/>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 name="Google Shape;6102;p62">
              <a:extLst>
                <a:ext uri="{FF2B5EF4-FFF2-40B4-BE49-F238E27FC236}">
                  <a16:creationId xmlns:a16="http://schemas.microsoft.com/office/drawing/2014/main" id="{29224CBA-5211-4B94-A385-80BF6F325AC3}"/>
                </a:ext>
              </a:extLst>
            </p:cNvPr>
            <p:cNvSpPr/>
            <p:nvPr/>
          </p:nvSpPr>
          <p:spPr>
            <a:xfrm>
              <a:off x="4296059" y="2508179"/>
              <a:ext cx="18233" cy="11875"/>
            </a:xfrm>
            <a:custGeom>
              <a:avLst/>
              <a:gdLst/>
              <a:ahLst/>
              <a:cxnLst/>
              <a:rect l="l" t="t" r="r" b="b"/>
              <a:pathLst>
                <a:path w="694" h="452" extrusionOk="0">
                  <a:moveTo>
                    <a:pt x="0" y="0"/>
                  </a:moveTo>
                  <a:lnTo>
                    <a:pt x="0" y="451"/>
                  </a:lnTo>
                  <a:lnTo>
                    <a:pt x="638" y="451"/>
                  </a:lnTo>
                  <a:cubicBezTo>
                    <a:pt x="694" y="305"/>
                    <a:pt x="694" y="146"/>
                    <a:pt x="638" y="0"/>
                  </a:cubicBezTo>
                  <a:close/>
                </a:path>
              </a:pathLst>
            </a:custGeom>
            <a:solidFill>
              <a:srgbClr val="82828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5" name="Google Shape;6103;p62">
              <a:extLst>
                <a:ext uri="{FF2B5EF4-FFF2-40B4-BE49-F238E27FC236}">
                  <a16:creationId xmlns:a16="http://schemas.microsoft.com/office/drawing/2014/main" id="{CA1575F3-8242-B379-E01C-6F0770B7FE75}"/>
                </a:ext>
              </a:extLst>
            </p:cNvPr>
            <p:cNvSpPr/>
            <p:nvPr/>
          </p:nvSpPr>
          <p:spPr>
            <a:xfrm>
              <a:off x="4287678" y="2480094"/>
              <a:ext cx="42483" cy="40013"/>
            </a:xfrm>
            <a:custGeom>
              <a:avLst/>
              <a:gdLst/>
              <a:ahLst/>
              <a:cxnLst/>
              <a:rect l="l" t="t" r="r" b="b"/>
              <a:pathLst>
                <a:path w="1617" h="1523" extrusionOk="0">
                  <a:moveTo>
                    <a:pt x="1297" y="1"/>
                  </a:moveTo>
                  <a:lnTo>
                    <a:pt x="160" y="1132"/>
                  </a:lnTo>
                  <a:cubicBezTo>
                    <a:pt x="0" y="1296"/>
                    <a:pt x="150" y="1522"/>
                    <a:pt x="323" y="1522"/>
                  </a:cubicBezTo>
                  <a:cubicBezTo>
                    <a:pt x="375" y="1522"/>
                    <a:pt x="430" y="1501"/>
                    <a:pt x="479" y="1451"/>
                  </a:cubicBezTo>
                  <a:lnTo>
                    <a:pt x="1616" y="320"/>
                  </a:lnTo>
                  <a:lnTo>
                    <a:pt x="1297" y="1"/>
                  </a:lnTo>
                  <a:close/>
                </a:path>
              </a:pathLst>
            </a:custGeom>
            <a:solidFill>
              <a:srgbClr val="70707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6" name="Google Shape;6104;p62">
              <a:extLst>
                <a:ext uri="{FF2B5EF4-FFF2-40B4-BE49-F238E27FC236}">
                  <a16:creationId xmlns:a16="http://schemas.microsoft.com/office/drawing/2014/main" id="{48CA2BE8-4636-91C3-7EB2-AC06187655D0}"/>
                </a:ext>
              </a:extLst>
            </p:cNvPr>
            <p:cNvSpPr/>
            <p:nvPr/>
          </p:nvSpPr>
          <p:spPr>
            <a:xfrm>
              <a:off x="4314817" y="2315313"/>
              <a:ext cx="182568" cy="178128"/>
            </a:xfrm>
            <a:custGeom>
              <a:avLst/>
              <a:gdLst/>
              <a:ahLst/>
              <a:cxnLst/>
              <a:rect l="l" t="t" r="r" b="b"/>
              <a:pathLst>
                <a:path w="6949" h="6780" extrusionOk="0">
                  <a:moveTo>
                    <a:pt x="6625" y="1"/>
                  </a:moveTo>
                  <a:cubicBezTo>
                    <a:pt x="6572" y="1"/>
                    <a:pt x="6516" y="22"/>
                    <a:pt x="6465" y="72"/>
                  </a:cubicBezTo>
                  <a:lnTo>
                    <a:pt x="146" y="6391"/>
                  </a:lnTo>
                  <a:cubicBezTo>
                    <a:pt x="1" y="6537"/>
                    <a:pt x="105" y="6779"/>
                    <a:pt x="306" y="6779"/>
                  </a:cubicBezTo>
                  <a:cubicBezTo>
                    <a:pt x="368" y="6772"/>
                    <a:pt x="424" y="6752"/>
                    <a:pt x="465" y="6710"/>
                  </a:cubicBezTo>
                  <a:lnTo>
                    <a:pt x="6784" y="391"/>
                  </a:lnTo>
                  <a:cubicBezTo>
                    <a:pt x="6949" y="226"/>
                    <a:pt x="6800" y="1"/>
                    <a:pt x="6625" y="1"/>
                  </a:cubicBezTo>
                  <a:close/>
                </a:path>
              </a:pathLst>
            </a:custGeom>
            <a:solidFill>
              <a:srgbClr val="213B5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grpSp>
      <p:sp>
        <p:nvSpPr>
          <p:cNvPr id="68" name="TextBox 67">
            <a:extLst>
              <a:ext uri="{FF2B5EF4-FFF2-40B4-BE49-F238E27FC236}">
                <a16:creationId xmlns:a16="http://schemas.microsoft.com/office/drawing/2014/main" id="{F33788C1-900B-1F12-6486-878DB67DFC78}"/>
              </a:ext>
            </a:extLst>
          </p:cNvPr>
          <p:cNvSpPr txBox="1"/>
          <p:nvPr/>
        </p:nvSpPr>
        <p:spPr>
          <a:xfrm>
            <a:off x="6624706" y="2664279"/>
            <a:ext cx="4784186" cy="3493264"/>
          </a:xfrm>
          <a:prstGeom prst="rect">
            <a:avLst/>
          </a:prstGeom>
          <a:noFill/>
        </p:spPr>
        <p:txBody>
          <a:bodyPr wrap="square">
            <a:spAutoFit/>
          </a:bodyPr>
          <a:lstStyle/>
          <a:p>
            <a:pPr marL="171450" indent="-171450">
              <a:spcAft>
                <a:spcPts val="600"/>
              </a:spcAft>
              <a:buSzPct val="100000"/>
              <a:buFont typeface="Arial" panose="020B0604020202020204" pitchFamily="34" charset="0"/>
              <a:buChar char="•"/>
            </a:pPr>
            <a:r>
              <a:rPr lang="en-US" sz="1400" b="1" dirty="0">
                <a:solidFill>
                  <a:schemeClr val="tx2">
                    <a:lumMod val="90000"/>
                    <a:lumOff val="10000"/>
                  </a:schemeClr>
                </a:solidFill>
                <a:latin typeface="Poppins "/>
                <a:cs typeface="Poppins Black" panose="00000A00000000000000" pitchFamily="2" charset="0"/>
              </a:rPr>
              <a:t>Hardware-in-the-loop integration </a:t>
            </a:r>
            <a:r>
              <a:rPr lang="en-US" sz="1400" dirty="0">
                <a:solidFill>
                  <a:schemeClr val="tx2">
                    <a:lumMod val="90000"/>
                    <a:lumOff val="10000"/>
                  </a:schemeClr>
                </a:solidFill>
                <a:latin typeface="Poppins "/>
                <a:cs typeface="Poppins Black" panose="00000A00000000000000" pitchFamily="2" charset="0"/>
              </a:rPr>
              <a:t>via the existing WebSocket distributed control interface </a:t>
            </a:r>
          </a:p>
          <a:p>
            <a:pPr marL="171450" indent="-171450">
              <a:spcAft>
                <a:spcPts val="600"/>
              </a:spcAft>
              <a:buSzPct val="100000"/>
              <a:buFont typeface="Arial" panose="020B0604020202020204" pitchFamily="34" charset="0"/>
              <a:buChar char="•"/>
            </a:pPr>
            <a:r>
              <a:rPr lang="en-US" sz="1400" b="1" dirty="0">
                <a:solidFill>
                  <a:schemeClr val="tx2">
                    <a:lumMod val="90000"/>
                    <a:lumOff val="10000"/>
                  </a:schemeClr>
                </a:solidFill>
                <a:latin typeface="Poppins "/>
                <a:cs typeface="Poppins Black" panose="00000A00000000000000" pitchFamily="2" charset="0"/>
              </a:rPr>
              <a:t>Observer integration</a:t>
            </a:r>
            <a:r>
              <a:rPr lang="en-US" sz="1400" dirty="0">
                <a:solidFill>
                  <a:schemeClr val="tx2">
                    <a:lumMod val="90000"/>
                    <a:lumOff val="10000"/>
                  </a:schemeClr>
                </a:solidFill>
                <a:latin typeface="Poppins "/>
                <a:cs typeface="Poppins Black" panose="00000A00000000000000" pitchFamily="2" charset="0"/>
              </a:rPr>
              <a:t> into the safety chain through the reserved SENSOR_DEGRADED_MODE state </a:t>
            </a:r>
          </a:p>
          <a:p>
            <a:pPr marL="171450" indent="-171450">
              <a:spcAft>
                <a:spcPts val="600"/>
              </a:spcAft>
              <a:buSzPct val="100000"/>
              <a:buFont typeface="Arial" panose="020B0604020202020204" pitchFamily="34" charset="0"/>
              <a:buChar char="•"/>
            </a:pPr>
            <a:r>
              <a:rPr lang="en-US" sz="1400" dirty="0">
                <a:solidFill>
                  <a:schemeClr val="tx2">
                    <a:lumMod val="90000"/>
                    <a:lumOff val="10000"/>
                  </a:schemeClr>
                </a:solidFill>
                <a:latin typeface="Poppins "/>
                <a:cs typeface="Poppins Black" panose="00000A00000000000000" pitchFamily="2" charset="0"/>
              </a:rPr>
              <a:t>Systematic </a:t>
            </a:r>
            <a:r>
              <a:rPr lang="en-US" sz="1400" b="1" dirty="0">
                <a:solidFill>
                  <a:schemeClr val="tx2">
                    <a:lumMod val="90000"/>
                    <a:lumOff val="10000"/>
                  </a:schemeClr>
                </a:solidFill>
                <a:latin typeface="Poppins "/>
                <a:cs typeface="Poppins Black" panose="00000A00000000000000" pitchFamily="2" charset="0"/>
              </a:rPr>
              <a:t>threshold calibration</a:t>
            </a:r>
            <a:r>
              <a:rPr lang="en-US" sz="1400" dirty="0">
                <a:solidFill>
                  <a:schemeClr val="tx2">
                    <a:lumMod val="90000"/>
                    <a:lumOff val="10000"/>
                  </a:schemeClr>
                </a:solidFill>
                <a:latin typeface="Poppins "/>
                <a:cs typeface="Poppins Black" panose="00000A00000000000000" pitchFamily="2" charset="0"/>
              </a:rPr>
              <a:t> and decision logic design for the FDI module </a:t>
            </a:r>
          </a:p>
          <a:p>
            <a:pPr marL="171450" indent="-171450">
              <a:spcAft>
                <a:spcPts val="600"/>
              </a:spcAft>
              <a:buSzPct val="100000"/>
              <a:buFont typeface="Arial" panose="020B0604020202020204" pitchFamily="34" charset="0"/>
              <a:buChar char="•"/>
            </a:pPr>
            <a:r>
              <a:rPr lang="en-US" sz="1400" dirty="0">
                <a:solidFill>
                  <a:schemeClr val="tx2">
                    <a:lumMod val="90000"/>
                    <a:lumOff val="10000"/>
                  </a:schemeClr>
                </a:solidFill>
                <a:latin typeface="Poppins "/>
                <a:cs typeface="Poppins Black" panose="00000A00000000000000" pitchFamily="2" charset="0"/>
              </a:rPr>
              <a:t>Extension to the full three-finger configuration with per-finger fault management </a:t>
            </a:r>
          </a:p>
          <a:p>
            <a:pPr marL="171450" indent="-171450">
              <a:spcAft>
                <a:spcPts val="600"/>
              </a:spcAft>
              <a:buSzPct val="100000"/>
              <a:buFont typeface="Arial" panose="020B0604020202020204" pitchFamily="34" charset="0"/>
              <a:buChar char="•"/>
            </a:pPr>
            <a:r>
              <a:rPr lang="en-US" sz="1400" dirty="0">
                <a:solidFill>
                  <a:schemeClr val="tx2">
                    <a:lumMod val="90000"/>
                    <a:lumOff val="10000"/>
                  </a:schemeClr>
                </a:solidFill>
                <a:latin typeface="Poppins "/>
                <a:cs typeface="Poppins Black" panose="00000A00000000000000" pitchFamily="2" charset="0"/>
              </a:rPr>
              <a:t>Implementation of clinical rehabilitation protocols as configurable admittance trajectories </a:t>
            </a:r>
          </a:p>
          <a:p>
            <a:pPr marL="171450" indent="-171450">
              <a:spcAft>
                <a:spcPts val="600"/>
              </a:spcAft>
              <a:buSzPct val="100000"/>
              <a:buFont typeface="Arial" panose="020B0604020202020204" pitchFamily="34" charset="0"/>
              <a:buChar char="•"/>
            </a:pPr>
            <a:r>
              <a:rPr lang="en-US" sz="1400" dirty="0">
                <a:solidFill>
                  <a:schemeClr val="tx2">
                    <a:lumMod val="90000"/>
                    <a:lumOff val="10000"/>
                  </a:schemeClr>
                </a:solidFill>
                <a:latin typeface="Poppins "/>
                <a:cs typeface="Poppins Black" panose="00000A00000000000000" pitchFamily="2" charset="0"/>
              </a:rPr>
              <a:t>Experimental validation of the functional safety architecture on the physical prototype</a:t>
            </a:r>
          </a:p>
        </p:txBody>
      </p:sp>
    </p:spTree>
    <p:extLst>
      <p:ext uri="{BB962C8B-B14F-4D97-AF65-F5344CB8AC3E}">
        <p14:creationId xmlns:p14="http://schemas.microsoft.com/office/powerpoint/2010/main" val="2221751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8DDCA-7C3F-1A00-E174-5EFBC4438A7C}"/>
            </a:ext>
          </a:extLst>
        </p:cNvPr>
        <p:cNvGrpSpPr/>
        <p:nvPr/>
      </p:nvGrpSpPr>
      <p:grpSpPr>
        <a:xfrm>
          <a:off x="0" y="0"/>
          <a:ext cx="0" cy="0"/>
          <a:chOff x="0" y="0"/>
          <a:chExt cx="0" cy="0"/>
        </a:xfrm>
      </p:grpSpPr>
      <p:sp>
        <p:nvSpPr>
          <p:cNvPr id="3" name="Sottotitolo 2">
            <a:extLst>
              <a:ext uri="{FF2B5EF4-FFF2-40B4-BE49-F238E27FC236}">
                <a16:creationId xmlns:a16="http://schemas.microsoft.com/office/drawing/2014/main" id="{EE053E66-3AB6-A1F0-68DB-1A665929B0E5}"/>
              </a:ext>
            </a:extLst>
          </p:cNvPr>
          <p:cNvSpPr txBox="1">
            <a:spLocks/>
          </p:cNvSpPr>
          <p:nvPr/>
        </p:nvSpPr>
        <p:spPr>
          <a:xfrm>
            <a:off x="10448072" y="115569"/>
            <a:ext cx="1450203" cy="630753"/>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AZIENDA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PARTNER</a:t>
            </a:r>
          </a:p>
        </p:txBody>
      </p:sp>
      <p:sp>
        <p:nvSpPr>
          <p:cNvPr id="5" name="Sottotitolo 2">
            <a:extLst>
              <a:ext uri="{FF2B5EF4-FFF2-40B4-BE49-F238E27FC236}">
                <a16:creationId xmlns:a16="http://schemas.microsoft.com/office/drawing/2014/main" id="{F9BFC78F-A5E3-C480-7ED9-07A7A83D36AB}"/>
              </a:ext>
            </a:extLst>
          </p:cNvPr>
          <p:cNvSpPr txBox="1">
            <a:spLocks/>
          </p:cNvSpPr>
          <p:nvPr/>
        </p:nvSpPr>
        <p:spPr>
          <a:xfrm>
            <a:off x="8946500" y="115569"/>
            <a:ext cx="1450203" cy="630753"/>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it-IT" sz="1200" dirty="0">
                <a:solidFill>
                  <a:schemeClr val="bg1"/>
                </a:solidFill>
                <a:latin typeface="Times New Roman" panose="02020603050405020304" pitchFamily="18" charset="0"/>
                <a:cs typeface="Times New Roman" panose="02020603050405020304" pitchFamily="18" charset="0"/>
              </a:rPr>
              <a:t>LOGO </a:t>
            </a:r>
            <a:br>
              <a:rPr lang="it-IT" sz="1200" dirty="0">
                <a:solidFill>
                  <a:schemeClr val="bg1"/>
                </a:solidFill>
                <a:latin typeface="Times New Roman" panose="02020603050405020304" pitchFamily="18" charset="0"/>
                <a:cs typeface="Times New Roman" panose="02020603050405020304" pitchFamily="18" charset="0"/>
              </a:rPr>
            </a:br>
            <a:r>
              <a:rPr lang="it-IT" sz="1200" dirty="0">
                <a:solidFill>
                  <a:schemeClr val="bg1"/>
                </a:solidFill>
                <a:latin typeface="Times New Roman" panose="02020603050405020304" pitchFamily="18" charset="0"/>
                <a:cs typeface="Times New Roman" panose="02020603050405020304" pitchFamily="18" charset="0"/>
              </a:rPr>
              <a:t>LABORATORIO</a:t>
            </a:r>
          </a:p>
        </p:txBody>
      </p:sp>
      <p:pic>
        <p:nvPicPr>
          <p:cNvPr id="10" name="Picture 2">
            <a:extLst>
              <a:ext uri="{FF2B5EF4-FFF2-40B4-BE49-F238E27FC236}">
                <a16:creationId xmlns:a16="http://schemas.microsoft.com/office/drawing/2014/main" id="{9C68D2A2-1464-FE31-785C-51DDA4A870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3463" y="92323"/>
            <a:ext cx="938410" cy="6662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172F2452-1750-E1CD-36FD-42CE3DD1261D}"/>
                  </a:ext>
                </a:extLst>
              </p14:cNvPr>
              <p14:cNvContentPartPr/>
              <p14:nvPr/>
            </p14:nvContentPartPr>
            <p14:xfrm>
              <a:off x="5549373" y="1240377"/>
              <a:ext cx="1046520" cy="88560"/>
            </p14:xfrm>
          </p:contentPart>
        </mc:Choice>
        <mc:Fallback xmlns="">
          <p:pic>
            <p:nvPicPr>
              <p:cNvPr id="11" name="Ink 10">
                <a:extLst>
                  <a:ext uri="{FF2B5EF4-FFF2-40B4-BE49-F238E27FC236}">
                    <a16:creationId xmlns:a16="http://schemas.microsoft.com/office/drawing/2014/main" id="{172F2452-1750-E1CD-36FD-42CE3DD1261D}"/>
                  </a:ext>
                </a:extLst>
              </p:cNvPr>
              <p:cNvPicPr/>
              <p:nvPr/>
            </p:nvPicPr>
            <p:blipFill>
              <a:blip r:embed="rId4"/>
              <a:stretch>
                <a:fillRect/>
              </a:stretch>
            </p:blipFill>
            <p:spPr>
              <a:xfrm>
                <a:off x="5543251" y="1234257"/>
                <a:ext cx="1058764"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35FBC139-BA69-6DE0-C07A-98DD2974D886}"/>
                  </a:ext>
                </a:extLst>
              </p14:cNvPr>
              <p14:cNvContentPartPr/>
              <p14:nvPr/>
            </p14:nvContentPartPr>
            <p14:xfrm>
              <a:off x="5322213" y="1026177"/>
              <a:ext cx="1824480" cy="225720"/>
            </p14:xfrm>
          </p:contentPart>
        </mc:Choice>
        <mc:Fallback xmlns="">
          <p:pic>
            <p:nvPicPr>
              <p:cNvPr id="12" name="Ink 11">
                <a:extLst>
                  <a:ext uri="{FF2B5EF4-FFF2-40B4-BE49-F238E27FC236}">
                    <a16:creationId xmlns:a16="http://schemas.microsoft.com/office/drawing/2014/main" id="{35FBC139-BA69-6DE0-C07A-98DD2974D886}"/>
                  </a:ext>
                </a:extLst>
              </p:cNvPr>
              <p:cNvPicPr/>
              <p:nvPr/>
            </p:nvPicPr>
            <p:blipFill>
              <a:blip r:embed="rId6"/>
              <a:stretch>
                <a:fillRect/>
              </a:stretch>
            </p:blipFill>
            <p:spPr>
              <a:xfrm>
                <a:off x="5259213" y="963076"/>
                <a:ext cx="1950120" cy="351561"/>
              </a:xfrm>
              <a:prstGeom prst="rect">
                <a:avLst/>
              </a:prstGeom>
            </p:spPr>
          </p:pic>
        </mc:Fallback>
      </mc:AlternateContent>
      <p:sp>
        <p:nvSpPr>
          <p:cNvPr id="15" name="Google Shape;244;p28">
            <a:extLst>
              <a:ext uri="{FF2B5EF4-FFF2-40B4-BE49-F238E27FC236}">
                <a16:creationId xmlns:a16="http://schemas.microsoft.com/office/drawing/2014/main" id="{96114032-BBAE-A92C-7932-6454764B7E3F}"/>
              </a:ext>
            </a:extLst>
          </p:cNvPr>
          <p:cNvSpPr txBox="1">
            <a:spLocks/>
          </p:cNvSpPr>
          <p:nvPr/>
        </p:nvSpPr>
        <p:spPr>
          <a:xfrm>
            <a:off x="3260961" y="2898413"/>
            <a:ext cx="5623344" cy="612600"/>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solidFill>
                  <a:srgbClr val="0A2540"/>
                </a:solidFill>
                <a:latin typeface="Poppins Black" panose="00000A00000000000000" pitchFamily="2" charset="0"/>
                <a:ea typeface="Cambria" pitchFamily="34" charset="-122"/>
                <a:cs typeface="Poppins Black" panose="00000A00000000000000" pitchFamily="2" charset="0"/>
              </a:rPr>
              <a:t>Thanks for the attention</a:t>
            </a:r>
            <a:endParaRPr lang="en-US" sz="4800" dirty="0">
              <a:latin typeface="Poppins Black" panose="00000A00000000000000" pitchFamily="2" charset="0"/>
              <a:cs typeface="Poppins Black" panose="00000A00000000000000" pitchFamily="2" charset="0"/>
            </a:endParaRPr>
          </a:p>
        </p:txBody>
      </p:sp>
      <p:sp>
        <p:nvSpPr>
          <p:cNvPr id="6" name="Text 23">
            <a:extLst>
              <a:ext uri="{FF2B5EF4-FFF2-40B4-BE49-F238E27FC236}">
                <a16:creationId xmlns:a16="http://schemas.microsoft.com/office/drawing/2014/main" id="{65F081E0-F33F-5368-EF40-ACD7B67D1BB9}"/>
              </a:ext>
            </a:extLst>
          </p:cNvPr>
          <p:cNvSpPr/>
          <p:nvPr/>
        </p:nvSpPr>
        <p:spPr>
          <a:xfrm>
            <a:off x="2860273" y="6583680"/>
            <a:ext cx="9144000" cy="274320"/>
          </a:xfrm>
          <a:prstGeom prst="rect">
            <a:avLst/>
          </a:prstGeom>
          <a:noFill/>
          <a:ln/>
        </p:spPr>
        <p:txBody>
          <a:bodyPr wrap="square" lIns="0" tIns="0" rIns="0" bIns="0" rtlCol="0" anchor="ctr"/>
          <a:lstStyle/>
          <a:p>
            <a:pPr marL="0" indent="0" algn="r">
              <a:buNone/>
            </a:pPr>
            <a:r>
              <a:rPr lang="en-US" sz="1000" dirty="0">
                <a:solidFill>
                  <a:schemeClr val="tx2">
                    <a:lumMod val="90000"/>
                    <a:lumOff val="10000"/>
                  </a:schemeClr>
                </a:solidFill>
                <a:latin typeface="Poppins" panose="00000500000000000000" pitchFamily="2" charset="0"/>
                <a:ea typeface="Calibri" pitchFamily="34" charset="-122"/>
                <a:cs typeface="Poppins" panose="00000500000000000000" pitchFamily="2" charset="0"/>
              </a:rPr>
              <a:t>Marcello Bari  •  Digital Twin of a Hand Exoskeleton</a:t>
            </a:r>
            <a:endParaRPr lang="en-US" sz="1000" dirty="0">
              <a:solidFill>
                <a:schemeClr val="tx2">
                  <a:lumMod val="90000"/>
                  <a:lumOff val="10000"/>
                </a:schemeClr>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1C9F9C2D-5132-7191-A2B5-878AA86EA202}"/>
              </a:ext>
            </a:extLst>
          </p:cNvPr>
          <p:cNvSpPr txBox="1"/>
          <p:nvPr/>
        </p:nvSpPr>
        <p:spPr>
          <a:xfrm>
            <a:off x="3496570" y="4654931"/>
            <a:ext cx="5198859" cy="261610"/>
          </a:xfrm>
          <a:prstGeom prst="rect">
            <a:avLst/>
          </a:prstGeom>
          <a:noFill/>
        </p:spPr>
        <p:txBody>
          <a:bodyPr wrap="none" rtlCol="0">
            <a:spAutoFit/>
          </a:bodyPr>
          <a:lstStyle/>
          <a:p>
            <a:pPr algn="ctr"/>
            <a:r>
              <a:rPr lang="it-IT" sz="1100" dirty="0">
                <a:solidFill>
                  <a:schemeClr val="tx1">
                    <a:lumMod val="75000"/>
                    <a:lumOff val="25000"/>
                  </a:schemeClr>
                </a:solidFill>
                <a:latin typeface="Poppins" panose="00000500000000000000" pitchFamily="2" charset="0"/>
                <a:cs typeface="Poppins" panose="00000500000000000000" pitchFamily="2" charset="0"/>
              </a:rPr>
              <a:t>Code repo + docs @ https://github.com/mbari-github/HES_DigitalTwin</a:t>
            </a:r>
          </a:p>
        </p:txBody>
      </p:sp>
    </p:spTree>
    <p:extLst>
      <p:ext uri="{BB962C8B-B14F-4D97-AF65-F5344CB8AC3E}">
        <p14:creationId xmlns:p14="http://schemas.microsoft.com/office/powerpoint/2010/main" val="102923829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93C6A"/>
        </a:solidFill>
        <a:ln>
          <a:noFill/>
        </a:ln>
      </a:spPr>
      <a:bodyPr rtlCol="0" anchor="ctr"/>
      <a:lstStyle>
        <a:defPPr algn="ctr">
          <a:defRPr>
            <a:solidFill>
              <a:schemeClr val="bg1">
                <a:lumMod val="75000"/>
              </a:schemeClr>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8230</TotalTime>
  <Words>3394</Words>
  <Application>Microsoft Office PowerPoint</Application>
  <PresentationFormat>Widescreen</PresentationFormat>
  <Paragraphs>387</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Aptos</vt:lpstr>
      <vt:lpstr>Arial</vt:lpstr>
      <vt:lpstr>Cambria Math</vt:lpstr>
      <vt:lpstr>Consolas</vt:lpstr>
      <vt:lpstr>Poppins</vt:lpstr>
      <vt:lpstr>Poppins </vt:lpstr>
      <vt:lpstr>Poppins Black</vt:lpstr>
      <vt:lpstr>Roboto</vt:lpstr>
      <vt:lpstr>Times New Roman</vt:lpstr>
      <vt:lpstr>Tema di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Prof. Silvano Vergura</dc:creator>
  <cp:lastModifiedBy>BARI MARCELLO</cp:lastModifiedBy>
  <cp:revision>133</cp:revision>
  <dcterms:created xsi:type="dcterms:W3CDTF">2024-03-15T14:04:56Z</dcterms:created>
  <dcterms:modified xsi:type="dcterms:W3CDTF">2026-04-15T15:14:26Z</dcterms:modified>
</cp:coreProperties>
</file>